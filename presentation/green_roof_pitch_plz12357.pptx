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187e9ad6d78408d" /><Relationship Type="http://schemas.openxmlformats.org/officeDocument/2006/relationships/extended-properties" Target="/docProps/app.xml" Id="Rc2f4223e4c124250" /><Relationship Type="http://schemas.openxmlformats.org/officeDocument/2006/relationships/officeDocument" Target="/ppt/presentation.xml" Id="Rfbf056ee63484caa" /></Relationships>
</file>

<file path=ppt/presentation.xml><?xml version="1.0" encoding="utf-8"?>
<p:presentation xmlns:p="http://schemas.openxmlformats.org/presentationml/2006/main">
  <p:sldMasterIdLst>
    <p:sldMasterId xmlns:r="http://schemas.openxmlformats.org/officeDocument/2006/relationships" id="2147483648" r:id="Re43eddd5d84944e5"/>
  </p:sldMasterIdLst>
  <p:notesMasterIdLst>
    <p:notesMasterId xmlns:r="http://schemas.openxmlformats.org/officeDocument/2006/relationships" r:id="R47b3894a96cb435d"/>
  </p:notesMasterIdLst>
  <p:sldIdLst>
    <p:sldId xmlns:r="http://schemas.openxmlformats.org/officeDocument/2006/relationships" id="256" r:id="Rbcce7ce244a44d7f"/>
    <p:sldId xmlns:r="http://schemas.openxmlformats.org/officeDocument/2006/relationships" id="257" r:id="R547e0b9fb7a94ea7"/>
    <p:sldId xmlns:r="http://schemas.openxmlformats.org/officeDocument/2006/relationships" id="258" r:id="R27fdfca446e94499"/>
    <p:sldId xmlns:r="http://schemas.openxmlformats.org/officeDocument/2006/relationships" id="259" r:id="R3f51aa238da14c25"/>
    <p:sldId xmlns:r="http://schemas.openxmlformats.org/officeDocument/2006/relationships" id="260" r:id="R86910d65ba644976"/>
    <p:sldId xmlns:r="http://schemas.openxmlformats.org/officeDocument/2006/relationships" id="261" r:id="R0c83854db5a34128"/>
    <p:sldId xmlns:r="http://schemas.openxmlformats.org/officeDocument/2006/relationships" id="262" r:id="Rf7cad3d5857a4813"/>
    <p:sldId xmlns:r="http://schemas.openxmlformats.org/officeDocument/2006/relationships" id="263" r:id="Rd8da5911cb104787"/>
    <p:sldId xmlns:r="http://schemas.openxmlformats.org/officeDocument/2006/relationships" id="264" r:id="R26f007cfdf674de5"/>
    <p:sldId xmlns:r="http://schemas.openxmlformats.org/officeDocument/2006/relationships" id="265" r:id="Rd532ea14dae54f2e"/>
    <p:sldId xmlns:r="http://schemas.openxmlformats.org/officeDocument/2006/relationships" id="266" r:id="Rcd4cc9b110d84fcc"/>
    <p:sldId xmlns:r="http://schemas.openxmlformats.org/officeDocument/2006/relationships" id="267" r:id="R6bd0b4b9cb2c46be"/>
    <p:sldId xmlns:r="http://schemas.openxmlformats.org/officeDocument/2006/relationships" id="268" r:id="Ra5cdce0e8b1b44fe"/>
    <p:sldId xmlns:r="http://schemas.openxmlformats.org/officeDocument/2006/relationships" id="269" r:id="R7dce6d149fd44d42"/>
    <p:sldId xmlns:r="http://schemas.openxmlformats.org/officeDocument/2006/relationships" id="270" r:id="R9a6287b601c345b0"/>
    <p:sldId xmlns:r="http://schemas.openxmlformats.org/officeDocument/2006/relationships" id="271" r:id="Reb9d8989865444f8"/>
    <p:sldId xmlns:r="http://schemas.openxmlformats.org/officeDocument/2006/relationships" id="272" r:id="R464eeba6ff784cc7"/>
    <p:sldId xmlns:r="http://schemas.openxmlformats.org/officeDocument/2006/relationships" id="273" r:id="Ree77347d4aa04e37"/>
    <p:sldId xmlns:r="http://schemas.openxmlformats.org/officeDocument/2006/relationships" id="274" r:id="R01499ee673d947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0c089bc2c949ca" /><Relationship Type="http://schemas.openxmlformats.org/officeDocument/2006/relationships/slideMaster" Target="/ppt/slideMasters/slideMaster1.xml" Id="Re43eddd5d84944e5" /><Relationship Type="http://schemas.openxmlformats.org/officeDocument/2006/relationships/notesMaster" Target="/ppt/notesMasters/notesMaster1.xml" Id="R47b3894a96cb435d" /><Relationship Type="http://schemas.openxmlformats.org/officeDocument/2006/relationships/presProps" Target="/ppt/presProps.xml" Id="R4ca70d46fb4046a7" /><Relationship Type="http://schemas.openxmlformats.org/officeDocument/2006/relationships/tableStyles" Target="/ppt/tableStyles.xml" Id="Rae0e94140079497f" /><Relationship Type="http://schemas.openxmlformats.org/officeDocument/2006/relationships/slide" Target="/ppt/slides/slide1.xml" Id="Rbcce7ce244a44d7f" /><Relationship Type="http://schemas.openxmlformats.org/officeDocument/2006/relationships/slide" Target="/ppt/slides/slide2.xml" Id="R547e0b9fb7a94ea7" /><Relationship Type="http://schemas.openxmlformats.org/officeDocument/2006/relationships/slide" Target="/ppt/slides/slide3.xml" Id="R27fdfca446e94499" /><Relationship Type="http://schemas.openxmlformats.org/officeDocument/2006/relationships/slide" Target="/ppt/slides/slide4.xml" Id="R3f51aa238da14c25" /><Relationship Type="http://schemas.openxmlformats.org/officeDocument/2006/relationships/slide" Target="/ppt/slides/slide5.xml" Id="R86910d65ba644976" /><Relationship Type="http://schemas.openxmlformats.org/officeDocument/2006/relationships/slide" Target="/ppt/slides/slide6.xml" Id="R0c83854db5a34128" /><Relationship Type="http://schemas.openxmlformats.org/officeDocument/2006/relationships/slide" Target="/ppt/slides/slide7.xml" Id="Rf7cad3d5857a4813" /><Relationship Type="http://schemas.openxmlformats.org/officeDocument/2006/relationships/slide" Target="/ppt/slides/slide8.xml" Id="Rd8da5911cb104787" /><Relationship Type="http://schemas.openxmlformats.org/officeDocument/2006/relationships/slide" Target="/ppt/slides/slide9.xml" Id="R26f007cfdf674de5" /><Relationship Type="http://schemas.openxmlformats.org/officeDocument/2006/relationships/slide" Target="/ppt/slides/slide10.xml" Id="Rd532ea14dae54f2e" /><Relationship Type="http://schemas.openxmlformats.org/officeDocument/2006/relationships/slide" Target="/ppt/slides/slide11.xml" Id="Rcd4cc9b110d84fcc" /><Relationship Type="http://schemas.openxmlformats.org/officeDocument/2006/relationships/slide" Target="/ppt/slides/slide12.xml" Id="R6bd0b4b9cb2c46be" /><Relationship Type="http://schemas.openxmlformats.org/officeDocument/2006/relationships/slide" Target="/ppt/slides/slide13.xml" Id="Ra5cdce0e8b1b44fe" /><Relationship Type="http://schemas.openxmlformats.org/officeDocument/2006/relationships/slide" Target="/ppt/slides/slide14.xml" Id="R7dce6d149fd44d42" /><Relationship Type="http://schemas.openxmlformats.org/officeDocument/2006/relationships/slide" Target="/ppt/slides/slide15.xml" Id="R9a6287b601c345b0" /><Relationship Type="http://schemas.openxmlformats.org/officeDocument/2006/relationships/slide" Target="/ppt/slides/slide16.xml" Id="Reb9d8989865444f8" /><Relationship Type="http://schemas.openxmlformats.org/officeDocument/2006/relationships/slide" Target="/ppt/slides/slide17.xml" Id="R464eeba6ff784cc7" /><Relationship Type="http://schemas.openxmlformats.org/officeDocument/2006/relationships/slide" Target="/ppt/slides/slide18.xml" Id="Ree77347d4aa04e37" /><Relationship Type="http://schemas.openxmlformats.org/officeDocument/2006/relationships/slide" Target="/ppt/slides/slide19.xml" Id="R01499ee673d947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2fe17436d1f422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a2b5c703b741cf" /><Relationship Type="http://schemas.openxmlformats.org/officeDocument/2006/relationships/notesMaster" Target="/ppt/notesMasters/notesMaster1.xml" Id="R3a6ceb3f30d248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59f13b25c57b4632" /><Relationship Type="http://schemas.openxmlformats.org/officeDocument/2006/relationships/notesMaster" Target="/ppt/notesMasters/notesMaster1.xml" Id="R02d2969d5c504673"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fea25dd998495b" /><Relationship Type="http://schemas.openxmlformats.org/officeDocument/2006/relationships/notesMaster" Target="/ppt/notesMasters/notesMaster1.xml" Id="R90b7fb52d2d043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c1a00376c0144f6a" /><Relationship Type="http://schemas.openxmlformats.org/officeDocument/2006/relationships/notesMaster" Target="/ppt/notesMasters/notesMaster1.xml" Id="Rce4b26967f794492" /></Relationships>
</file>

<file path=ppt/notesSlides/_rels/notesSlide5.xml.rels>&#65279;<?xml version="1.0" encoding="utf-8"?><Relationships xmlns="http://schemas.openxmlformats.org/package/2006/relationships"><Relationship Type="http://schemas.openxmlformats.org/officeDocument/2006/relationships/slide" Target="/ppt/slides/slide5.xml" Id="Re88d30061e014a10" /><Relationship Type="http://schemas.openxmlformats.org/officeDocument/2006/relationships/notesMaster" Target="/ppt/notesMasters/notesMaster1.xml" Id="R7cec536a725740e2" /></Relationships>
</file>

<file path=ppt/notesSlides/_rels/notesSlide6.xml.rels>&#65279;<?xml version="1.0" encoding="utf-8"?><Relationships xmlns="http://schemas.openxmlformats.org/package/2006/relationships"><Relationship Type="http://schemas.openxmlformats.org/officeDocument/2006/relationships/slide" Target="/ppt/slides/slide6.xml" Id="R2c5955f4573f4e85" /><Relationship Type="http://schemas.openxmlformats.org/officeDocument/2006/relationships/notesMaster" Target="/ppt/notesMasters/notesMaster1.xml" Id="R19740883b8644f93"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6725a5b6264baf" /><Relationship Type="http://schemas.openxmlformats.org/officeDocument/2006/relationships/notesMaster" Target="/ppt/notesMasters/notesMaster1.xml" Id="R2661b5af94ca4716" /></Relationships>
</file>

<file path=ppt/notesSlides/_rels/notesSlide8.xml.rels>&#65279;<?xml version="1.0" encoding="utf-8"?><Relationships xmlns="http://schemas.openxmlformats.org/package/2006/relationships"><Relationship Type="http://schemas.openxmlformats.org/officeDocument/2006/relationships/slide" Target="/ppt/slides/slide8.xml" Id="R5853d76f9d2043ce" /><Relationship Type="http://schemas.openxmlformats.org/officeDocument/2006/relationships/notesMaster" Target="/ppt/notesMasters/notesMaster1.xml" Id="R7dd6577c4d9c417d" /></Relationships>
</file>

<file path=ppt/notesSlides/_rels/notesSlide9.xml.rels>&#65279;<?xml version="1.0" encoding="utf-8"?><Relationships xmlns="http://schemas.openxmlformats.org/package/2006/relationships"><Relationship Type="http://schemas.openxmlformats.org/officeDocument/2006/relationships/slide" Target="/ppt/slides/slide9.xml" Id="Rc3665a84399c4dc4" /><Relationship Type="http://schemas.openxmlformats.org/officeDocument/2006/relationships/notesMaster" Target="/ppt/notesMasters/notesMaster1.xml" Id="R83afa0c3f45147b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9d1de2303f74bca" /><Relationship Type="http://schemas.openxmlformats.org/officeDocument/2006/relationships/notesMaster" Target="/ppt/notesMasters/notesMaster1.xml" Id="Radd3ace697a54ec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de955ba6b654f3a" /><Relationship Type="http://schemas.openxmlformats.org/officeDocument/2006/relationships/notesMaster" Target="/ppt/notesMasters/notesMaster1.xml" Id="R75d61d8befc74fd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ca96d2e886a4dbe" /><Relationship Type="http://schemas.openxmlformats.org/officeDocument/2006/relationships/notesMaster" Target="/ppt/notesMasters/notesMaster1.xml" Id="Rfcc38752f257461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b3e4d2439264d2e" /><Relationship Type="http://schemas.openxmlformats.org/officeDocument/2006/relationships/notesMaster" Target="/ppt/notesMasters/notesMaster1.xml" Id="R4577e715ceec4b8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18431eba6b84a06" /><Relationship Type="http://schemas.openxmlformats.org/officeDocument/2006/relationships/notesMaster" Target="/ppt/notesMasters/notesMaster1.xml" Id="Rfdad5bf3c187409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aaed7240fd741ce" /><Relationship Type="http://schemas.openxmlformats.org/officeDocument/2006/relationships/notesMaster" Target="/ppt/notesMasters/notesMaster1.xml" Id="R716113c1f90c4ba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58babce562b4112" /><Relationship Type="http://schemas.openxmlformats.org/officeDocument/2006/relationships/notesMaster" Target="/ppt/notesMasters/notesMaster1.xml" Id="Re5f3a4963a29453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b5b9f10eb2c4d66" /><Relationship Type="http://schemas.openxmlformats.org/officeDocument/2006/relationships/notesMaster" Target="/ppt/notesMasters/notesMaster1.xml" Id="R401f1a7d170e42b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ca7601822f941d3" /><Relationship Type="http://schemas.openxmlformats.org/officeDocument/2006/relationships/notesMaster" Target="/ppt/notesMasters/notesMaster1.xml" Id="R129e25021c164d7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ee337b4b8be4558" /><Relationship Type="http://schemas.openxmlformats.org/officeDocument/2006/relationships/notesMaster" Target="/ppt/notesMasters/notesMaster1.xml" Id="R77447d2e505d450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task: mapping green-roof area at pixel level from aerial imagery. The study is deliberately restricted to Berlin postcode 12357 so that the first experiment is small, reproducible, and spatially auditable. The displayed RGB tile is selected by the PLZ-filtered training manifest; its image bytes remain in the immutable orthophoto source tree.</a:t>
            </a:r>
          </a:p>
          <a:p xmlns:a="http://schemas.openxmlformats.org/drawingml/2006/main">
            <a:r>
              <a:t/>
            </a:r>
          </a:p>
          <a:p xmlns:a="http://schemas.openxmlformats.org/drawingml/2006/main">
            <a:r>
              <a:t>[Sources]</a:t>
            </a:r>
          </a:p>
          <a:p xmlns:a="http://schemas.openxmlformats.org/drawingml/2006/main">
            <a:r>
              <a:t>- E:/Artificial_Intelligence_in_water/project/data/processed/green_roofs_2016_plz12357/manifests/train.csv</a:t>
            </a:r>
          </a:p>
          <a:p xmlns:a="http://schemas.openxmlformats.org/drawingml/2006/main">
            <a:r>
              <a:t>- E:/Artificial_Intelligence_in_water/project/data/green_roofs/green_roofs/orthophotos_2016/12357/19/281806/172161.png</a:t>
            </a:r>
          </a:p>
          <a:p xmlns:a="http://schemas.openxmlformats.org/drawingml/2006/main">
            <a:r>
              <a:t>- E:/Artificial_Intelligence_in_water/project/code/presentation/PITCH_PLAN.md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the task as semantic segmentation: every pixel receives a green-roof or background label. Both imbalance figures are calculated after the PLZ 12357 centre-point filter: 182 of 1,635 selected tiles are positive, and 0.6001% of their pixels are foreground. The displayed RGB tile is referenced by the filtered training manifest; only its image bytes remain in the immutable orthophoto source tree.</a:t>
            </a:r>
          </a:p>
          <a:p xmlns:a="http://schemas.openxmlformats.org/drawingml/2006/main">
            <a:r>
              <a:t/>
            </a:r>
          </a:p>
          <a:p xmlns:a="http://schemas.openxmlformats.org/drawingml/2006/main">
            <a:r>
              <a:t>[Sources]</a:t>
            </a:r>
          </a:p>
          <a:p xmlns:a="http://schemas.openxmlformats.org/drawingml/2006/main">
            <a:r>
              <a:t>- E:/Artificial_Intelligence_in_water/project/data/processed/green_roofs_2016_plz12357/dataset_summary.json</a:t>
            </a:r>
          </a:p>
          <a:p xmlns:a="http://schemas.openxmlformats.org/drawingml/2006/main">
            <a:r>
              <a:t>- E:/Artificial_Intelligence_in_water/project/data/processed/green_roofs_2016_plz12357/class_balance_analysis/class_balance_summary.json</a:t>
            </a:r>
          </a:p>
          <a:p xmlns:a="http://schemas.openxmlformats.org/drawingml/2006/main">
            <a:r>
              <a:t>- E:/Artificial_Intelligence_in_water/project/data/processed/green_roofs_2016_plz12357/manifests/train.csv</a:t>
            </a:r>
          </a:p>
          <a:p xmlns:a="http://schemas.openxmlformats.org/drawingml/2006/main">
            <a:r>
              <a:t>- E:/Artificial_Intelligence_in_water/project/data/green_roofs/green_roofs/orthophotos_2016/12357/19/281806/172161.png</a:t>
            </a:r>
          </a:p>
          <a:p xmlns:a="http://schemas.openxmlformats.org/drawingml/2006/main">
            <a:r>
              <a:t>- E:/Artificial_Intelligence_in_water/project/data/processed/green_roofs_2016_plz12357/masks/19/281806/172161.png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proposal is not another architecture race. The methodological gap is whether the complete workflow yields credible spatial evidence. Spatially structured data violate the independence assumption of ordinary random cross-validation; block-based evaluation is therefore the safer baseline.</a:t>
            </a:r>
          </a:p>
          <a:p xmlns:a="http://schemas.openxmlformats.org/drawingml/2006/main">
            <a:r>
              <a:t/>
            </a:r>
          </a:p>
          <a:p xmlns:a="http://schemas.openxmlformats.org/drawingml/2006/main">
            <a:r>
              <a:t>[Sources]</a:t>
            </a:r>
          </a:p>
          <a:p xmlns:a="http://schemas.openxmlformats.org/drawingml/2006/main">
            <a:r>
              <a:t>- https://doi.org/10.1111/ecog.02881</a:t>
            </a:r>
          </a:p>
          <a:p xmlns:a="http://schemas.openxmlformats.org/drawingml/2006/main">
            <a:r>
              <a:t>- https://lmb.informatik.uni-freiburg.de/Publications/2015/RFB15a/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both research questions. RQ2 is the controlled experiment already completed on validation data. Stress that the same frozen validation set is used for both models.</a:t>
            </a:r>
          </a:p>
          <a:p xmlns:a="http://schemas.openxmlformats.org/drawingml/2006/main">
            <a:r>
              <a:t/>
            </a:r>
          </a:p>
          <a:p xmlns:a="http://schemas.openxmlformats.org/drawingml/2006/main">
            <a:r>
              <a:t>[Sources]</a:t>
            </a:r>
          </a:p>
          <a:p xmlns:a="http://schemas.openxmlformats.org/drawingml/2006/main">
            <a:r>
              <a:t>- E:/Artificial_Intelligence_in_water/project/code/configs/unet_plz12357_all.toml</a:t>
            </a:r>
          </a:p>
          <a:p xmlns:a="http://schemas.openxmlformats.org/drawingml/2006/main">
            <a:r>
              <a:t>- E:/Artificial_Intelligence_in_water/project/code/configs/unet_plz12357_positive_only.toml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U-Net is chosen because its encoder–decoder structure and skip connections offer a clear baseline for pixel localization. ResNet50 supplies pretrained visual features. DeepLabv3+ and SegFormer remain suitable follow-up baselines once the data and evaluation protocol are stable.</a:t>
            </a:r>
          </a:p>
          <a:p xmlns:a="http://schemas.openxmlformats.org/drawingml/2006/main">
            <a:r>
              <a:t/>
            </a:r>
          </a:p>
          <a:p xmlns:a="http://schemas.openxmlformats.org/drawingml/2006/main">
            <a:r>
              <a:t>[Sources]</a:t>
            </a:r>
          </a:p>
          <a:p xmlns:a="http://schemas.openxmlformats.org/drawingml/2006/main">
            <a:r>
              <a:t>- https://lmb.informatik.uni-freiburg.de/Publications/2015/RFB15a/</a:t>
            </a:r>
          </a:p>
          <a:p xmlns:a="http://schemas.openxmlformats.org/drawingml/2006/main">
            <a:r>
              <a:t>- https://openaccess.thecvf.com/content_ECCV_2018/papers/Liang-Chieh_Chen_Encoder-Decoder_with_Atrous_ECCV_2018_paper.pdf</a:t>
            </a:r>
          </a:p>
          <a:p xmlns:a="http://schemas.openxmlformats.org/drawingml/2006/main">
            <a:r>
              <a:t>- https://papers.nips.cc/paper/2021/hash/64f1f27bf1b4ec22924fd0acb550c235-Abstract.html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XYZ already defines the image grid. Mercantile gives each tile's Web Mercator bounds. Green-roof polygons are loaded, validated and transformed to EPSG:3857. Shapely selects intersections; Rasterio maps the intersecting geometry into the exact 256 by 256 mask. The example tile is included by the PLZ-filtered training manifest.</a:t>
            </a:r>
          </a:p>
          <a:p xmlns:a="http://schemas.openxmlformats.org/drawingml/2006/main">
            <a:r>
              <a:t/>
            </a:r>
          </a:p>
          <a:p xmlns:a="http://schemas.openxmlformats.org/drawingml/2006/main">
            <a:r>
              <a:t>[Sources]</a:t>
            </a:r>
          </a:p>
          <a:p xmlns:a="http://schemas.openxmlformats.org/drawingml/2006/main">
            <a:r>
              <a:t>- E:/Artificial_Intelligence_in_water/project/code/src/green_roofs/tiles.py</a:t>
            </a:r>
          </a:p>
          <a:p xmlns:a="http://schemas.openxmlformats.org/drawingml/2006/main">
            <a:r>
              <a:t>- E:/Artificial_Intelligence_in_water/project/code/src/green_roofs/labels.py</a:t>
            </a:r>
          </a:p>
          <a:p xmlns:a="http://schemas.openxmlformats.org/drawingml/2006/main">
            <a:r>
              <a:t>- E:/Artificial_Intelligence_in_water/project/code/src/green_roofs/rasterization.py</a:t>
            </a:r>
          </a:p>
          <a:p xmlns:a="http://schemas.openxmlformats.org/drawingml/2006/main">
            <a:r>
              <a:t>- E:/Artificial_Intelligence_in_water/project/data/processed/green_roofs_2016_plz12357/manifests/train.csv</a:t>
            </a:r>
          </a:p>
          <a:p xmlns:a="http://schemas.openxmlformats.org/drawingml/2006/main">
            <a:r>
              <a:t>- E:/Artificial_Intelligence_in_water/project/data/green_roofs/green_roofs/orthophotos_2016/12357/19/281806/172161.png</a:t>
            </a:r>
          </a:p>
          <a:p xmlns:a="http://schemas.openxmlformats.org/drawingml/2006/main">
            <a:r>
              <a:t>- E:/Artificial_Intelligence_in_water/project/data/processed/green_roofs_2016_plz12357/masks/19/281806/172161.png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First the current official postcode boundary selects tiles by centre point. Then 8 by 8 tile blocks—not individual tiles—are assigned to train, validation and test. The diagnostic shows a 47 m median nearest-neighbour distance within training and 93 m from held-out tiles to training. This is a proxy for spatial separation, not a guarantee of city-wide deployment performance.</a:t>
            </a:r>
          </a:p>
          <a:p xmlns:a="http://schemas.openxmlformats.org/drawingml/2006/main">
            <a:r>
              <a:t/>
            </a:r>
          </a:p>
          <a:p xmlns:a="http://schemas.openxmlformats.org/drawingml/2006/main">
            <a:r>
              <a:t>[Sources]</a:t>
            </a:r>
          </a:p>
          <a:p xmlns:a="http://schemas.openxmlformats.org/drawingml/2006/main">
            <a:r>
              <a:t>- E:/Artificial_Intelligence_in_water/project/data/processed/green_roofs_2016_plz12357/dataset_summary.json</a:t>
            </a:r>
          </a:p>
          <a:p xmlns:a="http://schemas.openxmlformats.org/drawingml/2006/main">
            <a:r>
              <a:t>- E:/Artificial_Intelligence_in_water/project/data/processed/green_roofs_2016_plz12357/spatial_distance_analysis/spatial_distance_summary.json</a:t>
            </a:r>
          </a:p>
          <a:p xmlns:a="http://schemas.openxmlformats.org/drawingml/2006/main">
            <a:r>
              <a:t>- E:/Artificial_Intelligence_in_water/project/data/processed/green_roofs_2016_plz12357/spatial_distance_analysis/spatial_distance_distribution.png</a:t>
            </a:r>
          </a:p>
          <a:p xmlns:a="http://schemas.openxmlformats.org/drawingml/2006/main">
            <a:r>
              <a:t>- https://doi.org/10.1111/ecog.02881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dataset contains 1,635 tiles. Only 182 are positive and 1,453 contain no green-roof pixels. Across all tiles, only 643,038 of 107,151,360 pixels are foreground. Accuracy would therefore be misleading; Dice, IoU, precision, recall and negative-scene false positives are used instead.</a:t>
            </a:r>
          </a:p>
          <a:p xmlns:a="http://schemas.openxmlformats.org/drawingml/2006/main">
            <a:r>
              <a:t/>
            </a:r>
          </a:p>
          <a:p xmlns:a="http://schemas.openxmlformats.org/drawingml/2006/main">
            <a:r>
              <a:t>[Sources]</a:t>
            </a:r>
          </a:p>
          <a:p xmlns:a="http://schemas.openxmlformats.org/drawingml/2006/main">
            <a:r>
              <a:t>- E:/Artificial_Intelligence_in_water/project/data/processed/green_roofs_2016_plz12357/class_balance_analysis/class_balance_summary.json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controlled ablation. Both runs see 1,180 samples per epoch, identical validation images and the same synchronized flips and 90-degree rotations. The all-tile strategy balances 590 positive with 590 negative scenes; positive-only repeats positive examples to match the optimizer-step budget.</a:t>
            </a:r>
          </a:p>
          <a:p xmlns:a="http://schemas.openxmlformats.org/drawingml/2006/main">
            <a:r>
              <a:t/>
            </a:r>
          </a:p>
          <a:p xmlns:a="http://schemas.openxmlformats.org/drawingml/2006/main">
            <a:r>
              <a:t>[Sources]</a:t>
            </a:r>
          </a:p>
          <a:p xmlns:a="http://schemas.openxmlformats.org/drawingml/2006/main">
            <a:r>
              <a:t>- E:/Artificial_Intelligence_in_water/project/code/configs/unet_plz12357_all.toml</a:t>
            </a:r>
          </a:p>
          <a:p xmlns:a="http://schemas.openxmlformats.org/drawingml/2006/main">
            <a:r>
              <a:t>- E:/Artificial_Intelligence_in_water/project/code/configs/unet_plz12357_positive_only.toml</a:t>
            </a:r>
          </a:p>
          <a:p xmlns:a="http://schemas.openxmlformats.org/drawingml/2006/main">
            <a:r>
              <a:t>- E:/Artificial_Intelligence_in_water/project/runs/unet_plz12357_all/history.csv</a:t>
            </a:r>
          </a:p>
          <a:p xmlns:a="http://schemas.openxmlformats.org/drawingml/2006/main">
            <a:r>
              <a:t>- E:/Artificial_Intelligence_in_water/project/runs/unet_plz12357_positive_only/history.csv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independently selected validation thresholds, the all-tile model reaches Dice 0.475 and IoU 0.312, versus 0.422 and 0.268 for positive-only training. The very different selected thresholds—0.05 versus 0.95—also signal a calibration problem. These are validation results, not final test results.</a:t>
            </a:r>
          </a:p>
          <a:p xmlns:a="http://schemas.openxmlformats.org/drawingml/2006/main">
            <a:r>
              <a:t/>
            </a:r>
          </a:p>
          <a:p xmlns:a="http://schemas.openxmlformats.org/drawingml/2006/main">
            <a:r>
              <a:t>[Sources]</a:t>
            </a:r>
          </a:p>
          <a:p xmlns:a="http://schemas.openxmlformats.org/drawingml/2006/main">
            <a:r>
              <a:t>- E:/Artificial_Intelligence_in_water/project/runs/unet_plz12357_all/validation_analysis/validation_summary.json</a:t>
            </a:r>
          </a:p>
          <a:p xmlns:a="http://schemas.openxmlformats.org/drawingml/2006/main">
            <a:r>
              <a:t>- E:/Artificial_Intelligence_in_water/project/runs/unet_plz12357_positive_only/validation_analysis/validation_summary.json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pixel totals alone would hide the deployment risk. Positive-only training produces slightly fewer false-positive pixels, but at least one false positive appears in 65 of 181 negative validation tiles, compared with 10 of 181 for all-tile training. In area-wide mapping, spatial spread of false alarms matters.</a:t>
            </a:r>
          </a:p>
          <a:p xmlns:a="http://schemas.openxmlformats.org/drawingml/2006/main">
            <a:r>
              <a:t/>
            </a:r>
          </a:p>
          <a:p xmlns:a="http://schemas.openxmlformats.org/drawingml/2006/main">
            <a:r>
              <a:t>[Sources]</a:t>
            </a:r>
          </a:p>
          <a:p xmlns:a="http://schemas.openxmlformats.org/drawingml/2006/main">
            <a:r>
              <a:t>- E:/Artificial_Intelligence_in_water/project/runs/unet_plz12357_all/validation_analysis/validation_summary.json</a:t>
            </a:r>
          </a:p>
          <a:p xmlns:a="http://schemas.openxmlformats.org/drawingml/2006/main">
            <a:r>
              <a:t>- E:/Artificial_Intelligence_in_water/project/runs/unet_plz12357_positive_only/validation_analysis/validation_summary.json</a:t>
            </a:r>
          </a:p>
          <a:p xmlns:a="http://schemas.openxmlformats.org/drawingml/2006/main">
            <a:r>
              <a:t>- E:/Artificial_Intelligence_in_water/project/runs/unet_plz12357_all/validation_analysis/diagnostics/fp_heavy_negative_01_19_281814_172170.png</a:t>
            </a:r>
          </a:p>
          <a:p xmlns:a="http://schemas.openxmlformats.org/drawingml/2006/main">
            <a:r>
              <a:t>- E:/Artificial_Intelligence_in_water/project/runs/unet_plz12357_positive_only/validation_analysis/diagnostics/fp_heavy_negative_01_19_281773_172128.png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evidence boundary. The validation study supports keeping negative scenes in training. The next defensible step is to freeze the threshold and evaluate the test set once. Full-Berlin and temporal transfer require separate experiments.</a:t>
            </a:r>
          </a:p>
          <a:p xmlns:a="http://schemas.openxmlformats.org/drawingml/2006/main">
            <a:r>
              <a:t/>
            </a:r>
          </a:p>
          <a:p xmlns:a="http://schemas.openxmlformats.org/drawingml/2006/main">
            <a:r>
              <a:t>[Sources]</a:t>
            </a:r>
          </a:p>
          <a:p xmlns:a="http://schemas.openxmlformats.org/drawingml/2006/main">
            <a:r>
              <a:t>- E:/Artificial_Intelligence_in_water/project/runs/unet_plz12357_all/validation_analysis/validation_summary.json</a:t>
            </a:r>
          </a:p>
          <a:p xmlns:a="http://schemas.openxmlformats.org/drawingml/2006/main">
            <a:r>
              <a:t>- E:/Artificial_Intelligence_in_water/project/runs/unet_plz12357_positive_only/validation_analysis/validation_summary.json</a:t>
            </a:r>
          </a:p>
          <a:p xmlns:a="http://schemas.openxmlformats.org/drawingml/2006/main">
            <a:r>
              <a:t>- E:/Artificial_Intelligence_in_water/project/code/presentation/PITCH_PLAN.md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only if questions arise.</a:t>
            </a:r>
          </a:p>
          <a:p xmlns:a="http://schemas.openxmlformats.org/drawingml/2006/main">
            <a:r>
              <a:t/>
            </a:r>
          </a:p>
          <a:p xmlns:a="http://schemas.openxmlformats.org/drawingml/2006/main">
            <a:r>
              <a:t>[Sources]</a:t>
            </a:r>
          </a:p>
          <a:p xmlns:a="http://schemas.openxmlformats.org/drawingml/2006/main">
            <a:r>
              <a:t>- E:/Artificial_Intelligence_in_water/project/code/presentation/PITCH_PLAN.md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postcode restriction is based on the current official boundary. That is a known temporal provenance limitation because the imagery and labels are from 2016.</a:t>
            </a:r>
          </a:p>
          <a:p xmlns:a="http://schemas.openxmlformats.org/drawingml/2006/main">
            <a:r>
              <a:t/>
            </a:r>
          </a:p>
          <a:p xmlns:a="http://schemas.openxmlformats.org/drawingml/2006/main">
            <a:r>
              <a:t>[Sources]</a:t>
            </a:r>
          </a:p>
          <a:p xmlns:a="http://schemas.openxmlformats.org/drawingml/2006/main">
            <a:r>
              <a:t>- E:/Artificial_Intelligence_in_water/project/data/processed/green_roofs_2016_plz12357/dataset_summary.json</a:t>
            </a:r>
          </a:p>
          <a:p xmlns:a="http://schemas.openxmlformats.org/drawingml/2006/main">
            <a:r>
              <a:t>- E:/Artificial_Intelligence_in_water/project/annotation/green_roofs_2016/berlin_plz_12357.gpkg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threshold 0.5, all-tile Dice is 0.441 and positive-only Dice is 0.416. Validation-based threshold selection raises them to 0.475 and 0.422. Because threshold selection uses validation data, the final threshold must be frozen before test evaluation.</a:t>
            </a:r>
          </a:p>
          <a:p xmlns:a="http://schemas.openxmlformats.org/drawingml/2006/main">
            <a:r>
              <a:t/>
            </a:r>
          </a:p>
          <a:p xmlns:a="http://schemas.openxmlformats.org/drawingml/2006/main">
            <a:r>
              <a:t>[Sources]</a:t>
            </a:r>
          </a:p>
          <a:p xmlns:a="http://schemas.openxmlformats.org/drawingml/2006/main">
            <a:r>
              <a:t>- E:/Artificial_Intelligence_in_water/project/runs/unet_plz12357_all/history.csv</a:t>
            </a:r>
          </a:p>
          <a:p xmlns:a="http://schemas.openxmlformats.org/drawingml/2006/main">
            <a:r>
              <a:t>- E:/Artificial_Intelligence_in_water/project/runs/unet_plz12357_positive_only/history.csv</a:t>
            </a:r>
          </a:p>
          <a:p xmlns:a="http://schemas.openxmlformats.org/drawingml/2006/main">
            <a:r>
              <a:t>- E:/Artificial_Intelligence_in_water/project/runs/unet_plz12357_all/validation_analysis/threshold_metrics.csv</a:t>
            </a:r>
          </a:p>
          <a:p xmlns:a="http://schemas.openxmlformats.org/drawingml/2006/main">
            <a:r>
              <a:t>- E:/Artificial_Intelligence_in_water/project/runs/unet_plz12357_positive_only/validation_analysis/threshold_metrics.csv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training augmentation is deliberately simple and label-safe: independent 50% horizontal and vertical flips plus a random right-angle rotation. The image and mask always receive the same transform. Validation is deterministic.</a:t>
            </a:r>
          </a:p>
          <a:p xmlns:a="http://schemas.openxmlformats.org/drawingml/2006/main">
            <a:r>
              <a:t/>
            </a:r>
          </a:p>
          <a:p xmlns:a="http://schemas.openxmlformats.org/drawingml/2006/main">
            <a:r>
              <a:t>[Sources]</a:t>
            </a:r>
          </a:p>
          <a:p xmlns:a="http://schemas.openxmlformats.org/drawingml/2006/main">
            <a:r>
              <a:t>- E:/Artificial_Intelligence_in_water/project/code/src/green_roofs/transforms.py</a:t>
            </a:r>
          </a:p>
          <a:p xmlns:a="http://schemas.openxmlformats.org/drawingml/2006/main">
            <a:r>
              <a:t>- E:/Artificial_Intelligence_in_water/project/code/configs/unet_plz12357_all.toml</a:t>
            </a:r>
          </a:p>
          <a:p xmlns:a="http://schemas.openxmlformats.org/drawingml/2006/main">
            <a:r>
              <a:t>- E:/Artificial_Intelligence_in_water/project/code/configs/unet_plz12357_positive_only.toml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advantage of all-tile training is not caused only by including negative tiles in the aggregate metric. It also performs better on the 22 positive validation tiles across Dice, IoU, precision and recall.</a:t>
            </a:r>
          </a:p>
          <a:p xmlns:a="http://schemas.openxmlformats.org/drawingml/2006/main">
            <a:r>
              <a:t/>
            </a:r>
          </a:p>
          <a:p xmlns:a="http://schemas.openxmlformats.org/drawingml/2006/main">
            <a:r>
              <a:t>[Sources]</a:t>
            </a:r>
          </a:p>
          <a:p xmlns:a="http://schemas.openxmlformats.org/drawingml/2006/main">
            <a:r>
              <a:t>- E:/Artificial_Intelligence_in_water/project/runs/unet_plz12357_all/validation_analysis/validation_summary.json</a:t>
            </a:r>
          </a:p>
          <a:p xmlns:a="http://schemas.openxmlformats.org/drawingml/2006/main">
            <a:r>
              <a:t>- E:/Artificial_Intelligence_in_water/project/runs/unet_plz12357_positive_only/validation_analysis/validation_summary.json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nearest-neighbour diagnostic uses tile centres transformed to ETRS89 / UTM zone 33N. It verifies that held-out tiles are farther from training on average, but the entire study area is still a small local postcode region.</a:t>
            </a:r>
          </a:p>
          <a:p xmlns:a="http://schemas.openxmlformats.org/drawingml/2006/main">
            <a:r>
              <a:t/>
            </a:r>
          </a:p>
          <a:p xmlns:a="http://schemas.openxmlformats.org/drawingml/2006/main">
            <a:r>
              <a:t>[Sources]</a:t>
            </a:r>
          </a:p>
          <a:p xmlns:a="http://schemas.openxmlformats.org/drawingml/2006/main">
            <a:r>
              <a:t>- E:/Artificial_Intelligence_in_water/project/data/processed/green_roofs_2016_plz12357/spatial_distance_analysis/spatial_distance_summary.json</a:t>
            </a:r>
          </a:p>
          <a:p xmlns:a="http://schemas.openxmlformats.org/drawingml/2006/main">
            <a:r>
              <a:t>- E:/Artificial_Intelligence_in_water/project/data/processed/green_roofs_2016_plz12357/spatial_distance_analysis/spatial_distance_distribution.png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limitations are not footnotes; they define the next experiments. The current result is a validation-stage method finding, not a deployment-ready Berlin map.</a:t>
            </a:r>
          </a:p>
          <a:p xmlns:a="http://schemas.openxmlformats.org/drawingml/2006/main">
            <a:r>
              <a:t/>
            </a:r>
          </a:p>
          <a:p xmlns:a="http://schemas.openxmlformats.org/drawingml/2006/main">
            <a:r>
              <a:t>[Sources]</a:t>
            </a:r>
          </a:p>
          <a:p xmlns:a="http://schemas.openxmlformats.org/drawingml/2006/main">
            <a:r>
              <a:t>- E:/Artificial_Intelligence_in_water/project/code/presentation/PITCH_PLAN.md</a:t>
            </a:r>
          </a:p>
          <a:p xmlns:a="http://schemas.openxmlformats.org/drawingml/2006/main">
            <a:r>
              <a:t>- E:/Artificial_Intelligence_in_water/project/data/processed/green_roofs_2016_plz12357/dataset_summary.json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acd5bbeb4f447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f9c8366aa554e34" /><Relationship Type="http://schemas.openxmlformats.org/officeDocument/2006/relationships/slideLayout" Target="/ppt/slideLayouts/slideLayout1.xml" Id="Raf965b8c879245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f965b8c879245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b9abc868b514d18" /><Relationship Type="http://schemas.openxmlformats.org/officeDocument/2006/relationships/image" Target="/ppt/media/image.png" Id="R062dd8ee7f144b58" /><Relationship Type="http://schemas.openxmlformats.org/officeDocument/2006/relationships/notesSlide" Target="/ppt/notesSlides/notesSlide1.xml" Id="R728e2720bbd74a3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20a47176c914f9e" /><Relationship Type="http://schemas.openxmlformats.org/officeDocument/2006/relationships/image" Target="/ppt/media/image2.png" Id="R84d930f598b443ab" /><Relationship Type="http://schemas.openxmlformats.org/officeDocument/2006/relationships/image" Target="/ppt/media/image3.png" Id="Ra4b0a8aa10e744d5" /><Relationship Type="http://schemas.openxmlformats.org/officeDocument/2006/relationships/notesSlide" Target="/ppt/notesSlides/notesSlide2.xml" Id="Rf631434dbeb2448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05aa40d51fb4716" /><Relationship Type="http://schemas.openxmlformats.org/officeDocument/2006/relationships/notesSlide" Target="/ppt/notesSlides/notesSlide3.xml" Id="R8f059060e1d8483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cbde6b2d0ce43fb" /><Relationship Type="http://schemas.openxmlformats.org/officeDocument/2006/relationships/notesSlide" Target="/ppt/notesSlides/notesSlide4.xml" Id="R4ef2bffb68674b7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3341dfbb4994114" /><Relationship Type="http://schemas.openxmlformats.org/officeDocument/2006/relationships/notesSlide" Target="/ppt/notesSlides/notesSlide5.xml" Id="Rf7e2b5a63e3241b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187e338059e4724" /><Relationship Type="http://schemas.openxmlformats.org/officeDocument/2006/relationships/image" Target="/ppt/media/image4.png" Id="Rf2eed291501f45c0" /><Relationship Type="http://schemas.openxmlformats.org/officeDocument/2006/relationships/image" Target="/ppt/media/image5.png" Id="R8af0884403d04f3e" /><Relationship Type="http://schemas.openxmlformats.org/officeDocument/2006/relationships/notesSlide" Target="/ppt/notesSlides/notesSlide6.xml" Id="Rce0adb2b9ab949e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a4da456addd4c79" /><Relationship Type="http://schemas.openxmlformats.org/officeDocument/2006/relationships/image" Target="/ppt/media/image6.png" Id="Rf3b9478eee324b0f" /><Relationship Type="http://schemas.openxmlformats.org/officeDocument/2006/relationships/notesSlide" Target="/ppt/notesSlides/notesSlide7.xml" Id="R8b55c12140a0438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4a3ec49542a46b0" /><Relationship Type="http://schemas.openxmlformats.org/officeDocument/2006/relationships/chart" Target="/ppt/slides/charts/chart1.xml" Id="R38b239b426dd4392" /><Relationship Type="http://schemas.openxmlformats.org/officeDocument/2006/relationships/notesSlide" Target="/ppt/notesSlides/notesSlide8.xml" Id="R83f35a084997404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bfd8f4577d44fcc" /><Relationship Type="http://schemas.openxmlformats.org/officeDocument/2006/relationships/notesSlide" Target="/ppt/notesSlides/notesSlide9.xml" Id="R1c64fbcb318b41f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ac91e8ebb2e4468" /><Relationship Type="http://schemas.openxmlformats.org/officeDocument/2006/relationships/chart" Target="/ppt/slides/charts/chart2.xml" Id="R6b3f44a73dcf4b17" /><Relationship Type="http://schemas.openxmlformats.org/officeDocument/2006/relationships/notesSlide" Target="/ppt/notesSlides/notesSlide10.xml" Id="R3ae668331904484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8c227ee8a6a4269" /><Relationship Type="http://schemas.openxmlformats.org/officeDocument/2006/relationships/image" Target="/ppt/media/image7.png" Id="R72be914bd3e94522" /><Relationship Type="http://schemas.openxmlformats.org/officeDocument/2006/relationships/image" Target="/ppt/media/image8.png" Id="R86c94218909145d3" /><Relationship Type="http://schemas.openxmlformats.org/officeDocument/2006/relationships/notesSlide" Target="/ppt/notesSlides/notesSlide11.xml" Id="R134d0ce8196846d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4d8dd0f00df040fa" /><Relationship Type="http://schemas.openxmlformats.org/officeDocument/2006/relationships/notesSlide" Target="/ppt/notesSlides/notesSlide12.xml" Id="Rf026e07ae60c4f1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c3e91ce1ee54bfc" /><Relationship Type="http://schemas.openxmlformats.org/officeDocument/2006/relationships/notesSlide" Target="/ppt/notesSlides/notesSlide13.xml" Id="R9ad6c9aeee6f4fa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9a69f3a8b9a4e18" /><Relationship Type="http://schemas.openxmlformats.org/officeDocument/2006/relationships/notesSlide" Target="/ppt/notesSlides/notesSlide14.xml" Id="Rbed79d4d9a6b405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6aa68700526843f8" /><Relationship Type="http://schemas.openxmlformats.org/officeDocument/2006/relationships/notesSlide" Target="/ppt/notesSlides/notesSlide15.xml" Id="R766ad58b1f1742f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f15cf3cc0bc4c29" /><Relationship Type="http://schemas.openxmlformats.org/officeDocument/2006/relationships/notesSlide" Target="/ppt/notesSlides/notesSlide16.xml" Id="Rc0cdc02ade054b9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df09cccc5894db8" /><Relationship Type="http://schemas.openxmlformats.org/officeDocument/2006/relationships/notesSlide" Target="/ppt/notesSlides/notesSlide17.xml" Id="Rdd6d397c1615447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858b2dceada46c6" /><Relationship Type="http://schemas.openxmlformats.org/officeDocument/2006/relationships/image" Target="/ppt/media/image9.png" Id="R2c1a9405e7f14d51" /><Relationship Type="http://schemas.openxmlformats.org/officeDocument/2006/relationships/notesSlide" Target="/ppt/notesSlides/notesSlide18.xml" Id="Ra07617756f04405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a144d7b02974350" /><Relationship Type="http://schemas.openxmlformats.org/officeDocument/2006/relationships/notesSlide" Target="/ppt/notesSlides/notesSlide19.xml" Id="R8eda934215104690" /></Relationships>
</file>

<file path=ppt/slides/charts/chart1.xml><?xml version="1.0" encoding="utf-8"?>
<c:chartSpace xmlns:c="http://schemas.openxmlformats.org/drawingml/2006/chart">
  <c:lang val="en-US"/>
  <c:chart>
    <c:plotArea>
      <c:barChart>
        <c:barDir val="bar"/>
        <c:grouping val="clustered"/>
        <c:varyColors val="0"/>
        <c:ser>
          <c:idx val="0"/>
          <c:order val="0"/>
          <c:tx>
            <c:v>Tiles</c:v>
          </c:tx>
          <c:spPr>
            <a:solidFill xmlns:a="http://schemas.openxmlformats.org/drawingml/2006/main">
              <a:srgbClr val="1F7A55"/>
            </a:solidFill>
          </c:spPr>
          <c:cat>
            <c:strLit>
              <c:ptCount val="2"/>
              <c:pt idx="0">
                <c:v>Positive tiles</c:v>
              </c:pt>
              <c:pt idx="1">
                <c:v>Negative-only tiles</c:v>
              </c:pt>
            </c:strLit>
          </c:cat>
          <c:val>
            <c:numLit>
              <c:formatCode>General</c:formatCode>
              <c:ptCount val="2"/>
              <c:pt idx="0">
                <c:v>182</c:v>
              </c:pt>
              <c:pt idx="1">
                <c:v>1453</c:v>
              </c:pt>
            </c:numLit>
          </c:val>
        </c:ser>
        <c:dLbls>
          <c:txPr>
            <a:bodyPr xmlns:a="http://schemas.openxmlformats.org/drawingml/2006/main" anchorCtr="1"/>
            <a:lstStyle xmlns:a="http://schemas.openxmlformats.org/drawingml/2006/main"/>
            <a:p xmlns:a="http://schemas.openxmlformats.org/drawingml/2006/main">
              <a:pPr>
                <a:defRPr sz="1125" b="1">
                  <a:solidFill>
                    <a:srgbClr val="17221B"/>
                  </a:solidFil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C6D0C9"/>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D6B63"/>
                </a:solidFil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C6D0C9"/>
            </a:solidFill>
            <a:prstDash val="solid"/>
          </a:ln>
        </c:spPr>
        <c:txPr>
          <a:bodyPr xmlns:a="http://schemas.openxmlformats.org/drawingml/2006/main" anchorCtr="1"/>
          <a:lstStyle xmlns:a="http://schemas.openxmlformats.org/drawingml/2006/main"/>
          <a:p xmlns:a="http://schemas.openxmlformats.org/drawingml/2006/main">
            <a:pPr>
              <a:defRPr sz="1125">
                <a:solidFill>
                  <a:srgbClr val="17221B"/>
                </a:solidFill>
              </a:defRPr>
            </a:pPr>
          </a:p>
        </c:txPr>
        <c:crossAx val="48650112"/>
        <c:crossBetween val="between"/>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All-tile</c:v>
          </c:tx>
          <c:spPr>
            <a:solidFill xmlns:a="http://schemas.openxmlformats.org/drawingml/2006/main">
              <a:srgbClr val="1F7A55"/>
            </a:solidFill>
          </c:spPr>
          <c:cat>
            <c:strLit>
              <c:ptCount val="4"/>
              <c:pt idx="0">
                <c:v>Dice</c:v>
              </c:pt>
              <c:pt idx="1">
                <c:v>IoU</c:v>
              </c:pt>
              <c:pt idx="2">
                <c:v>Precision</c:v>
              </c:pt>
              <c:pt idx="3">
                <c:v>Recall</c:v>
              </c:pt>
            </c:strLit>
          </c:cat>
          <c:val>
            <c:numLit>
              <c:formatCode>General</c:formatCode>
              <c:ptCount val="4"/>
              <c:pt idx="0">
                <c:v>47.54</c:v>
              </c:pt>
              <c:pt idx="1">
                <c:v>31.19</c:v>
              </c:pt>
              <c:pt idx="2">
                <c:v>49.81</c:v>
              </c:pt>
              <c:pt idx="3">
                <c:v>45.47</c:v>
              </c:pt>
            </c:numLit>
          </c:val>
        </c:ser>
        <c:ser>
          <c:idx val="1"/>
          <c:order val="1"/>
          <c:tx>
            <c:v>Positive-only</c:v>
          </c:tx>
          <c:spPr>
            <a:solidFill xmlns:a="http://schemas.openxmlformats.org/drawingml/2006/main">
              <a:srgbClr val="D98999"/>
            </a:solidFill>
          </c:spPr>
          <c:cat>
            <c:strLit>
              <c:ptCount val="4"/>
              <c:pt idx="0">
                <c:v>Dice</c:v>
              </c:pt>
              <c:pt idx="1">
                <c:v>IoU</c:v>
              </c:pt>
              <c:pt idx="2">
                <c:v>Precision</c:v>
              </c:pt>
              <c:pt idx="3">
                <c:v>Recall</c:v>
              </c:pt>
            </c:strLit>
          </c:cat>
          <c:val>
            <c:numLit>
              <c:formatCode>General</c:formatCode>
              <c:ptCount val="4"/>
              <c:pt idx="0">
                <c:v>42.21</c:v>
              </c:pt>
              <c:pt idx="1">
                <c:v>26.75</c:v>
              </c:pt>
              <c:pt idx="2">
                <c:v>46.88</c:v>
              </c:pt>
              <c:pt idx="3">
                <c:v>38.39</c:v>
              </c:pt>
            </c:numLit>
          </c:val>
        </c:ser>
        <c:dLbls>
          <c:txPr>
            <a:bodyPr xmlns:a="http://schemas.openxmlformats.org/drawingml/2006/main" anchorCtr="1"/>
            <a:lstStyle xmlns:a="http://schemas.openxmlformats.org/drawingml/2006/main"/>
            <a:p xmlns:a="http://schemas.openxmlformats.org/drawingml/2006/main">
              <a:pPr>
                <a:defRPr sz="900" b="1">
                  <a:solidFill>
                    <a:srgbClr val="17221B"/>
                  </a:solidFil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6D0C9"/>
            </a:solidFill>
            <a:prstDash val="solid"/>
          </a:ln>
        </c:spPr>
        <c:txPr>
          <a:bodyPr xmlns:a="http://schemas.openxmlformats.org/drawingml/2006/main" anchorCtr="1"/>
          <a:lstStyle xmlns:a="http://schemas.openxmlformats.org/drawingml/2006/main"/>
          <a:p xmlns:a="http://schemas.openxmlformats.org/drawingml/2006/main">
            <a:pPr>
              <a:defRPr sz="1050">
                <a:solidFill>
                  <a:srgbClr val="17221B"/>
                </a:solidFill>
              </a:defRPr>
            </a:pPr>
          </a:p>
        </c:txPr>
        <c:crossAx val="48672768"/>
      </c:catAx>
      <c:valAx>
        <c:axId val="48672768"/>
        <c:scaling>
          <c:orientation val="minMax"/>
          <c:max val="60"/>
          <c:min val="0"/>
        </c:scaling>
        <c:delete val="0"/>
        <c:axPos val="l"/>
        <c:majorGridlines>
          <c:spPr>
            <a:ln xmlns:a="http://schemas.openxmlformats.org/drawingml/2006/main" w="9525">
              <a:solidFill>
                <a:srgbClr val="C6D0C9"/>
              </a:solidFill>
              <a:prstDash val="solid"/>
            </a:ln>
          </c:spPr>
        </c:majorGridlines>
        <c:title>
          <c:tx>
            <c:rich>
              <a:bodyPr xmlns:a="http://schemas.openxmlformats.org/drawingml/2006/main"/>
              <a:lstStyle xmlns:a="http://schemas.openxmlformats.org/drawingml/2006/main"/>
              <a:p xmlns:a="http://schemas.openxmlformats.org/drawingml/2006/main">
                <a:r>
                  <a:rPr sz="900">
                    <a:solidFill>
                      <a:srgbClr val="5D6B63"/>
                    </a:solidFill>
                  </a:rPr>
                  <a:t>Validation metric (%)</a:t>
                </a:r>
              </a:p>
            </c:rich>
          </c:tx>
          <c:overlay val="0"/>
          <c:txPr>
            <a:bodyPr xmlns:a="http://schemas.openxmlformats.org/drawingml/2006/main" anchorCtr="1"/>
            <a:lstStyle xmlns:a="http://schemas.openxmlformats.org/drawingml/2006/main"/>
            <a:p xmlns:a="http://schemas.openxmlformats.org/drawingml/2006/main">
              <a:pPr>
                <a:defRPr sz="900">
                  <a:solidFill>
                    <a:srgbClr val="5D6B63"/>
                  </a:solidFill>
                </a:defRPr>
              </a:pPr>
            </a:p>
          </c:txPr>
        </c:title>
        <c:numFmt formatCode="General"/>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900">
                <a:solidFill>
                  <a:srgbClr val="5D6B63"/>
                </a:solidFill>
              </a:defRPr>
            </a:pPr>
          </a:p>
        </c:txPr>
        <c:crossAx val="48650112"/>
        <c:crossBetween val="between"/>
        <c:majorUnit val="10"/>
      </c:valAx>
      <c:spPr>
        <a:noFill xmlns:a="http://schemas.openxmlformats.org/drawingml/2006/main"/>
        <a:ln xmlns:a="http://schemas.openxmlformats.org/drawingml/2006/main" w="0">
          <a:solidFill>
            <a:srgbClr val="FFFFFF"/>
          </a:solid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17221B"/>
              </a:solidFill>
            </a:defRPr>
          </a:pPr>
        </a:p>
      </c:txPr>
    </c:legend>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0E2C22"/>
        </a:solidFill>
      </p:bgPr>
    </p:bg>
    <p:spTree>
      <p:nvGrpSpPr>
        <p:cNvPr id="1" name=""/>
        <p:cNvGrpSpPr/>
        <p:nvPr/>
      </p:nvGrpSpPr>
      <p:grpSpPr>
        <a:xfrm xmlns:a="http://schemas.openxmlformats.org/drawingml/2006/main"/>
      </p:grpSpPr>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62dd8ee7f144b58"/>
          <a:srcRect xmlns:a="http://schemas.openxmlformats.org/drawingml/2006/main" l="10069" t="0" r="10069" b="0"/>
          <a:stretch xmlns:a="http://schemas.openxmlformats.org/drawingml/2006/main">
            <a:fillRect l="0" t="0" r="0" b="0"/>
          </a:stretch>
        </p:blipFill>
        <p:spPr>
          <a:xfrm xmlns:a="http://schemas.openxmlformats.org/drawingml/2006/main">
            <a:off x="6715125" y="0"/>
            <a:ext cx="5476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79FA5B6-4F78-4EFD-BF68-575C4E70CA24}"/>
              </a:ext>
            </a:extLst>
          </p:cNvPr>
          <p:cNvSpPr>
            <a:spLocks xmlns:a="http://schemas.openxmlformats.org/drawingml/2006/main" noGrp="1"/>
          </p:cNvSpPr>
          <p:nvPr/>
        </p:nvSpPr>
        <p:spPr>
          <a:xfrm xmlns:a="http://schemas.openxmlformats.org/drawingml/2006/main">
            <a:off x="0" y="0"/>
            <a:ext cx="7000875" cy="6858000"/>
          </a:xfrm>
          <a:prstGeom xmlns:a="http://schemas.openxmlformats.org/drawingml/2006/main" prst="rect">
            <a:avLst/>
          </a:prstGeom>
          <a:solidFill xmlns:a="http://schemas.openxmlformats.org/drawingml/2006/main">
            <a:srgbClr val="0E2C22"/>
          </a:solidFill>
          <a:ln xmlns:a="http://schemas.openxmlformats.org/drawingml/2006/main" w="0">
            <a:solidFill>
              <a:srgbClr val="0E2C22"/>
            </a:solidFill>
            <a:prstDash val="solid"/>
          </a:ln>
        </p:spPr>
      </p:sp>
      <p:sp>
        <p:nvSpPr>
          <p:cNvPr id="3" name="">
            <a:extLst xmlns:a="http://schemas.openxmlformats.org/drawingml/2006/main">
              <a:ext uri="{FF2B5EF4-FFF2-40B4-BE49-F238E27FC236}">
                <a16:creationId xmlns:a16="http://schemas.microsoft.com/office/drawing/2014/main" id="{1B707B82-A25E-4F95-A7EF-6B24DE72A930}"/>
              </a:ext>
            </a:extLst>
          </p:cNvPr>
          <p:cNvSpPr>
            <a:spLocks xmlns:a="http://schemas.openxmlformats.org/drawingml/2006/main" noGrp="1"/>
          </p:cNvSpPr>
          <p:nvPr/>
        </p:nvSpPr>
        <p:spPr>
          <a:xfrm xmlns:a="http://schemas.openxmlformats.org/drawingml/2006/main">
            <a:off x="552450" y="5905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67B58A"/>
                </a:solidFill>
                <a:latin typeface="Arial"/>
                <a:ea typeface="Arial"/>
                <a:cs typeface="Arial"/>
              </a:defRPr>
            </a:pPr>
            <a:r>
              <a:rPr sz="975" b="1">
                <a:solidFill>
                  <a:srgbClr val="67B58A"/>
                </a:solidFill>
                <a:latin typeface="Arial"/>
                <a:ea typeface="Arial"/>
                <a:cs typeface="Arial"/>
              </a:rPr>
              <a:t>SPATIALLY RELIABLE</a:t>
            </a:r>
          </a:p>
        </p:txBody>
      </p:sp>
      <p:sp>
        <p:nvSpPr>
          <p:cNvPr id="4" name="">
            <a:extLst xmlns:a="http://schemas.openxmlformats.org/drawingml/2006/main">
              <a:ext uri="{FF2B5EF4-FFF2-40B4-BE49-F238E27FC236}">
                <a16:creationId xmlns:a16="http://schemas.microsoft.com/office/drawing/2014/main" id="{DF61A2D3-636F-4206-ABC5-E81EFF574F3E}"/>
              </a:ext>
            </a:extLst>
          </p:cNvPr>
          <p:cNvSpPr>
            <a:spLocks xmlns:a="http://schemas.openxmlformats.org/drawingml/2006/main" noGrp="1"/>
          </p:cNvSpPr>
          <p:nvPr/>
        </p:nvSpPr>
        <p:spPr>
          <a:xfrm xmlns:a="http://schemas.openxmlformats.org/drawingml/2006/main">
            <a:off x="552450" y="1257300"/>
            <a:ext cx="5715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4200" b="1">
                <a:solidFill>
                  <a:srgbClr val="FFFFFF"/>
                </a:solidFill>
                <a:latin typeface="Arial"/>
                <a:ea typeface="Arial"/>
                <a:cs typeface="Arial"/>
              </a:defRPr>
            </a:pPr>
            <a:r>
              <a:rPr sz="4200" b="1">
                <a:solidFill>
                  <a:srgbClr val="FFFFFF"/>
                </a:solidFill>
                <a:latin typeface="Arial"/>
                <a:ea typeface="Arial"/>
                <a:cs typeface="Arial"/>
              </a:rPr>
              <a:t>Green-roof</a:t>
            </a:r>
          </a:p>
          <a:p xmlns:a="http://schemas.openxmlformats.org/drawingml/2006/main">
            <a:pPr algn="l">
              <a:buNone/>
              <a:defRPr sz="4200" b="1">
                <a:solidFill>
                  <a:srgbClr val="FFFFFF"/>
                </a:solidFill>
                <a:latin typeface="Arial"/>
                <a:ea typeface="Arial"/>
                <a:cs typeface="Arial"/>
              </a:defRPr>
            </a:pPr>
            <a:r>
              <a:rPr sz="4200" b="1">
                <a:solidFill>
                  <a:srgbClr val="FFFFFF"/>
                </a:solidFill>
                <a:latin typeface="Arial"/>
                <a:ea typeface="Arial"/>
                <a:cs typeface="Arial"/>
              </a:rPr>
              <a:t>segmentation</a:t>
            </a:r>
          </a:p>
        </p:txBody>
      </p:sp>
      <p:sp>
        <p:nvSpPr>
          <p:cNvPr id="5" name="">
            <a:extLst xmlns:a="http://schemas.openxmlformats.org/drawingml/2006/main">
              <a:ext uri="{FF2B5EF4-FFF2-40B4-BE49-F238E27FC236}">
                <a16:creationId xmlns:a16="http://schemas.microsoft.com/office/drawing/2014/main" id="{E6808D84-7E6E-46F2-970C-DCE41CDE6A63}"/>
              </a:ext>
            </a:extLst>
          </p:cNvPr>
          <p:cNvSpPr>
            <a:spLocks xmlns:a="http://schemas.openxmlformats.org/drawingml/2006/main" noGrp="1"/>
          </p:cNvSpPr>
          <p:nvPr/>
        </p:nvSpPr>
        <p:spPr>
          <a:xfrm xmlns:a="http://schemas.openxmlformats.org/drawingml/2006/main">
            <a:off x="552450" y="2990850"/>
            <a:ext cx="5429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0">
                <a:solidFill>
                  <a:srgbClr val="CDE5D6"/>
                </a:solidFill>
                <a:latin typeface="Arial"/>
                <a:ea typeface="Arial"/>
                <a:cs typeface="Arial"/>
              </a:defRPr>
            </a:pPr>
            <a:r>
              <a:rPr sz="1800" b="0">
                <a:solidFill>
                  <a:srgbClr val="CDE5D6"/>
                </a:solidFill>
                <a:latin typeface="Arial"/>
                <a:ea typeface="Arial"/>
                <a:cs typeface="Arial"/>
              </a:rPr>
              <a:t>A GIS-aware U-Net study in Berlin PLZ 12357</a:t>
            </a:r>
          </a:p>
        </p:txBody>
      </p:sp>
      <p:cxnSp>
        <p:nvCxnSpPr>
          <p:cNvPr id="21" name=""/>
          <p:cNvCxnSpPr/>
          <p:nvPr/>
        </p:nvCxnSpPr>
        <p:spPr>
          <a:xfrm xmlns:a="http://schemas.openxmlformats.org/drawingml/2006/main">
            <a:off x="552450" y="4000500"/>
            <a:ext cx="4953000" cy="0"/>
          </a:xfrm>
          <a:prstGeom xmlns:a="http://schemas.openxmlformats.org/drawingml/2006/main" prst="straightConnector1">
            <a:avLst/>
          </a:prstGeom>
          <a:ln xmlns:a="http://schemas.openxmlformats.org/drawingml/2006/main" w="28575">
            <a:solidFill>
              <a:srgbClr val="67B58A"/>
            </a:solidFill>
            <a:prstDash val="solid"/>
          </a:ln>
        </p:spPr>
      </p:cxnSp>
      <p:sp>
        <p:nvSpPr>
          <p:cNvPr id="7" name="">
            <a:extLst xmlns:a="http://schemas.openxmlformats.org/drawingml/2006/main">
              <a:ext uri="{FF2B5EF4-FFF2-40B4-BE49-F238E27FC236}">
                <a16:creationId xmlns:a16="http://schemas.microsoft.com/office/drawing/2014/main" id="{A20A664A-582B-4C1E-9D37-F65E65EAA780}"/>
              </a:ext>
            </a:extLst>
          </p:cNvPr>
          <p:cNvSpPr>
            <a:spLocks xmlns:a="http://schemas.openxmlformats.org/drawingml/2006/main" noGrp="1"/>
          </p:cNvSpPr>
          <p:nvPr/>
        </p:nvSpPr>
        <p:spPr>
          <a:xfrm xmlns:a="http://schemas.openxmlformats.org/drawingml/2006/main">
            <a:off x="552450" y="4286250"/>
            <a:ext cx="533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0">
                <a:solidFill>
                  <a:srgbClr val="C9D6CD"/>
                </a:solidFill>
                <a:latin typeface="Arial"/>
                <a:ea typeface="Arial"/>
                <a:cs typeface="Arial"/>
              </a:defRPr>
            </a:pPr>
            <a:r>
              <a:rPr sz="1275" b="0">
                <a:solidFill>
                  <a:srgbClr val="C9D6CD"/>
                </a:solidFill>
                <a:latin typeface="Arial"/>
                <a:ea typeface="Arial"/>
                <a:cs typeface="Arial"/>
              </a:rPr>
              <a:t>Pitch &amp; first findings · semantic segmentation · 2016 RGB aerial imagery</a:t>
            </a:r>
          </a:p>
        </p:txBody>
      </p:sp>
      <p:sp>
        <p:nvSpPr>
          <p:cNvPr id="8" name="">
            <a:extLst xmlns:a="http://schemas.openxmlformats.org/drawingml/2006/main">
              <a:ext uri="{FF2B5EF4-FFF2-40B4-BE49-F238E27FC236}">
                <a16:creationId xmlns:a16="http://schemas.microsoft.com/office/drawing/2014/main" id="{E23347F8-C9FD-44D2-A061-EFDD70D9567D}"/>
              </a:ext>
            </a:extLst>
          </p:cNvPr>
          <p:cNvSpPr>
            <a:spLocks xmlns:a="http://schemas.openxmlformats.org/drawingml/2006/main" noGrp="1"/>
          </p:cNvSpPr>
          <p:nvPr/>
        </p:nvSpPr>
        <p:spPr>
          <a:xfrm xmlns:a="http://schemas.openxmlformats.org/drawingml/2006/main">
            <a:off x="552450" y="6191250"/>
            <a:ext cx="5334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0">
                <a:solidFill>
                  <a:srgbClr val="95AA9C"/>
                </a:solidFill>
                <a:latin typeface="Arial"/>
                <a:ea typeface="Arial"/>
                <a:cs typeface="Arial"/>
              </a:defRPr>
            </a:pPr>
            <a:r>
              <a:rPr sz="975" b="0">
                <a:solidFill>
                  <a:srgbClr val="95AA9C"/>
                </a:solidFill>
                <a:latin typeface="Arial"/>
                <a:ea typeface="Arial"/>
                <a:cs typeface="Arial"/>
              </a:rPr>
              <a:t>TU Berlin · Computational Engineering Science</a:t>
            </a:r>
          </a:p>
        </p:txBody>
      </p:sp>
    </p:spTree>
    <p:extLst>
      <p:ext uri="{BB962C8B-B14F-4D97-AF65-F5344CB8AC3E}">
        <p14:creationId xmlns:p14="http://schemas.microsoft.com/office/powerpoint/2010/main" val="190699301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3214BFB-431B-452D-8288-34AFA658BEC1}"/>
              </a:ext>
            </a:extLst>
          </p:cNvPr>
          <p:cNvSpPr>
            <a:spLocks xmlns:a="http://schemas.openxmlformats.org/drawingml/2006/main" noGrp="1"/>
          </p:cNvSpPr>
          <p:nvPr/>
        </p:nvSpPr>
        <p:spPr>
          <a:xfrm xmlns:a="http://schemas.openxmlformats.org/drawingml/2006/main">
            <a:off x="647700" y="22860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1F7A55"/>
                </a:solidFill>
                <a:latin typeface="Arial"/>
                <a:ea typeface="Arial"/>
                <a:cs typeface="Arial"/>
              </a:defRPr>
            </a:pPr>
            <a:r>
              <a:rPr sz="900" b="1">
                <a:solidFill>
                  <a:srgbClr val="1F7A55"/>
                </a:solidFill>
                <a:latin typeface="Arial"/>
                <a:ea typeface="Arial"/>
                <a:cs typeface="Arial"/>
              </a:rPr>
              <a:t>GREEN-ROOF MAPPING</a:t>
            </a:r>
          </a:p>
        </p:txBody>
      </p:sp>
      <p:sp>
        <p:nvSpPr>
          <p:cNvPr id="2" name="">
            <a:extLst xmlns:a="http://schemas.openxmlformats.org/drawingml/2006/main">
              <a:ext uri="{FF2B5EF4-FFF2-40B4-BE49-F238E27FC236}">
                <a16:creationId xmlns:a16="http://schemas.microsoft.com/office/drawing/2014/main" id="{81782C9F-F5A2-4D85-81BA-EB980DFEE0DC}"/>
              </a:ext>
            </a:extLst>
          </p:cNvPr>
          <p:cNvSpPr>
            <a:spLocks xmlns:a="http://schemas.openxmlformats.org/drawingml/2006/main" noGrp="1"/>
          </p:cNvSpPr>
          <p:nvPr/>
        </p:nvSpPr>
        <p:spPr>
          <a:xfrm xmlns:a="http://schemas.openxmlformats.org/drawingml/2006/main">
            <a:off x="647700" y="60960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7221B"/>
                </a:solidFill>
                <a:latin typeface="Arial"/>
                <a:ea typeface="Arial"/>
                <a:cs typeface="Arial"/>
              </a:defRPr>
            </a:pPr>
            <a:r>
              <a:rPr sz="2325" b="1">
                <a:solidFill>
                  <a:srgbClr val="17221B"/>
                </a:solidFill>
                <a:latin typeface="Arial"/>
                <a:ea typeface="Arial"/>
                <a:cs typeface="Arial"/>
              </a:rPr>
              <a:t>Green-roof mapping is a rare-object segmentation task</a:t>
            </a:r>
          </a:p>
        </p:txBody>
      </p:sp>
      <p:cxnSp>
        <p:nvCxnSpPr>
          <p:cNvPr id="23" name=""/>
          <p:cNvCxnSpPr/>
          <p:nvPr/>
        </p:nvCxnSpPr>
        <p:spPr>
          <a:xfrm xmlns:a="http://schemas.openxmlformats.org/drawingml/2006/main">
            <a:off x="647700" y="1257300"/>
            <a:ext cx="10839450" cy="0"/>
          </a:xfrm>
          <a:prstGeom xmlns:a="http://schemas.openxmlformats.org/drawingml/2006/main" prst="straightConnector1">
            <a:avLst/>
          </a:prstGeom>
          <a:ln xmlns:a="http://schemas.openxmlformats.org/drawingml/2006/main" w="9525">
            <a:solidFill>
              <a:srgbClr val="C6D0C9"/>
            </a:solidFill>
            <a:prstDash val="solid"/>
          </a:ln>
        </p:spPr>
      </p:cxnSp>
      <p:sp>
        <p:nvSpPr>
          <p:cNvPr id="4" name="">
            <a:extLst xmlns:a="http://schemas.openxmlformats.org/drawingml/2006/main">
              <a:ext uri="{FF2B5EF4-FFF2-40B4-BE49-F238E27FC236}">
                <a16:creationId xmlns:a16="http://schemas.microsoft.com/office/drawing/2014/main" id="{465C7874-D4DD-4E88-9DF2-87A538E177FE}"/>
              </a:ext>
            </a:extLst>
          </p:cNvPr>
          <p:cNvSpPr>
            <a:spLocks xmlns:a="http://schemas.openxmlformats.org/drawingml/2006/main" noGrp="1"/>
          </p:cNvSpPr>
          <p:nvPr/>
        </p:nvSpPr>
        <p:spPr>
          <a:xfrm xmlns:a="http://schemas.openxmlformats.org/drawingml/2006/main">
            <a:off x="11382375" y="64389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a:solidFill>
                  <a:srgbClr val="5D6B63"/>
                </a:solidFill>
                <a:latin typeface="Arial"/>
                <a:ea typeface="Arial"/>
                <a:cs typeface="Arial"/>
              </a:defRPr>
            </a:pPr>
            <a:r>
              <a:rPr sz="900" b="0">
                <a:solidFill>
                  <a:srgbClr val="5D6B63"/>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4B727F75-5C4A-43CD-9A1C-41B8F6B96E1C}"/>
              </a:ext>
            </a:extLst>
          </p:cNvPr>
          <p:cNvSpPr>
            <a:spLocks xmlns:a="http://schemas.openxmlformats.org/drawingml/2006/main" noGrp="1"/>
          </p:cNvSpPr>
          <p:nvPr/>
        </p:nvSpPr>
        <p:spPr>
          <a:xfrm xmlns:a="http://schemas.openxmlformats.org/drawingml/2006/main">
            <a:off x="514350" y="1600200"/>
            <a:ext cx="7239000" cy="4286250"/>
          </a:xfrm>
          <a:prstGeom xmlns:a="http://schemas.openxmlformats.org/drawingml/2006/main" prst="roundRect">
            <a:avLst>
              <a:gd name="adj" fmla="val 2222"/>
            </a:avLst>
          </a:prstGeom>
          <a:solidFill xmlns:a="http://schemas.openxmlformats.org/drawingml/2006/main">
            <a:srgbClr val="F4F7F4"/>
          </a:solidFill>
          <a:ln xmlns:a="http://schemas.openxmlformats.org/drawingml/2006/main" w="9525">
            <a:solidFill>
              <a:srgbClr val="F4F7F4"/>
            </a:solidFill>
            <a:prstDash val="solid"/>
          </a:ln>
        </p:spPr>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84d930f598b443ab"/>
          <a:srcRect xmlns:a="http://schemas.openxmlformats.org/drawingml/2006/main" l="0" t="0" r="0" b="0"/>
          <a:stretch xmlns:a="http://schemas.openxmlformats.org/drawingml/2006/main">
            <a:fillRect l="0" t="0" r="0" b="0"/>
          </a:stretch>
        </p:blipFill>
        <p:spPr>
          <a:xfrm xmlns:a="http://schemas.openxmlformats.org/drawingml/2006/main">
            <a:off x="704850" y="1790700"/>
            <a:ext cx="3905250" cy="3905250"/>
          </a:xfrm>
          <a:prstGeom xmlns:a="http://schemas.openxmlformats.org/drawingml/2006/main" prst="rect">
            <a:avLst/>
          </a:prstGeom>
        </p:spPr>
      </p:pic>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a4b0a8aa10e744d5"/>
          <a:stretch xmlns:a="http://schemas.openxmlformats.org/drawingml/2006/main"/>
        </p:blipFill>
        <p:spPr>
          <a:xfrm xmlns:a="http://schemas.openxmlformats.org/drawingml/2006/main">
            <a:off x="4800600" y="1790700"/>
            <a:ext cx="2762250" cy="2762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30085A20-60FD-46AA-ADCD-6B2EDDFF7A41}"/>
              </a:ext>
            </a:extLst>
          </p:cNvPr>
          <p:cNvSpPr>
            <a:spLocks xmlns:a="http://schemas.openxmlformats.org/drawingml/2006/main" noGrp="1"/>
          </p:cNvSpPr>
          <p:nvPr/>
        </p:nvSpPr>
        <p:spPr>
          <a:xfrm xmlns:a="http://schemas.openxmlformats.org/drawingml/2006/main">
            <a:off x="704850" y="5743575"/>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5D6B63"/>
                </a:solidFill>
                <a:latin typeface="Arial"/>
                <a:ea typeface="Arial"/>
                <a:cs typeface="Arial"/>
              </a:defRPr>
            </a:pPr>
            <a:r>
              <a:rPr sz="900" b="1">
                <a:solidFill>
                  <a:srgbClr val="5D6B63"/>
                </a:solidFill>
                <a:latin typeface="Arial"/>
                <a:ea typeface="Arial"/>
                <a:cs typeface="Arial"/>
              </a:rPr>
              <a:t>RGB tile</a:t>
            </a:r>
          </a:p>
        </p:txBody>
      </p:sp>
      <p:sp>
        <p:nvSpPr>
          <p:cNvPr id="9" name="">
            <a:extLst xmlns:a="http://schemas.openxmlformats.org/drawingml/2006/main">
              <a:ext uri="{FF2B5EF4-FFF2-40B4-BE49-F238E27FC236}">
                <a16:creationId xmlns:a16="http://schemas.microsoft.com/office/drawing/2014/main" id="{7020E273-3223-472E-8B5B-0D7679A97434}"/>
              </a:ext>
            </a:extLst>
          </p:cNvPr>
          <p:cNvSpPr>
            <a:spLocks xmlns:a="http://schemas.openxmlformats.org/drawingml/2006/main" noGrp="1"/>
          </p:cNvSpPr>
          <p:nvPr/>
        </p:nvSpPr>
        <p:spPr>
          <a:xfrm xmlns:a="http://schemas.openxmlformats.org/drawingml/2006/main">
            <a:off x="4800600" y="4695825"/>
            <a:ext cx="1809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5D6B63"/>
                </a:solidFill>
                <a:latin typeface="Arial"/>
                <a:ea typeface="Arial"/>
                <a:cs typeface="Arial"/>
              </a:defRPr>
            </a:pPr>
            <a:r>
              <a:rPr sz="900" b="1">
                <a:solidFill>
                  <a:srgbClr val="5D6B63"/>
                </a:solidFill>
                <a:latin typeface="Arial"/>
                <a:ea typeface="Arial"/>
                <a:cs typeface="Arial"/>
              </a:rPr>
              <a:t>pixel mask</a:t>
            </a:r>
          </a:p>
        </p:txBody>
      </p:sp>
      <p:sp>
        <p:nvSpPr>
          <p:cNvPr id="10" name="">
            <a:extLst xmlns:a="http://schemas.openxmlformats.org/drawingml/2006/main">
              <a:ext uri="{FF2B5EF4-FFF2-40B4-BE49-F238E27FC236}">
                <a16:creationId xmlns:a16="http://schemas.microsoft.com/office/drawing/2014/main" id="{6AC5A3A5-45DF-4E84-9F87-F2B277F93EA0}"/>
              </a:ext>
            </a:extLst>
          </p:cNvPr>
          <p:cNvSpPr>
            <a:spLocks xmlns:a="http://schemas.openxmlformats.org/drawingml/2006/main" noGrp="1"/>
          </p:cNvSpPr>
          <p:nvPr/>
        </p:nvSpPr>
        <p:spPr>
          <a:xfrm xmlns:a="http://schemas.openxmlformats.org/drawingml/2006/main">
            <a:off x="8191500" y="1809750"/>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450" b="1">
                <a:solidFill>
                  <a:srgbClr val="C8605A"/>
                </a:solidFill>
                <a:latin typeface="Arial"/>
                <a:ea typeface="Arial"/>
                <a:cs typeface="Arial"/>
              </a:defRPr>
            </a:pPr>
            <a:r>
              <a:rPr sz="3450" b="1">
                <a:solidFill>
                  <a:srgbClr val="C8605A"/>
                </a:solidFill>
                <a:latin typeface="Arial"/>
                <a:ea typeface="Arial"/>
                <a:cs typeface="Arial"/>
              </a:rPr>
              <a:t>0.60%</a:t>
            </a:r>
          </a:p>
        </p:txBody>
      </p:sp>
      <p:sp>
        <p:nvSpPr>
          <p:cNvPr id="11" name="">
            <a:extLst xmlns:a="http://schemas.openxmlformats.org/drawingml/2006/main">
              <a:ext uri="{FF2B5EF4-FFF2-40B4-BE49-F238E27FC236}">
                <a16:creationId xmlns:a16="http://schemas.microsoft.com/office/drawing/2014/main" id="{D4EF42F2-7568-4720-896F-7713F7C5E310}"/>
              </a:ext>
            </a:extLst>
          </p:cNvPr>
          <p:cNvSpPr>
            <a:spLocks xmlns:a="http://schemas.openxmlformats.org/drawingml/2006/main" noGrp="1"/>
          </p:cNvSpPr>
          <p:nvPr/>
        </p:nvSpPr>
        <p:spPr>
          <a:xfrm xmlns:a="http://schemas.openxmlformats.org/drawingml/2006/main">
            <a:off x="8191500" y="2438400"/>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D6B63"/>
                </a:solidFill>
                <a:latin typeface="Arial"/>
                <a:ea typeface="Arial"/>
                <a:cs typeface="Arial"/>
              </a:defRPr>
            </a:pPr>
            <a:r>
              <a:rPr sz="1200" b="0">
                <a:solidFill>
                  <a:srgbClr val="5D6B63"/>
                </a:solidFill>
                <a:latin typeface="Arial"/>
                <a:ea typeface="Arial"/>
                <a:cs typeface="Arial"/>
              </a:rPr>
              <a:t>of all pixels are green-roof labels</a:t>
            </a:r>
          </a:p>
        </p:txBody>
      </p:sp>
      <p:sp>
        <p:nvSpPr>
          <p:cNvPr id="12" name="">
            <a:extLst xmlns:a="http://schemas.openxmlformats.org/drawingml/2006/main">
              <a:ext uri="{FF2B5EF4-FFF2-40B4-BE49-F238E27FC236}">
                <a16:creationId xmlns:a16="http://schemas.microsoft.com/office/drawing/2014/main" id="{3F1CD787-629C-4DF6-B2CF-CB876ABBFFF6}"/>
              </a:ext>
            </a:extLst>
          </p:cNvPr>
          <p:cNvSpPr>
            <a:spLocks xmlns:a="http://schemas.openxmlformats.org/drawingml/2006/main" noGrp="1"/>
          </p:cNvSpPr>
          <p:nvPr/>
        </p:nvSpPr>
        <p:spPr>
          <a:xfrm xmlns:a="http://schemas.openxmlformats.org/drawingml/2006/main">
            <a:off x="8191500" y="3190875"/>
            <a:ext cx="3143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450" b="1">
                <a:solidFill>
                  <a:srgbClr val="1F7A55"/>
                </a:solidFill>
                <a:latin typeface="Arial"/>
                <a:ea typeface="Arial"/>
                <a:cs typeface="Arial"/>
              </a:defRPr>
            </a:pPr>
            <a:r>
              <a:rPr sz="3450" b="1">
                <a:solidFill>
                  <a:srgbClr val="1F7A55"/>
                </a:solidFill>
                <a:latin typeface="Arial"/>
                <a:ea typeface="Arial"/>
                <a:cs typeface="Arial"/>
              </a:rPr>
              <a:t>11.1%</a:t>
            </a:r>
          </a:p>
        </p:txBody>
      </p:sp>
      <p:sp>
        <p:nvSpPr>
          <p:cNvPr id="13" name="">
            <a:extLst xmlns:a="http://schemas.openxmlformats.org/drawingml/2006/main">
              <a:ext uri="{FF2B5EF4-FFF2-40B4-BE49-F238E27FC236}">
                <a16:creationId xmlns:a16="http://schemas.microsoft.com/office/drawing/2014/main" id="{A379E1C1-5E8B-474C-892A-547BD0CF988A}"/>
              </a:ext>
            </a:extLst>
          </p:cNvPr>
          <p:cNvSpPr>
            <a:spLocks xmlns:a="http://schemas.openxmlformats.org/drawingml/2006/main" noGrp="1"/>
          </p:cNvSpPr>
          <p:nvPr/>
        </p:nvSpPr>
        <p:spPr>
          <a:xfrm xmlns:a="http://schemas.openxmlformats.org/drawingml/2006/main">
            <a:off x="8191500" y="3819525"/>
            <a:ext cx="314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D6B63"/>
                </a:solidFill>
                <a:latin typeface="Arial"/>
                <a:ea typeface="Arial"/>
                <a:cs typeface="Arial"/>
              </a:defRPr>
            </a:pPr>
            <a:r>
              <a:rPr sz="1200" b="0">
                <a:solidFill>
                  <a:srgbClr val="5D6B63"/>
                </a:solidFill>
                <a:latin typeface="Arial"/>
                <a:ea typeface="Arial"/>
                <a:cs typeface="Arial"/>
              </a:rPr>
              <a:t>of tiles contain any positive pixel</a:t>
            </a:r>
          </a:p>
        </p:txBody>
      </p:sp>
      <p:sp>
        <p:nvSpPr>
          <p:cNvPr id="14" name="">
            <a:extLst xmlns:a="http://schemas.openxmlformats.org/drawingml/2006/main">
              <a:ext uri="{FF2B5EF4-FFF2-40B4-BE49-F238E27FC236}">
                <a16:creationId xmlns:a16="http://schemas.microsoft.com/office/drawing/2014/main" id="{7369A942-6B1F-4F1B-A1C2-B5EBDE1B428F}"/>
              </a:ext>
            </a:extLst>
          </p:cNvPr>
          <p:cNvSpPr>
            <a:spLocks xmlns:a="http://schemas.openxmlformats.org/drawingml/2006/main" noGrp="1"/>
          </p:cNvSpPr>
          <p:nvPr/>
        </p:nvSpPr>
        <p:spPr>
          <a:xfrm xmlns:a="http://schemas.openxmlformats.org/drawingml/2006/main">
            <a:off x="8191500" y="4810125"/>
            <a:ext cx="3048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222"/>
          </a:bodyPr>
          <a:lstStyle xmlns:a="http://schemas.openxmlformats.org/drawingml/2006/main"/>
          <a:p xmlns:a="http://schemas.openxmlformats.org/drawingml/2006/main">
            <a:pPr algn="l">
              <a:buNone/>
              <a:defRPr sz="1350" b="1">
                <a:solidFill>
                  <a:srgbClr val="17221B"/>
                </a:solidFill>
                <a:latin typeface="Arial"/>
                <a:ea typeface="Arial"/>
                <a:cs typeface="Arial"/>
              </a:defRPr>
            </a:pPr>
            <a:r>
              <a:rPr sz="1350" b="1">
                <a:solidFill>
                  <a:srgbClr val="17221B"/>
                </a:solidFill>
                <a:latin typeface="Arial"/>
                <a:ea typeface="Arial"/>
                <a:cs typeface="Arial"/>
              </a:rPr>
              <a:t>The model must detect small roof regions while rejecting vegetation, shadows and roof materials elsewhere.</a:t>
            </a:r>
          </a:p>
        </p:txBody>
      </p:sp>
      <p:sp>
        <p:nvSpPr>
          <p:cNvPr id="15" name="">
            <a:extLst xmlns:a="http://schemas.openxmlformats.org/drawingml/2006/main">
              <a:ext uri="{FF2B5EF4-FFF2-40B4-BE49-F238E27FC236}">
                <a16:creationId xmlns:a16="http://schemas.microsoft.com/office/drawing/2014/main" id="{5019DB92-64FF-4AA2-BA26-05214FC1C10A}"/>
              </a:ext>
            </a:extLst>
          </p:cNvPr>
          <p:cNvSpPr>
            <a:spLocks xmlns:a="http://schemas.openxmlformats.org/drawingml/2006/main" noGrp="1"/>
          </p:cNvSpPr>
          <p:nvPr/>
        </p:nvSpPr>
        <p:spPr>
          <a:xfrm xmlns:a="http://schemas.openxmlformats.org/drawingml/2006/main">
            <a:off x="571500" y="6457950"/>
            <a:ext cx="9906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0">
                <a:solidFill>
                  <a:srgbClr val="5D6B63"/>
                </a:solidFill>
                <a:latin typeface="Arial"/>
                <a:ea typeface="Arial"/>
                <a:cs typeface="Arial"/>
              </a:defRPr>
            </a:pPr>
            <a:r>
              <a:rPr sz="750" b="0">
                <a:solidFill>
                  <a:srgbClr val="5D6B63"/>
                </a:solidFill>
                <a:latin typeface="Arial"/>
                <a:ea typeface="Arial"/>
                <a:cs typeface="Arial"/>
              </a:rPr>
              <a:t>Source: processed PLZ 12357 dataset summary</a:t>
            </a:r>
          </a:p>
        </p:txBody>
      </p:sp>
    </p:spTree>
    <p:extLst>
      <p:ext uri="{BB962C8B-B14F-4D97-AF65-F5344CB8AC3E}">
        <p14:creationId xmlns:p14="http://schemas.microsoft.com/office/powerpoint/2010/main" val="120849665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20941010-D24A-4498-B240-A704E3C8B09B}"/>
              </a:ext>
            </a:extLst>
          </p:cNvPr>
          <p:cNvSpPr>
            <a:spLocks xmlns:a="http://schemas.openxmlformats.org/drawingml/2006/main" noGrp="1"/>
          </p:cNvSpPr>
          <p:nvPr/>
        </p:nvSpPr>
        <p:spPr>
          <a:xfrm xmlns:a="http://schemas.openxmlformats.org/drawingml/2006/main">
            <a:off x="647700" y="22860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1F7A55"/>
                </a:solidFill>
                <a:latin typeface="Arial"/>
                <a:ea typeface="Arial"/>
                <a:cs typeface="Arial"/>
              </a:defRPr>
            </a:pPr>
            <a:r>
              <a:rPr sz="900" b="1">
                <a:solidFill>
                  <a:srgbClr val="1F7A55"/>
                </a:solidFill>
                <a:latin typeface="Arial"/>
                <a:ea typeface="Arial"/>
                <a:cs typeface="Arial"/>
              </a:rPr>
              <a:t>GREEN-ROOF MAPPING</a:t>
            </a:r>
          </a:p>
        </p:txBody>
      </p:sp>
      <p:sp>
        <p:nvSpPr>
          <p:cNvPr id="2" name="">
            <a:extLst xmlns:a="http://schemas.openxmlformats.org/drawingml/2006/main">
              <a:ext uri="{FF2B5EF4-FFF2-40B4-BE49-F238E27FC236}">
                <a16:creationId xmlns:a16="http://schemas.microsoft.com/office/drawing/2014/main" id="{82A6103E-542A-45B8-9C26-D41E7B793A7B}"/>
              </a:ext>
            </a:extLst>
          </p:cNvPr>
          <p:cNvSpPr>
            <a:spLocks xmlns:a="http://schemas.openxmlformats.org/drawingml/2006/main" noGrp="1"/>
          </p:cNvSpPr>
          <p:nvPr/>
        </p:nvSpPr>
        <p:spPr>
          <a:xfrm xmlns:a="http://schemas.openxmlformats.org/drawingml/2006/main">
            <a:off x="647700" y="60960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7221B"/>
                </a:solidFill>
                <a:latin typeface="Arial"/>
                <a:ea typeface="Arial"/>
                <a:cs typeface="Arial"/>
              </a:defRPr>
            </a:pPr>
            <a:r>
              <a:rPr sz="2325" b="1">
                <a:solidFill>
                  <a:srgbClr val="17221B"/>
                </a:solidFill>
                <a:latin typeface="Arial"/>
                <a:ea typeface="Arial"/>
                <a:cs typeface="Arial"/>
              </a:rPr>
              <a:t>The main gap is credible evaluation, not a lack of models</a:t>
            </a:r>
          </a:p>
        </p:txBody>
      </p:sp>
      <p:cxnSp>
        <p:nvCxnSpPr>
          <p:cNvPr id="37" name=""/>
          <p:cNvCxnSpPr/>
          <p:nvPr/>
        </p:nvCxnSpPr>
        <p:spPr>
          <a:xfrm xmlns:a="http://schemas.openxmlformats.org/drawingml/2006/main">
            <a:off x="647700" y="1257300"/>
            <a:ext cx="10839450" cy="0"/>
          </a:xfrm>
          <a:prstGeom xmlns:a="http://schemas.openxmlformats.org/drawingml/2006/main" prst="straightConnector1">
            <a:avLst/>
          </a:prstGeom>
          <a:ln xmlns:a="http://schemas.openxmlformats.org/drawingml/2006/main" w="9525">
            <a:solidFill>
              <a:srgbClr val="C6D0C9"/>
            </a:solidFill>
            <a:prstDash val="solid"/>
          </a:ln>
        </p:spPr>
      </p:cxnSp>
      <p:sp>
        <p:nvSpPr>
          <p:cNvPr id="4" name="">
            <a:extLst xmlns:a="http://schemas.openxmlformats.org/drawingml/2006/main">
              <a:ext uri="{FF2B5EF4-FFF2-40B4-BE49-F238E27FC236}">
                <a16:creationId xmlns:a16="http://schemas.microsoft.com/office/drawing/2014/main" id="{67D27282-AC98-4E9F-9DC9-CEFDDD4AAC11}"/>
              </a:ext>
            </a:extLst>
          </p:cNvPr>
          <p:cNvSpPr>
            <a:spLocks xmlns:a="http://schemas.openxmlformats.org/drawingml/2006/main" noGrp="1"/>
          </p:cNvSpPr>
          <p:nvPr/>
        </p:nvSpPr>
        <p:spPr>
          <a:xfrm xmlns:a="http://schemas.openxmlformats.org/drawingml/2006/main">
            <a:off x="11382375" y="64389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a:solidFill>
                  <a:srgbClr val="5D6B63"/>
                </a:solidFill>
                <a:latin typeface="Arial"/>
                <a:ea typeface="Arial"/>
                <a:cs typeface="Arial"/>
              </a:defRPr>
            </a:pPr>
            <a:r>
              <a:rPr sz="900" b="0">
                <a:solidFill>
                  <a:srgbClr val="5D6B63"/>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A7660B49-AB66-4F6A-9C0C-EC2C52F23733}"/>
              </a:ext>
            </a:extLst>
          </p:cNvPr>
          <p:cNvSpPr>
            <a:spLocks xmlns:a="http://schemas.openxmlformats.org/drawingml/2006/main" noGrp="1"/>
          </p:cNvSpPr>
          <p:nvPr/>
        </p:nvSpPr>
        <p:spPr>
          <a:xfrm xmlns:a="http://schemas.openxmlformats.org/drawingml/2006/main">
            <a:off x="666750" y="1638300"/>
            <a:ext cx="76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850" b="1">
                <a:solidFill>
                  <a:srgbClr val="1F7A55"/>
                </a:solidFill>
                <a:latin typeface="Arial"/>
                <a:ea typeface="Arial"/>
                <a:cs typeface="Arial"/>
              </a:defRPr>
            </a:pPr>
            <a:r>
              <a:rPr sz="2850" b="1">
                <a:solidFill>
                  <a:srgbClr val="1F7A55"/>
                </a:solidFill>
                <a:latin typeface="Arial"/>
                <a:ea typeface="Arial"/>
                <a:cs typeface="Arial"/>
              </a:rPr>
              <a:t>01</a:t>
            </a:r>
          </a:p>
        </p:txBody>
      </p:sp>
      <p:cxnSp>
        <p:nvCxnSpPr>
          <p:cNvPr id="40" name=""/>
          <p:cNvCxnSpPr/>
          <p:nvPr/>
        </p:nvCxnSpPr>
        <p:spPr>
          <a:xfrm xmlns:a="http://schemas.openxmlformats.org/drawingml/2006/main">
            <a:off x="666750" y="2171700"/>
            <a:ext cx="2857500" cy="0"/>
          </a:xfrm>
          <a:prstGeom xmlns:a="http://schemas.openxmlformats.org/drawingml/2006/main" prst="straightConnector1">
            <a:avLst/>
          </a:prstGeom>
          <a:ln xmlns:a="http://schemas.openxmlformats.org/drawingml/2006/main" w="19050">
            <a:solidFill>
              <a:srgbClr val="C6D0C9"/>
            </a:solidFill>
            <a:prstDash val="solid"/>
          </a:ln>
        </p:spPr>
      </p:cxnSp>
      <p:sp>
        <p:nvSpPr>
          <p:cNvPr id="7" name="">
            <a:extLst xmlns:a="http://schemas.openxmlformats.org/drawingml/2006/main">
              <a:ext uri="{FF2B5EF4-FFF2-40B4-BE49-F238E27FC236}">
                <a16:creationId xmlns:a16="http://schemas.microsoft.com/office/drawing/2014/main" id="{39BD6243-6EA0-46B5-B44A-AA0DE02C8D8D}"/>
              </a:ext>
            </a:extLst>
          </p:cNvPr>
          <p:cNvSpPr>
            <a:spLocks xmlns:a="http://schemas.openxmlformats.org/drawingml/2006/main" noGrp="1"/>
          </p:cNvSpPr>
          <p:nvPr/>
        </p:nvSpPr>
        <p:spPr>
          <a:xfrm xmlns:a="http://schemas.openxmlformats.org/drawingml/2006/main">
            <a:off x="666750" y="24574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1">
                <a:solidFill>
                  <a:srgbClr val="17221B"/>
                </a:solidFill>
                <a:latin typeface="Arial"/>
                <a:ea typeface="Arial"/>
                <a:cs typeface="Arial"/>
              </a:defRPr>
            </a:pPr>
            <a:r>
              <a:rPr sz="1875" b="1">
                <a:solidFill>
                  <a:srgbClr val="17221B"/>
                </a:solidFill>
                <a:latin typeface="Arial"/>
                <a:ea typeface="Arial"/>
                <a:cs typeface="Arial"/>
              </a:rPr>
              <a:t>Label geometry</a:t>
            </a:r>
          </a:p>
        </p:txBody>
      </p:sp>
      <p:sp>
        <p:nvSpPr>
          <p:cNvPr id="8" name="">
            <a:extLst xmlns:a="http://schemas.openxmlformats.org/drawingml/2006/main">
              <a:ext uri="{FF2B5EF4-FFF2-40B4-BE49-F238E27FC236}">
                <a16:creationId xmlns:a16="http://schemas.microsoft.com/office/drawing/2014/main" id="{3B05D497-3304-42CB-BFD5-A5DEA73C0FC5}"/>
              </a:ext>
            </a:extLst>
          </p:cNvPr>
          <p:cNvSpPr>
            <a:spLocks xmlns:a="http://schemas.openxmlformats.org/drawingml/2006/main" noGrp="1"/>
          </p:cNvSpPr>
          <p:nvPr/>
        </p:nvSpPr>
        <p:spPr>
          <a:xfrm xmlns:a="http://schemas.openxmlformats.org/drawingml/2006/main">
            <a:off x="666750" y="3067050"/>
            <a:ext cx="2857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5D6B63"/>
                </a:solidFill>
                <a:latin typeface="Arial"/>
                <a:ea typeface="Arial"/>
                <a:cs typeface="Arial"/>
              </a:defRPr>
            </a:pPr>
            <a:r>
              <a:rPr sz="1350" b="0">
                <a:solidFill>
                  <a:srgbClr val="5D6B63"/>
                </a:solidFill>
                <a:latin typeface="Arial"/>
                <a:ea typeface="Arial"/>
                <a:cs typeface="Arial"/>
              </a:rPr>
              <a:t>Vector polygons must align exactly with 256 × 256 image pixels.</a:t>
            </a:r>
          </a:p>
        </p:txBody>
      </p:sp>
      <p:sp>
        <p:nvSpPr>
          <p:cNvPr id="9" name="">
            <a:extLst xmlns:a="http://schemas.openxmlformats.org/drawingml/2006/main">
              <a:ext uri="{FF2B5EF4-FFF2-40B4-BE49-F238E27FC236}">
                <a16:creationId xmlns:a16="http://schemas.microsoft.com/office/drawing/2014/main" id="{E2819946-1F6F-4B81-A7CF-71D8995708C3}"/>
              </a:ext>
            </a:extLst>
          </p:cNvPr>
          <p:cNvSpPr>
            <a:spLocks xmlns:a="http://schemas.openxmlformats.org/drawingml/2006/main" noGrp="1"/>
          </p:cNvSpPr>
          <p:nvPr/>
        </p:nvSpPr>
        <p:spPr>
          <a:xfrm xmlns:a="http://schemas.openxmlformats.org/drawingml/2006/main">
            <a:off x="4248150" y="1638300"/>
            <a:ext cx="76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850" b="1">
                <a:solidFill>
                  <a:srgbClr val="188F91"/>
                </a:solidFill>
                <a:latin typeface="Arial"/>
                <a:ea typeface="Arial"/>
                <a:cs typeface="Arial"/>
              </a:defRPr>
            </a:pPr>
            <a:r>
              <a:rPr sz="2850" b="1">
                <a:solidFill>
                  <a:srgbClr val="188F91"/>
                </a:solidFill>
                <a:latin typeface="Arial"/>
                <a:ea typeface="Arial"/>
                <a:cs typeface="Arial"/>
              </a:rPr>
              <a:t>02</a:t>
            </a:r>
          </a:p>
        </p:txBody>
      </p:sp>
      <p:cxnSp>
        <p:nvCxnSpPr>
          <p:cNvPr id="44" name=""/>
          <p:cNvCxnSpPr/>
          <p:nvPr/>
        </p:nvCxnSpPr>
        <p:spPr>
          <a:xfrm xmlns:a="http://schemas.openxmlformats.org/drawingml/2006/main">
            <a:off x="4248150" y="2171700"/>
            <a:ext cx="2857500" cy="0"/>
          </a:xfrm>
          <a:prstGeom xmlns:a="http://schemas.openxmlformats.org/drawingml/2006/main" prst="straightConnector1">
            <a:avLst/>
          </a:prstGeom>
          <a:ln xmlns:a="http://schemas.openxmlformats.org/drawingml/2006/main" w="19050">
            <a:solidFill>
              <a:srgbClr val="C6D0C9"/>
            </a:solidFill>
            <a:prstDash val="solid"/>
          </a:ln>
        </p:spPr>
      </p:cxnSp>
      <p:sp>
        <p:nvSpPr>
          <p:cNvPr id="11" name="">
            <a:extLst xmlns:a="http://schemas.openxmlformats.org/drawingml/2006/main">
              <a:ext uri="{FF2B5EF4-FFF2-40B4-BE49-F238E27FC236}">
                <a16:creationId xmlns:a16="http://schemas.microsoft.com/office/drawing/2014/main" id="{BA6623A7-DF50-4341-9B36-5A58D3925396}"/>
              </a:ext>
            </a:extLst>
          </p:cNvPr>
          <p:cNvSpPr>
            <a:spLocks xmlns:a="http://schemas.openxmlformats.org/drawingml/2006/main" noGrp="1"/>
          </p:cNvSpPr>
          <p:nvPr/>
        </p:nvSpPr>
        <p:spPr>
          <a:xfrm xmlns:a="http://schemas.openxmlformats.org/drawingml/2006/main">
            <a:off x="4248150" y="24574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1">
                <a:solidFill>
                  <a:srgbClr val="17221B"/>
                </a:solidFill>
                <a:latin typeface="Arial"/>
                <a:ea typeface="Arial"/>
                <a:cs typeface="Arial"/>
              </a:defRPr>
            </a:pPr>
            <a:r>
              <a:rPr sz="1875" b="1">
                <a:solidFill>
                  <a:srgbClr val="17221B"/>
                </a:solidFill>
                <a:latin typeface="Arial"/>
                <a:ea typeface="Arial"/>
                <a:cs typeface="Arial"/>
              </a:rPr>
              <a:t>Spatial dependence</a:t>
            </a:r>
          </a:p>
        </p:txBody>
      </p:sp>
      <p:sp>
        <p:nvSpPr>
          <p:cNvPr id="12" name="">
            <a:extLst xmlns:a="http://schemas.openxmlformats.org/drawingml/2006/main">
              <a:ext uri="{FF2B5EF4-FFF2-40B4-BE49-F238E27FC236}">
                <a16:creationId xmlns:a16="http://schemas.microsoft.com/office/drawing/2014/main" id="{4EF441C4-BED6-41D7-BE66-338495841A07}"/>
              </a:ext>
            </a:extLst>
          </p:cNvPr>
          <p:cNvSpPr>
            <a:spLocks xmlns:a="http://schemas.openxmlformats.org/drawingml/2006/main" noGrp="1"/>
          </p:cNvSpPr>
          <p:nvPr/>
        </p:nvSpPr>
        <p:spPr>
          <a:xfrm xmlns:a="http://schemas.openxmlformats.org/drawingml/2006/main">
            <a:off x="4248150" y="3067050"/>
            <a:ext cx="2857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5D6B63"/>
                </a:solidFill>
                <a:latin typeface="Arial"/>
                <a:ea typeface="Arial"/>
                <a:cs typeface="Arial"/>
              </a:defRPr>
            </a:pPr>
            <a:r>
              <a:rPr sz="1350" b="0">
                <a:solidFill>
                  <a:srgbClr val="5D6B63"/>
                </a:solidFill>
                <a:latin typeface="Arial"/>
                <a:ea typeface="Arial"/>
                <a:cs typeface="Arial"/>
              </a:rPr>
              <a:t>Neighbouring tiles are visually similar; random splitting can overstate generalization.</a:t>
            </a:r>
          </a:p>
        </p:txBody>
      </p:sp>
      <p:sp>
        <p:nvSpPr>
          <p:cNvPr id="13" name="">
            <a:extLst xmlns:a="http://schemas.openxmlformats.org/drawingml/2006/main">
              <a:ext uri="{FF2B5EF4-FFF2-40B4-BE49-F238E27FC236}">
                <a16:creationId xmlns:a16="http://schemas.microsoft.com/office/drawing/2014/main" id="{C8E8B139-E560-4B15-B95F-1B33FD2DBFEA}"/>
              </a:ext>
            </a:extLst>
          </p:cNvPr>
          <p:cNvSpPr>
            <a:spLocks xmlns:a="http://schemas.openxmlformats.org/drawingml/2006/main" noGrp="1"/>
          </p:cNvSpPr>
          <p:nvPr/>
        </p:nvSpPr>
        <p:spPr>
          <a:xfrm xmlns:a="http://schemas.openxmlformats.org/drawingml/2006/main">
            <a:off x="7829550" y="1638300"/>
            <a:ext cx="76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850" b="1">
                <a:solidFill>
                  <a:srgbClr val="C8605A"/>
                </a:solidFill>
                <a:latin typeface="Arial"/>
                <a:ea typeface="Arial"/>
                <a:cs typeface="Arial"/>
              </a:defRPr>
            </a:pPr>
            <a:r>
              <a:rPr sz="2850" b="1">
                <a:solidFill>
                  <a:srgbClr val="C8605A"/>
                </a:solidFill>
                <a:latin typeface="Arial"/>
                <a:ea typeface="Arial"/>
                <a:cs typeface="Arial"/>
              </a:rPr>
              <a:t>03</a:t>
            </a:r>
          </a:p>
        </p:txBody>
      </p:sp>
      <p:cxnSp>
        <p:nvCxnSpPr>
          <p:cNvPr id="48" name=""/>
          <p:cNvCxnSpPr/>
          <p:nvPr/>
        </p:nvCxnSpPr>
        <p:spPr>
          <a:xfrm xmlns:a="http://schemas.openxmlformats.org/drawingml/2006/main">
            <a:off x="7829550" y="2171700"/>
            <a:ext cx="2857500" cy="0"/>
          </a:xfrm>
          <a:prstGeom xmlns:a="http://schemas.openxmlformats.org/drawingml/2006/main" prst="straightConnector1">
            <a:avLst/>
          </a:prstGeom>
          <a:ln xmlns:a="http://schemas.openxmlformats.org/drawingml/2006/main" w="19050">
            <a:solidFill>
              <a:srgbClr val="C6D0C9"/>
            </a:solidFill>
            <a:prstDash val="solid"/>
          </a:ln>
        </p:spPr>
      </p:cxnSp>
      <p:sp>
        <p:nvSpPr>
          <p:cNvPr id="15" name="">
            <a:extLst xmlns:a="http://schemas.openxmlformats.org/drawingml/2006/main">
              <a:ext uri="{FF2B5EF4-FFF2-40B4-BE49-F238E27FC236}">
                <a16:creationId xmlns:a16="http://schemas.microsoft.com/office/drawing/2014/main" id="{BE2A3E6C-25BA-4DDB-AEC1-13068CB0A9DC}"/>
              </a:ext>
            </a:extLst>
          </p:cNvPr>
          <p:cNvSpPr>
            <a:spLocks xmlns:a="http://schemas.openxmlformats.org/drawingml/2006/main" noGrp="1"/>
          </p:cNvSpPr>
          <p:nvPr/>
        </p:nvSpPr>
        <p:spPr>
          <a:xfrm xmlns:a="http://schemas.openxmlformats.org/drawingml/2006/main">
            <a:off x="7829550" y="2457450"/>
            <a:ext cx="285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75" b="1">
                <a:solidFill>
                  <a:srgbClr val="17221B"/>
                </a:solidFill>
                <a:latin typeface="Arial"/>
                <a:ea typeface="Arial"/>
                <a:cs typeface="Arial"/>
              </a:defRPr>
            </a:pPr>
            <a:r>
              <a:rPr sz="1875" b="1">
                <a:solidFill>
                  <a:srgbClr val="17221B"/>
                </a:solidFill>
                <a:latin typeface="Arial"/>
                <a:ea typeface="Arial"/>
                <a:cs typeface="Arial"/>
              </a:rPr>
              <a:t>Negative scenes</a:t>
            </a:r>
          </a:p>
        </p:txBody>
      </p:sp>
      <p:sp>
        <p:nvSpPr>
          <p:cNvPr id="16" name="">
            <a:extLst xmlns:a="http://schemas.openxmlformats.org/drawingml/2006/main">
              <a:ext uri="{FF2B5EF4-FFF2-40B4-BE49-F238E27FC236}">
                <a16:creationId xmlns:a16="http://schemas.microsoft.com/office/drawing/2014/main" id="{F83D8AD7-0A86-4533-9C13-D4A1EACE5A3C}"/>
              </a:ext>
            </a:extLst>
          </p:cNvPr>
          <p:cNvSpPr>
            <a:spLocks xmlns:a="http://schemas.openxmlformats.org/drawingml/2006/main" noGrp="1"/>
          </p:cNvSpPr>
          <p:nvPr/>
        </p:nvSpPr>
        <p:spPr>
          <a:xfrm xmlns:a="http://schemas.openxmlformats.org/drawingml/2006/main">
            <a:off x="7829550" y="3067050"/>
            <a:ext cx="28575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5D6B63"/>
                </a:solidFill>
                <a:latin typeface="Arial"/>
                <a:ea typeface="Arial"/>
                <a:cs typeface="Arial"/>
              </a:defRPr>
            </a:pPr>
            <a:r>
              <a:rPr sz="1350" b="0">
                <a:solidFill>
                  <a:srgbClr val="5D6B63"/>
                </a:solidFill>
                <a:latin typeface="Arial"/>
                <a:ea typeface="Arial"/>
                <a:cs typeface="Arial"/>
              </a:rPr>
              <a:t>A city-wide mapper sees mostly absence, so false positives dominate usability.</a:t>
            </a:r>
          </a:p>
        </p:txBody>
      </p:sp>
      <p:sp>
        <p:nvSpPr>
          <p:cNvPr id="17" name="">
            <a:extLst xmlns:a="http://schemas.openxmlformats.org/drawingml/2006/main">
              <a:ext uri="{FF2B5EF4-FFF2-40B4-BE49-F238E27FC236}">
                <a16:creationId xmlns:a16="http://schemas.microsoft.com/office/drawing/2014/main" id="{E6C9DC11-E787-42D5-808C-366E1088E0C0}"/>
              </a:ext>
            </a:extLst>
          </p:cNvPr>
          <p:cNvSpPr>
            <a:spLocks xmlns:a="http://schemas.openxmlformats.org/drawingml/2006/main" noGrp="1"/>
          </p:cNvSpPr>
          <p:nvPr/>
        </p:nvSpPr>
        <p:spPr>
          <a:xfrm xmlns:a="http://schemas.openxmlformats.org/drawingml/2006/main">
            <a:off x="666750" y="4953000"/>
            <a:ext cx="10020300" cy="714375"/>
          </a:xfrm>
          <a:prstGeom xmlns:a="http://schemas.openxmlformats.org/drawingml/2006/main" prst="roundRect">
            <a:avLst>
              <a:gd name="adj" fmla="val 10667"/>
            </a:avLst>
          </a:prstGeom>
          <a:solidFill xmlns:a="http://schemas.openxmlformats.org/drawingml/2006/main">
            <a:srgbClr val="EDF5F0"/>
          </a:solidFill>
          <a:ln xmlns:a="http://schemas.openxmlformats.org/drawingml/2006/main" w="9525">
            <a:solidFill>
              <a:srgbClr val="EDF5F0"/>
            </a:solidFill>
            <a:prstDash val="solid"/>
          </a:ln>
        </p:spPr>
      </p:sp>
      <p:sp>
        <p:nvSpPr>
          <p:cNvPr id="18" name="">
            <a:extLst xmlns:a="http://schemas.openxmlformats.org/drawingml/2006/main">
              <a:ext uri="{FF2B5EF4-FFF2-40B4-BE49-F238E27FC236}">
                <a16:creationId xmlns:a16="http://schemas.microsoft.com/office/drawing/2014/main" id="{DBECC340-1B42-4904-AF64-75FC4B935C4B}"/>
              </a:ext>
            </a:extLst>
          </p:cNvPr>
          <p:cNvSpPr>
            <a:spLocks xmlns:a="http://schemas.openxmlformats.org/drawingml/2006/main" noGrp="1"/>
          </p:cNvSpPr>
          <p:nvPr/>
        </p:nvSpPr>
        <p:spPr>
          <a:xfrm xmlns:a="http://schemas.openxmlformats.org/drawingml/2006/main">
            <a:off x="876300" y="5153025"/>
            <a:ext cx="1428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1F7A55"/>
                </a:solidFill>
                <a:latin typeface="Arial"/>
                <a:ea typeface="Arial"/>
                <a:cs typeface="Arial"/>
              </a:defRPr>
            </a:pPr>
            <a:r>
              <a:rPr sz="1050" b="1">
                <a:solidFill>
                  <a:srgbClr val="1F7A55"/>
                </a:solidFill>
                <a:latin typeface="Arial"/>
                <a:ea typeface="Arial"/>
                <a:cs typeface="Arial"/>
              </a:rPr>
              <a:t>Research gap</a:t>
            </a:r>
          </a:p>
        </p:txBody>
      </p:sp>
      <p:sp>
        <p:nvSpPr>
          <p:cNvPr id="19" name="">
            <a:extLst xmlns:a="http://schemas.openxmlformats.org/drawingml/2006/main">
              <a:ext uri="{FF2B5EF4-FFF2-40B4-BE49-F238E27FC236}">
                <a16:creationId xmlns:a16="http://schemas.microsoft.com/office/drawing/2014/main" id="{223ECFD7-7BC9-48F1-8E74-9344147357A7}"/>
              </a:ext>
            </a:extLst>
          </p:cNvPr>
          <p:cNvSpPr>
            <a:spLocks xmlns:a="http://schemas.openxmlformats.org/drawingml/2006/main" noGrp="1"/>
          </p:cNvSpPr>
          <p:nvPr/>
        </p:nvSpPr>
        <p:spPr>
          <a:xfrm xmlns:a="http://schemas.openxmlformats.org/drawingml/2006/main">
            <a:off x="2381250" y="5105400"/>
            <a:ext cx="7953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210"/>
          </a:bodyPr>
          <a:lstStyle xmlns:a="http://schemas.openxmlformats.org/drawingml/2006/main"/>
          <a:p xmlns:a="http://schemas.openxmlformats.org/drawingml/2006/main">
            <a:pPr algn="l">
              <a:buNone/>
              <a:defRPr sz="1800" b="1">
                <a:solidFill>
                  <a:srgbClr val="17221B"/>
                </a:solidFill>
                <a:latin typeface="Arial"/>
                <a:ea typeface="Arial"/>
                <a:cs typeface="Arial"/>
              </a:defRPr>
            </a:pPr>
            <a:r>
              <a:rPr sz="1800" b="1">
                <a:solidFill>
                  <a:srgbClr val="17221B"/>
                </a:solidFill>
                <a:latin typeface="Arial"/>
                <a:ea typeface="Arial"/>
                <a:cs typeface="Arial"/>
              </a:rPr>
              <a:t>A useful model must be GIS-aligned, spatially evaluated and trained to recognize absence.</a:t>
            </a:r>
          </a:p>
        </p:txBody>
      </p:sp>
      <p:sp>
        <p:nvSpPr>
          <p:cNvPr id="20" name="">
            <a:extLst xmlns:a="http://schemas.openxmlformats.org/drawingml/2006/main">
              <a:ext uri="{FF2B5EF4-FFF2-40B4-BE49-F238E27FC236}">
                <a16:creationId xmlns:a16="http://schemas.microsoft.com/office/drawing/2014/main" id="{2503F859-BAD8-4BBE-B98B-3284DC494CD8}"/>
              </a:ext>
            </a:extLst>
          </p:cNvPr>
          <p:cNvSpPr>
            <a:spLocks xmlns:a="http://schemas.openxmlformats.org/drawingml/2006/main" noGrp="1"/>
          </p:cNvSpPr>
          <p:nvPr/>
        </p:nvSpPr>
        <p:spPr>
          <a:xfrm xmlns:a="http://schemas.openxmlformats.org/drawingml/2006/main">
            <a:off x="571500" y="6457950"/>
            <a:ext cx="9906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0">
                <a:solidFill>
                  <a:srgbClr val="5D6B63"/>
                </a:solidFill>
                <a:latin typeface="Arial"/>
                <a:ea typeface="Arial"/>
                <a:cs typeface="Arial"/>
              </a:defRPr>
            </a:pPr>
            <a:r>
              <a:rPr sz="750" b="0">
                <a:solidFill>
                  <a:srgbClr val="5D6B63"/>
                </a:solidFill>
                <a:latin typeface="Arial"/>
                <a:ea typeface="Arial"/>
                <a:cs typeface="Arial"/>
              </a:rPr>
              <a:t>Literature context: spatial blocking and semantic-segmentation baselines</a:t>
            </a:r>
          </a:p>
        </p:txBody>
      </p:sp>
    </p:spTree>
    <p:extLst>
      <p:ext uri="{BB962C8B-B14F-4D97-AF65-F5344CB8AC3E}">
        <p14:creationId xmlns:p14="http://schemas.microsoft.com/office/powerpoint/2010/main" val="11538480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85FB413-445C-416B-A29F-CD8D316A50E2}"/>
              </a:ext>
            </a:extLst>
          </p:cNvPr>
          <p:cNvSpPr>
            <a:spLocks xmlns:a="http://schemas.openxmlformats.org/drawingml/2006/main" noGrp="1"/>
          </p:cNvSpPr>
          <p:nvPr/>
        </p:nvSpPr>
        <p:spPr>
          <a:xfrm xmlns:a="http://schemas.openxmlformats.org/drawingml/2006/main">
            <a:off x="647700" y="22860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1F7A55"/>
                </a:solidFill>
                <a:latin typeface="Arial"/>
                <a:ea typeface="Arial"/>
                <a:cs typeface="Arial"/>
              </a:defRPr>
            </a:pPr>
            <a:r>
              <a:rPr sz="900" b="1">
                <a:solidFill>
                  <a:srgbClr val="1F7A55"/>
                </a:solidFill>
                <a:latin typeface="Arial"/>
                <a:ea typeface="Arial"/>
                <a:cs typeface="Arial"/>
              </a:rPr>
              <a:t>GREEN-ROOF MAPPING</a:t>
            </a:r>
          </a:p>
        </p:txBody>
      </p:sp>
      <p:sp>
        <p:nvSpPr>
          <p:cNvPr id="2" name="">
            <a:extLst xmlns:a="http://schemas.openxmlformats.org/drawingml/2006/main">
              <a:ext uri="{FF2B5EF4-FFF2-40B4-BE49-F238E27FC236}">
                <a16:creationId xmlns:a16="http://schemas.microsoft.com/office/drawing/2014/main" id="{A16F5B81-C44D-442A-ADAF-A502D7062533}"/>
              </a:ext>
            </a:extLst>
          </p:cNvPr>
          <p:cNvSpPr>
            <a:spLocks xmlns:a="http://schemas.openxmlformats.org/drawingml/2006/main" noGrp="1"/>
          </p:cNvSpPr>
          <p:nvPr/>
        </p:nvSpPr>
        <p:spPr>
          <a:xfrm xmlns:a="http://schemas.openxmlformats.org/drawingml/2006/main">
            <a:off x="647700" y="60960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7221B"/>
                </a:solidFill>
                <a:latin typeface="Arial"/>
                <a:ea typeface="Arial"/>
                <a:cs typeface="Arial"/>
              </a:defRPr>
            </a:pPr>
            <a:r>
              <a:rPr sz="2325" b="1">
                <a:solidFill>
                  <a:srgbClr val="17221B"/>
                </a:solidFill>
                <a:latin typeface="Arial"/>
                <a:ea typeface="Arial"/>
                <a:cs typeface="Arial"/>
              </a:rPr>
              <a:t>We test whether negative scenes are necessary</a:t>
            </a:r>
          </a:p>
        </p:txBody>
      </p:sp>
      <p:cxnSp>
        <p:nvCxnSpPr>
          <p:cNvPr id="34" name=""/>
          <p:cNvCxnSpPr/>
          <p:nvPr/>
        </p:nvCxnSpPr>
        <p:spPr>
          <a:xfrm xmlns:a="http://schemas.openxmlformats.org/drawingml/2006/main">
            <a:off x="647700" y="1257300"/>
            <a:ext cx="10839450" cy="0"/>
          </a:xfrm>
          <a:prstGeom xmlns:a="http://schemas.openxmlformats.org/drawingml/2006/main" prst="straightConnector1">
            <a:avLst/>
          </a:prstGeom>
          <a:ln xmlns:a="http://schemas.openxmlformats.org/drawingml/2006/main" w="9525">
            <a:solidFill>
              <a:srgbClr val="C6D0C9"/>
            </a:solidFill>
            <a:prstDash val="solid"/>
          </a:ln>
        </p:spPr>
      </p:cxnSp>
      <p:sp>
        <p:nvSpPr>
          <p:cNvPr id="4" name="">
            <a:extLst xmlns:a="http://schemas.openxmlformats.org/drawingml/2006/main">
              <a:ext uri="{FF2B5EF4-FFF2-40B4-BE49-F238E27FC236}">
                <a16:creationId xmlns:a16="http://schemas.microsoft.com/office/drawing/2014/main" id="{2136952A-3EAB-435B-BF00-03A2564E2F79}"/>
              </a:ext>
            </a:extLst>
          </p:cNvPr>
          <p:cNvSpPr>
            <a:spLocks xmlns:a="http://schemas.openxmlformats.org/drawingml/2006/main" noGrp="1"/>
          </p:cNvSpPr>
          <p:nvPr/>
        </p:nvSpPr>
        <p:spPr>
          <a:xfrm xmlns:a="http://schemas.openxmlformats.org/drawingml/2006/main">
            <a:off x="11382375" y="64389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a:solidFill>
                  <a:srgbClr val="5D6B63"/>
                </a:solidFill>
                <a:latin typeface="Arial"/>
                <a:ea typeface="Arial"/>
                <a:cs typeface="Arial"/>
              </a:defRPr>
            </a:pPr>
            <a:r>
              <a:rPr sz="900" b="0">
                <a:solidFill>
                  <a:srgbClr val="5D6B63"/>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B614426B-DBF2-41AC-A7C5-8AA0F6130481}"/>
              </a:ext>
            </a:extLst>
          </p:cNvPr>
          <p:cNvSpPr>
            <a:spLocks xmlns:a="http://schemas.openxmlformats.org/drawingml/2006/main" noGrp="1"/>
          </p:cNvSpPr>
          <p:nvPr/>
        </p:nvSpPr>
        <p:spPr>
          <a:xfrm xmlns:a="http://schemas.openxmlformats.org/drawingml/2006/main">
            <a:off x="609600" y="1666875"/>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1F7A55"/>
                </a:solidFill>
                <a:latin typeface="Arial"/>
                <a:ea typeface="Arial"/>
                <a:cs typeface="Arial"/>
              </a:defRPr>
            </a:pPr>
            <a:r>
              <a:rPr sz="1350" b="1">
                <a:solidFill>
                  <a:srgbClr val="1F7A55"/>
                </a:solidFill>
                <a:latin typeface="Arial"/>
                <a:ea typeface="Arial"/>
                <a:cs typeface="Arial"/>
              </a:rPr>
              <a:t>RQ1</a:t>
            </a:r>
          </a:p>
        </p:txBody>
      </p:sp>
      <p:sp>
        <p:nvSpPr>
          <p:cNvPr id="6" name="">
            <a:extLst xmlns:a="http://schemas.openxmlformats.org/drawingml/2006/main">
              <a:ext uri="{FF2B5EF4-FFF2-40B4-BE49-F238E27FC236}">
                <a16:creationId xmlns:a16="http://schemas.microsoft.com/office/drawing/2014/main" id="{F02525B7-2B04-4F02-89FE-33B9BDEBE792}"/>
              </a:ext>
            </a:extLst>
          </p:cNvPr>
          <p:cNvSpPr>
            <a:spLocks xmlns:a="http://schemas.openxmlformats.org/drawingml/2006/main" noGrp="1"/>
          </p:cNvSpPr>
          <p:nvPr/>
        </p:nvSpPr>
        <p:spPr>
          <a:xfrm xmlns:a="http://schemas.openxmlformats.org/drawingml/2006/main">
            <a:off x="1666875" y="1600200"/>
            <a:ext cx="92392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100" b="1">
                <a:solidFill>
                  <a:srgbClr val="17221B"/>
                </a:solidFill>
                <a:latin typeface="Arial"/>
                <a:ea typeface="Arial"/>
                <a:cs typeface="Arial"/>
              </a:defRPr>
            </a:pPr>
            <a:r>
              <a:rPr sz="2100" b="1">
                <a:solidFill>
                  <a:srgbClr val="17221B"/>
                </a:solidFill>
                <a:latin typeface="Arial"/>
                <a:ea typeface="Arial"/>
                <a:cs typeface="Arial"/>
              </a:rPr>
              <a:t>How effectively can a ResNet50 U-Net segment green roofs under spatially grouped evaluation?</a:t>
            </a:r>
          </a:p>
        </p:txBody>
      </p:sp>
      <p:cxnSp>
        <p:nvCxnSpPr>
          <p:cNvPr id="38" name=""/>
          <p:cNvCxnSpPr/>
          <p:nvPr/>
        </p:nvCxnSpPr>
        <p:spPr>
          <a:xfrm xmlns:a="http://schemas.openxmlformats.org/drawingml/2006/main">
            <a:off x="609600" y="2609850"/>
            <a:ext cx="10287000" cy="0"/>
          </a:xfrm>
          <a:prstGeom xmlns:a="http://schemas.openxmlformats.org/drawingml/2006/main" prst="straightConnector1">
            <a:avLst/>
          </a:prstGeom>
          <a:ln xmlns:a="http://schemas.openxmlformats.org/drawingml/2006/main" w="9525">
            <a:solidFill>
              <a:srgbClr val="C6D0C9"/>
            </a:solidFill>
            <a:prstDash val="solid"/>
          </a:ln>
        </p:spPr>
      </p:cxnSp>
      <p:sp>
        <p:nvSpPr>
          <p:cNvPr id="8" name="">
            <a:extLst xmlns:a="http://schemas.openxmlformats.org/drawingml/2006/main">
              <a:ext uri="{FF2B5EF4-FFF2-40B4-BE49-F238E27FC236}">
                <a16:creationId xmlns:a16="http://schemas.microsoft.com/office/drawing/2014/main" id="{24532B0D-8802-4207-9BC3-A3311F2C2A94}"/>
              </a:ext>
            </a:extLst>
          </p:cNvPr>
          <p:cNvSpPr>
            <a:spLocks xmlns:a="http://schemas.openxmlformats.org/drawingml/2006/main" noGrp="1"/>
          </p:cNvSpPr>
          <p:nvPr/>
        </p:nvSpPr>
        <p:spPr>
          <a:xfrm xmlns:a="http://schemas.openxmlformats.org/drawingml/2006/main">
            <a:off x="609600" y="3009900"/>
            <a:ext cx="1047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C8605A"/>
                </a:solidFill>
                <a:latin typeface="Arial"/>
                <a:ea typeface="Arial"/>
                <a:cs typeface="Arial"/>
              </a:defRPr>
            </a:pPr>
            <a:r>
              <a:rPr sz="1350" b="1">
                <a:solidFill>
                  <a:srgbClr val="C8605A"/>
                </a:solidFill>
                <a:latin typeface="Arial"/>
                <a:ea typeface="Arial"/>
                <a:cs typeface="Arial"/>
              </a:rPr>
              <a:t>RQ2</a:t>
            </a:r>
          </a:p>
        </p:txBody>
      </p:sp>
      <p:sp>
        <p:nvSpPr>
          <p:cNvPr id="9" name="">
            <a:extLst xmlns:a="http://schemas.openxmlformats.org/drawingml/2006/main">
              <a:ext uri="{FF2B5EF4-FFF2-40B4-BE49-F238E27FC236}">
                <a16:creationId xmlns:a16="http://schemas.microsoft.com/office/drawing/2014/main" id="{D5624AF3-A114-4E7D-AADC-1086C2266834}"/>
              </a:ext>
            </a:extLst>
          </p:cNvPr>
          <p:cNvSpPr>
            <a:spLocks xmlns:a="http://schemas.openxmlformats.org/drawingml/2006/main" noGrp="1"/>
          </p:cNvSpPr>
          <p:nvPr/>
        </p:nvSpPr>
        <p:spPr>
          <a:xfrm xmlns:a="http://schemas.openxmlformats.org/drawingml/2006/main">
            <a:off x="1666875" y="2943225"/>
            <a:ext cx="9239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100" b="1">
                <a:solidFill>
                  <a:srgbClr val="17221B"/>
                </a:solidFill>
                <a:latin typeface="Arial"/>
                <a:ea typeface="Arial"/>
                <a:cs typeface="Arial"/>
              </a:defRPr>
            </a:pPr>
            <a:r>
              <a:rPr sz="2100" b="1">
                <a:solidFill>
                  <a:srgbClr val="17221B"/>
                </a:solidFill>
                <a:latin typeface="Arial"/>
                <a:ea typeface="Arial"/>
                <a:cs typeface="Arial"/>
              </a:rPr>
              <a:t>Does removing negative-only training tiles improve overlap—or increase false-positive predictions?</a:t>
            </a:r>
          </a:p>
        </p:txBody>
      </p:sp>
      <p:cxnSp>
        <p:nvCxnSpPr>
          <p:cNvPr id="41" name=""/>
          <p:cNvCxnSpPr/>
          <p:nvPr/>
        </p:nvCxnSpPr>
        <p:spPr>
          <a:xfrm xmlns:a="http://schemas.openxmlformats.org/drawingml/2006/main">
            <a:off x="609600" y="3990975"/>
            <a:ext cx="10287000" cy="0"/>
          </a:xfrm>
          <a:prstGeom xmlns:a="http://schemas.openxmlformats.org/drawingml/2006/main" prst="straightConnector1">
            <a:avLst/>
          </a:prstGeom>
          <a:ln xmlns:a="http://schemas.openxmlformats.org/drawingml/2006/main" w="9525">
            <a:solidFill>
              <a:srgbClr val="C6D0C9"/>
            </a:solidFill>
            <a:prstDash val="solid"/>
          </a:ln>
        </p:spPr>
      </p:cxnSp>
      <p:sp>
        <p:nvSpPr>
          <p:cNvPr id="11" name="">
            <a:extLst xmlns:a="http://schemas.openxmlformats.org/drawingml/2006/main">
              <a:ext uri="{FF2B5EF4-FFF2-40B4-BE49-F238E27FC236}">
                <a16:creationId xmlns:a16="http://schemas.microsoft.com/office/drawing/2014/main" id="{99B60846-1018-47A0-907A-9D33A6F28F1D}"/>
              </a:ext>
            </a:extLst>
          </p:cNvPr>
          <p:cNvSpPr>
            <a:spLocks xmlns:a="http://schemas.openxmlformats.org/drawingml/2006/main" noGrp="1"/>
          </p:cNvSpPr>
          <p:nvPr/>
        </p:nvSpPr>
        <p:spPr>
          <a:xfrm xmlns:a="http://schemas.openxmlformats.org/drawingml/2006/main">
            <a:off x="609600" y="4429125"/>
            <a:ext cx="1333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5D6B63"/>
                </a:solidFill>
                <a:latin typeface="Arial"/>
                <a:ea typeface="Arial"/>
                <a:cs typeface="Arial"/>
              </a:defRPr>
            </a:pPr>
            <a:r>
              <a:rPr sz="1050" b="1">
                <a:solidFill>
                  <a:srgbClr val="5D6B63"/>
                </a:solidFill>
                <a:latin typeface="Arial"/>
                <a:ea typeface="Arial"/>
                <a:cs typeface="Arial"/>
              </a:rPr>
              <a:t>Contribution</a:t>
            </a:r>
          </a:p>
        </p:txBody>
      </p:sp>
      <p:sp>
        <p:nvSpPr>
          <p:cNvPr id="12" name="">
            <a:extLst xmlns:a="http://schemas.openxmlformats.org/drawingml/2006/main">
              <a:ext uri="{FF2B5EF4-FFF2-40B4-BE49-F238E27FC236}">
                <a16:creationId xmlns:a16="http://schemas.microsoft.com/office/drawing/2014/main" id="{94C9B244-8BF0-4CDE-A3CF-B359B27C1232}"/>
              </a:ext>
            </a:extLst>
          </p:cNvPr>
          <p:cNvSpPr>
            <a:spLocks xmlns:a="http://schemas.openxmlformats.org/drawingml/2006/main" noGrp="1"/>
          </p:cNvSpPr>
          <p:nvPr/>
        </p:nvSpPr>
        <p:spPr>
          <a:xfrm xmlns:a="http://schemas.openxmlformats.org/drawingml/2006/main">
            <a:off x="2095500" y="4467225"/>
            <a:ext cx="114300" cy="114300"/>
          </a:xfrm>
          <a:prstGeom xmlns:a="http://schemas.openxmlformats.org/drawingml/2006/main" prst="ellipse">
            <a:avLst/>
          </a:prstGeom>
          <a:solidFill xmlns:a="http://schemas.openxmlformats.org/drawingml/2006/main">
            <a:srgbClr val="1F7A55"/>
          </a:solidFill>
          <a:ln xmlns:a="http://schemas.openxmlformats.org/drawingml/2006/main" w="0">
            <a:solidFill>
              <a:srgbClr val="1F7A55"/>
            </a:solidFill>
            <a:prstDash val="solid"/>
          </a:ln>
        </p:spPr>
      </p:sp>
      <p:sp>
        <p:nvSpPr>
          <p:cNvPr id="13" name="">
            <a:extLst xmlns:a="http://schemas.openxmlformats.org/drawingml/2006/main">
              <a:ext uri="{FF2B5EF4-FFF2-40B4-BE49-F238E27FC236}">
                <a16:creationId xmlns:a16="http://schemas.microsoft.com/office/drawing/2014/main" id="{311698FE-7DFA-4FCE-85CB-CA30BA5E74DC}"/>
              </a:ext>
            </a:extLst>
          </p:cNvPr>
          <p:cNvSpPr>
            <a:spLocks xmlns:a="http://schemas.openxmlformats.org/drawingml/2006/main" noGrp="1"/>
          </p:cNvSpPr>
          <p:nvPr/>
        </p:nvSpPr>
        <p:spPr>
          <a:xfrm xmlns:a="http://schemas.openxmlformats.org/drawingml/2006/main">
            <a:off x="2286000" y="440055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17221B"/>
                </a:solidFill>
                <a:latin typeface="Arial"/>
                <a:ea typeface="Arial"/>
                <a:cs typeface="Arial"/>
              </a:defRPr>
            </a:pPr>
            <a:r>
              <a:rPr sz="1275" b="1">
                <a:solidFill>
                  <a:srgbClr val="17221B"/>
                </a:solidFill>
                <a:latin typeface="Arial"/>
                <a:ea typeface="Arial"/>
                <a:cs typeface="Arial"/>
              </a:rPr>
              <a:t>GIS-aware labels</a:t>
            </a:r>
          </a:p>
        </p:txBody>
      </p:sp>
      <p:sp>
        <p:nvSpPr>
          <p:cNvPr id="14" name="">
            <a:extLst xmlns:a="http://schemas.openxmlformats.org/drawingml/2006/main">
              <a:ext uri="{FF2B5EF4-FFF2-40B4-BE49-F238E27FC236}">
                <a16:creationId xmlns:a16="http://schemas.microsoft.com/office/drawing/2014/main" id="{DB59D1E6-76C7-472D-8E47-186EFDB12046}"/>
              </a:ext>
            </a:extLst>
          </p:cNvPr>
          <p:cNvSpPr>
            <a:spLocks xmlns:a="http://schemas.openxmlformats.org/drawingml/2006/main" noGrp="1"/>
          </p:cNvSpPr>
          <p:nvPr/>
        </p:nvSpPr>
        <p:spPr>
          <a:xfrm xmlns:a="http://schemas.openxmlformats.org/drawingml/2006/main">
            <a:off x="4438650" y="4467225"/>
            <a:ext cx="114300" cy="114300"/>
          </a:xfrm>
          <a:prstGeom xmlns:a="http://schemas.openxmlformats.org/drawingml/2006/main" prst="ellipse">
            <a:avLst/>
          </a:prstGeom>
          <a:solidFill xmlns:a="http://schemas.openxmlformats.org/drawingml/2006/main">
            <a:srgbClr val="188F91"/>
          </a:solidFill>
          <a:ln xmlns:a="http://schemas.openxmlformats.org/drawingml/2006/main" w="0">
            <a:solidFill>
              <a:srgbClr val="188F91"/>
            </a:solidFill>
            <a:prstDash val="solid"/>
          </a:ln>
        </p:spPr>
      </p:sp>
      <p:sp>
        <p:nvSpPr>
          <p:cNvPr id="15" name="">
            <a:extLst xmlns:a="http://schemas.openxmlformats.org/drawingml/2006/main">
              <a:ext uri="{FF2B5EF4-FFF2-40B4-BE49-F238E27FC236}">
                <a16:creationId xmlns:a16="http://schemas.microsoft.com/office/drawing/2014/main" id="{DFC08A68-9B2B-4D6B-A627-013221B50FF6}"/>
              </a:ext>
            </a:extLst>
          </p:cNvPr>
          <p:cNvSpPr>
            <a:spLocks xmlns:a="http://schemas.openxmlformats.org/drawingml/2006/main" noGrp="1"/>
          </p:cNvSpPr>
          <p:nvPr/>
        </p:nvSpPr>
        <p:spPr>
          <a:xfrm xmlns:a="http://schemas.openxmlformats.org/drawingml/2006/main">
            <a:off x="4629150" y="440055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17221B"/>
                </a:solidFill>
                <a:latin typeface="Arial"/>
                <a:ea typeface="Arial"/>
                <a:cs typeface="Arial"/>
              </a:defRPr>
            </a:pPr>
            <a:r>
              <a:rPr sz="1275" b="1">
                <a:solidFill>
                  <a:srgbClr val="17221B"/>
                </a:solidFill>
                <a:latin typeface="Arial"/>
                <a:ea typeface="Arial"/>
                <a:cs typeface="Arial"/>
              </a:rPr>
              <a:t>Spatial blocks</a:t>
            </a:r>
          </a:p>
        </p:txBody>
      </p:sp>
      <p:sp>
        <p:nvSpPr>
          <p:cNvPr id="16" name="">
            <a:extLst xmlns:a="http://schemas.openxmlformats.org/drawingml/2006/main">
              <a:ext uri="{FF2B5EF4-FFF2-40B4-BE49-F238E27FC236}">
                <a16:creationId xmlns:a16="http://schemas.microsoft.com/office/drawing/2014/main" id="{C878E950-C89C-466C-9674-BF7F8DE5517A}"/>
              </a:ext>
            </a:extLst>
          </p:cNvPr>
          <p:cNvSpPr>
            <a:spLocks xmlns:a="http://schemas.openxmlformats.org/drawingml/2006/main" noGrp="1"/>
          </p:cNvSpPr>
          <p:nvPr/>
        </p:nvSpPr>
        <p:spPr>
          <a:xfrm xmlns:a="http://schemas.openxmlformats.org/drawingml/2006/main">
            <a:off x="6781800" y="4467225"/>
            <a:ext cx="114300" cy="114300"/>
          </a:xfrm>
          <a:prstGeom xmlns:a="http://schemas.openxmlformats.org/drawingml/2006/main" prst="ellipse">
            <a:avLst/>
          </a:prstGeom>
          <a:solidFill xmlns:a="http://schemas.openxmlformats.org/drawingml/2006/main">
            <a:srgbClr val="4B739B"/>
          </a:solidFill>
          <a:ln xmlns:a="http://schemas.openxmlformats.org/drawingml/2006/main" w="0">
            <a:solidFill>
              <a:srgbClr val="4B739B"/>
            </a:solidFill>
            <a:prstDash val="solid"/>
          </a:ln>
        </p:spPr>
      </p:sp>
      <p:sp>
        <p:nvSpPr>
          <p:cNvPr id="17" name="">
            <a:extLst xmlns:a="http://schemas.openxmlformats.org/drawingml/2006/main">
              <a:ext uri="{FF2B5EF4-FFF2-40B4-BE49-F238E27FC236}">
                <a16:creationId xmlns:a16="http://schemas.microsoft.com/office/drawing/2014/main" id="{08FEE845-58A8-4272-B532-FA90B6C9BB68}"/>
              </a:ext>
            </a:extLst>
          </p:cNvPr>
          <p:cNvSpPr>
            <a:spLocks xmlns:a="http://schemas.openxmlformats.org/drawingml/2006/main" noGrp="1"/>
          </p:cNvSpPr>
          <p:nvPr/>
        </p:nvSpPr>
        <p:spPr>
          <a:xfrm xmlns:a="http://schemas.openxmlformats.org/drawingml/2006/main">
            <a:off x="6972300" y="440055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17221B"/>
                </a:solidFill>
                <a:latin typeface="Arial"/>
                <a:ea typeface="Arial"/>
                <a:cs typeface="Arial"/>
              </a:defRPr>
            </a:pPr>
            <a:r>
              <a:rPr sz="1275" b="1">
                <a:solidFill>
                  <a:srgbClr val="17221B"/>
                </a:solidFill>
                <a:latin typeface="Arial"/>
                <a:ea typeface="Arial"/>
                <a:cs typeface="Arial"/>
              </a:rPr>
              <a:t>Controlled ablation</a:t>
            </a:r>
          </a:p>
        </p:txBody>
      </p:sp>
      <p:sp>
        <p:nvSpPr>
          <p:cNvPr id="18" name="">
            <a:extLst xmlns:a="http://schemas.openxmlformats.org/drawingml/2006/main">
              <a:ext uri="{FF2B5EF4-FFF2-40B4-BE49-F238E27FC236}">
                <a16:creationId xmlns:a16="http://schemas.microsoft.com/office/drawing/2014/main" id="{FF338B89-D40E-46D5-9F46-7B370946A270}"/>
              </a:ext>
            </a:extLst>
          </p:cNvPr>
          <p:cNvSpPr>
            <a:spLocks xmlns:a="http://schemas.openxmlformats.org/drawingml/2006/main" noGrp="1"/>
          </p:cNvSpPr>
          <p:nvPr/>
        </p:nvSpPr>
        <p:spPr>
          <a:xfrm xmlns:a="http://schemas.openxmlformats.org/drawingml/2006/main">
            <a:off x="9124950" y="4467225"/>
            <a:ext cx="114300" cy="114300"/>
          </a:xfrm>
          <a:prstGeom xmlns:a="http://schemas.openxmlformats.org/drawingml/2006/main" prst="ellipse">
            <a:avLst/>
          </a:prstGeom>
          <a:solidFill xmlns:a="http://schemas.openxmlformats.org/drawingml/2006/main">
            <a:srgbClr val="C8605A"/>
          </a:solidFill>
          <a:ln xmlns:a="http://schemas.openxmlformats.org/drawingml/2006/main" w="0">
            <a:solidFill>
              <a:srgbClr val="C8605A"/>
            </a:solidFill>
            <a:prstDash val="solid"/>
          </a:ln>
        </p:spPr>
      </p:sp>
      <p:sp>
        <p:nvSpPr>
          <p:cNvPr id="19" name="">
            <a:extLst xmlns:a="http://schemas.openxmlformats.org/drawingml/2006/main">
              <a:ext uri="{FF2B5EF4-FFF2-40B4-BE49-F238E27FC236}">
                <a16:creationId xmlns:a16="http://schemas.microsoft.com/office/drawing/2014/main" id="{93F6109E-62E0-49DC-AA7C-36FB11BEDB2A}"/>
              </a:ext>
            </a:extLst>
          </p:cNvPr>
          <p:cNvSpPr>
            <a:spLocks xmlns:a="http://schemas.openxmlformats.org/drawingml/2006/main" noGrp="1"/>
          </p:cNvSpPr>
          <p:nvPr/>
        </p:nvSpPr>
        <p:spPr>
          <a:xfrm xmlns:a="http://schemas.openxmlformats.org/drawingml/2006/main">
            <a:off x="9315450" y="4400550"/>
            <a:ext cx="200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1">
                <a:solidFill>
                  <a:srgbClr val="17221B"/>
                </a:solidFill>
                <a:latin typeface="Arial"/>
                <a:ea typeface="Arial"/>
                <a:cs typeface="Arial"/>
              </a:defRPr>
            </a:pPr>
            <a:r>
              <a:rPr sz="1275" b="1">
                <a:solidFill>
                  <a:srgbClr val="17221B"/>
                </a:solidFill>
                <a:latin typeface="Arial"/>
                <a:ea typeface="Arial"/>
                <a:cs typeface="Arial"/>
              </a:rPr>
              <a:t>Subgroup error analysis</a:t>
            </a:r>
          </a:p>
        </p:txBody>
      </p:sp>
      <p:sp>
        <p:nvSpPr>
          <p:cNvPr id="20" name="">
            <a:extLst xmlns:a="http://schemas.openxmlformats.org/drawingml/2006/main">
              <a:ext uri="{FF2B5EF4-FFF2-40B4-BE49-F238E27FC236}">
                <a16:creationId xmlns:a16="http://schemas.microsoft.com/office/drawing/2014/main" id="{48381846-3FF4-4A2A-8EA7-1505246E627E}"/>
              </a:ext>
            </a:extLst>
          </p:cNvPr>
          <p:cNvSpPr>
            <a:spLocks xmlns:a="http://schemas.openxmlformats.org/drawingml/2006/main" noGrp="1"/>
          </p:cNvSpPr>
          <p:nvPr/>
        </p:nvSpPr>
        <p:spPr>
          <a:xfrm xmlns:a="http://schemas.openxmlformats.org/drawingml/2006/main">
            <a:off x="609600" y="5219700"/>
            <a:ext cx="10287000" cy="552450"/>
          </a:xfrm>
          <a:prstGeom xmlns:a="http://schemas.openxmlformats.org/drawingml/2006/main" prst="roundRect">
            <a:avLst>
              <a:gd name="adj" fmla="val 10345"/>
            </a:avLst>
          </a:prstGeom>
          <a:solidFill xmlns:a="http://schemas.openxmlformats.org/drawingml/2006/main">
            <a:srgbClr val="0E2C22"/>
          </a:solidFill>
          <a:ln xmlns:a="http://schemas.openxmlformats.org/drawingml/2006/main" w="9525">
            <a:solidFill>
              <a:srgbClr val="0E2C22"/>
            </a:solidFill>
            <a:prstDash val="solid"/>
          </a:ln>
        </p:spPr>
      </p:sp>
      <p:sp>
        <p:nvSpPr>
          <p:cNvPr id="21" name="">
            <a:extLst xmlns:a="http://schemas.openxmlformats.org/drawingml/2006/main">
              <a:ext uri="{FF2B5EF4-FFF2-40B4-BE49-F238E27FC236}">
                <a16:creationId xmlns:a16="http://schemas.microsoft.com/office/drawing/2014/main" id="{3A762681-A9A9-4219-92EE-E7569EBE7C9E}"/>
              </a:ext>
            </a:extLst>
          </p:cNvPr>
          <p:cNvSpPr>
            <a:spLocks xmlns:a="http://schemas.openxmlformats.org/drawingml/2006/main" noGrp="1"/>
          </p:cNvSpPr>
          <p:nvPr/>
        </p:nvSpPr>
        <p:spPr>
          <a:xfrm xmlns:a="http://schemas.openxmlformats.org/drawingml/2006/main">
            <a:off x="838200" y="5381625"/>
            <a:ext cx="98298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FFFFFF"/>
                </a:solidFill>
                <a:latin typeface="Arial"/>
                <a:ea typeface="Arial"/>
                <a:cs typeface="Arial"/>
              </a:defRPr>
            </a:pPr>
            <a:r>
              <a:rPr sz="1575" b="1">
                <a:solidFill>
                  <a:srgbClr val="FFFFFF"/>
                </a:solidFill>
                <a:latin typeface="Arial"/>
                <a:ea typeface="Arial"/>
                <a:cs typeface="Arial"/>
              </a:rPr>
              <a:t>Decision criterion: reliable area-wide mapping, not performance on positive examples alone.</a:t>
            </a:r>
          </a:p>
        </p:txBody>
      </p:sp>
    </p:spTree>
    <p:extLst>
      <p:ext uri="{BB962C8B-B14F-4D97-AF65-F5344CB8AC3E}">
        <p14:creationId xmlns:p14="http://schemas.microsoft.com/office/powerpoint/2010/main" val="5612941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B41AEDB8-AE11-4FF1-AFCD-9F201DD2ACAF}"/>
              </a:ext>
            </a:extLst>
          </p:cNvPr>
          <p:cNvSpPr>
            <a:spLocks xmlns:a="http://schemas.openxmlformats.org/drawingml/2006/main" noGrp="1"/>
          </p:cNvSpPr>
          <p:nvPr/>
        </p:nvSpPr>
        <p:spPr>
          <a:xfrm xmlns:a="http://schemas.openxmlformats.org/drawingml/2006/main">
            <a:off x="647700" y="22860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1F7A55"/>
                </a:solidFill>
                <a:latin typeface="Arial"/>
                <a:ea typeface="Arial"/>
                <a:cs typeface="Arial"/>
              </a:defRPr>
            </a:pPr>
            <a:r>
              <a:rPr sz="900" b="1">
                <a:solidFill>
                  <a:srgbClr val="1F7A55"/>
                </a:solidFill>
                <a:latin typeface="Arial"/>
                <a:ea typeface="Arial"/>
                <a:cs typeface="Arial"/>
              </a:rPr>
              <a:t>GREEN-ROOF MAPPING</a:t>
            </a:r>
          </a:p>
        </p:txBody>
      </p:sp>
      <p:sp>
        <p:nvSpPr>
          <p:cNvPr id="2" name="">
            <a:extLst xmlns:a="http://schemas.openxmlformats.org/drawingml/2006/main">
              <a:ext uri="{FF2B5EF4-FFF2-40B4-BE49-F238E27FC236}">
                <a16:creationId xmlns:a16="http://schemas.microsoft.com/office/drawing/2014/main" id="{C2C35F83-913D-4BE8-9318-734DECF057E8}"/>
              </a:ext>
            </a:extLst>
          </p:cNvPr>
          <p:cNvSpPr>
            <a:spLocks xmlns:a="http://schemas.openxmlformats.org/drawingml/2006/main" noGrp="1"/>
          </p:cNvSpPr>
          <p:nvPr/>
        </p:nvSpPr>
        <p:spPr>
          <a:xfrm xmlns:a="http://schemas.openxmlformats.org/drawingml/2006/main">
            <a:off x="647700" y="60960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7221B"/>
                </a:solidFill>
                <a:latin typeface="Arial"/>
                <a:ea typeface="Arial"/>
                <a:cs typeface="Arial"/>
              </a:defRPr>
            </a:pPr>
            <a:r>
              <a:rPr sz="2325" b="1">
                <a:solidFill>
                  <a:srgbClr val="17221B"/>
                </a:solidFill>
                <a:latin typeface="Arial"/>
                <a:ea typeface="Arial"/>
                <a:cs typeface="Arial"/>
              </a:rPr>
              <a:t>A ResNet50 U-Net provides a transparent baseline</a:t>
            </a:r>
          </a:p>
        </p:txBody>
      </p:sp>
      <p:cxnSp>
        <p:nvCxnSpPr>
          <p:cNvPr id="36" name=""/>
          <p:cNvCxnSpPr/>
          <p:nvPr/>
        </p:nvCxnSpPr>
        <p:spPr>
          <a:xfrm xmlns:a="http://schemas.openxmlformats.org/drawingml/2006/main">
            <a:off x="647700" y="1257300"/>
            <a:ext cx="10839450" cy="0"/>
          </a:xfrm>
          <a:prstGeom xmlns:a="http://schemas.openxmlformats.org/drawingml/2006/main" prst="straightConnector1">
            <a:avLst/>
          </a:prstGeom>
          <a:ln xmlns:a="http://schemas.openxmlformats.org/drawingml/2006/main" w="9525">
            <a:solidFill>
              <a:srgbClr val="C6D0C9"/>
            </a:solidFill>
            <a:prstDash val="solid"/>
          </a:ln>
        </p:spPr>
      </p:cxnSp>
      <p:sp>
        <p:nvSpPr>
          <p:cNvPr id="4" name="">
            <a:extLst xmlns:a="http://schemas.openxmlformats.org/drawingml/2006/main">
              <a:ext uri="{FF2B5EF4-FFF2-40B4-BE49-F238E27FC236}">
                <a16:creationId xmlns:a16="http://schemas.microsoft.com/office/drawing/2014/main" id="{31367A52-D22C-4ADB-9781-7A0203C53145}"/>
              </a:ext>
            </a:extLst>
          </p:cNvPr>
          <p:cNvSpPr>
            <a:spLocks xmlns:a="http://schemas.openxmlformats.org/drawingml/2006/main" noGrp="1"/>
          </p:cNvSpPr>
          <p:nvPr/>
        </p:nvSpPr>
        <p:spPr>
          <a:xfrm xmlns:a="http://schemas.openxmlformats.org/drawingml/2006/main">
            <a:off x="11382375" y="64389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a:solidFill>
                  <a:srgbClr val="5D6B63"/>
                </a:solidFill>
                <a:latin typeface="Arial"/>
                <a:ea typeface="Arial"/>
                <a:cs typeface="Arial"/>
              </a:defRPr>
            </a:pPr>
            <a:r>
              <a:rPr sz="900" b="0">
                <a:solidFill>
                  <a:srgbClr val="5D6B63"/>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7B6088A8-901B-499A-A4B7-97A649B759E4}"/>
              </a:ext>
            </a:extLst>
          </p:cNvPr>
          <p:cNvSpPr>
            <a:spLocks xmlns:a="http://schemas.openxmlformats.org/drawingml/2006/main" noGrp="1"/>
          </p:cNvSpPr>
          <p:nvPr/>
        </p:nvSpPr>
        <p:spPr>
          <a:xfrm xmlns:a="http://schemas.openxmlformats.org/drawingml/2006/main">
            <a:off x="666750" y="158115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5D6B63"/>
                </a:solidFill>
                <a:latin typeface="Arial"/>
                <a:ea typeface="Arial"/>
                <a:cs typeface="Arial"/>
              </a:defRPr>
            </a:pPr>
            <a:r>
              <a:rPr sz="975" b="1">
                <a:solidFill>
                  <a:srgbClr val="5D6B63"/>
                </a:solidFill>
                <a:latin typeface="Arial"/>
                <a:ea typeface="Arial"/>
                <a:cs typeface="Arial"/>
              </a:rPr>
              <a:t>Model family</a:t>
            </a:r>
          </a:p>
        </p:txBody>
      </p:sp>
      <p:sp>
        <p:nvSpPr>
          <p:cNvPr id="6" name="">
            <a:extLst xmlns:a="http://schemas.openxmlformats.org/drawingml/2006/main">
              <a:ext uri="{FF2B5EF4-FFF2-40B4-BE49-F238E27FC236}">
                <a16:creationId xmlns:a16="http://schemas.microsoft.com/office/drawing/2014/main" id="{8A6B614E-4A93-4E69-993E-53CA3B8D9781}"/>
              </a:ext>
            </a:extLst>
          </p:cNvPr>
          <p:cNvSpPr>
            <a:spLocks xmlns:a="http://schemas.openxmlformats.org/drawingml/2006/main" noGrp="1"/>
          </p:cNvSpPr>
          <p:nvPr/>
        </p:nvSpPr>
        <p:spPr>
          <a:xfrm xmlns:a="http://schemas.openxmlformats.org/drawingml/2006/main">
            <a:off x="2857500" y="1581150"/>
            <a:ext cx="3143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5D6B63"/>
                </a:solidFill>
                <a:latin typeface="Arial"/>
                <a:ea typeface="Arial"/>
                <a:cs typeface="Arial"/>
              </a:defRPr>
            </a:pPr>
            <a:r>
              <a:rPr sz="975" b="1">
                <a:solidFill>
                  <a:srgbClr val="5D6B63"/>
                </a:solidFill>
                <a:latin typeface="Arial"/>
                <a:ea typeface="Arial"/>
                <a:cs typeface="Arial"/>
              </a:rPr>
              <a:t>Core idea</a:t>
            </a:r>
          </a:p>
        </p:txBody>
      </p:sp>
      <p:sp>
        <p:nvSpPr>
          <p:cNvPr id="7" name="">
            <a:extLst xmlns:a="http://schemas.openxmlformats.org/drawingml/2006/main">
              <a:ext uri="{FF2B5EF4-FFF2-40B4-BE49-F238E27FC236}">
                <a16:creationId xmlns:a16="http://schemas.microsoft.com/office/drawing/2014/main" id="{E06068A3-DB3A-45A0-A89F-963BCA2151F3}"/>
              </a:ext>
            </a:extLst>
          </p:cNvPr>
          <p:cNvSpPr>
            <a:spLocks xmlns:a="http://schemas.openxmlformats.org/drawingml/2006/main" noGrp="1"/>
          </p:cNvSpPr>
          <p:nvPr/>
        </p:nvSpPr>
        <p:spPr>
          <a:xfrm xmlns:a="http://schemas.openxmlformats.org/drawingml/2006/main">
            <a:off x="6191250" y="1581150"/>
            <a:ext cx="3714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5D6B63"/>
                </a:solidFill>
                <a:latin typeface="Arial"/>
                <a:ea typeface="Arial"/>
                <a:cs typeface="Arial"/>
              </a:defRPr>
            </a:pPr>
            <a:r>
              <a:rPr sz="975" b="1">
                <a:solidFill>
                  <a:srgbClr val="5D6B63"/>
                </a:solidFill>
                <a:latin typeface="Arial"/>
                <a:ea typeface="Arial"/>
                <a:cs typeface="Arial"/>
              </a:rPr>
              <a:t>Why relevant</a:t>
            </a:r>
          </a:p>
        </p:txBody>
      </p:sp>
      <p:sp>
        <p:nvSpPr>
          <p:cNvPr id="8" name="">
            <a:extLst xmlns:a="http://schemas.openxmlformats.org/drawingml/2006/main">
              <a:ext uri="{FF2B5EF4-FFF2-40B4-BE49-F238E27FC236}">
                <a16:creationId xmlns:a16="http://schemas.microsoft.com/office/drawing/2014/main" id="{0EFD6156-18A0-4C35-B1CB-7ECA060673C0}"/>
              </a:ext>
            </a:extLst>
          </p:cNvPr>
          <p:cNvSpPr>
            <a:spLocks xmlns:a="http://schemas.openxmlformats.org/drawingml/2006/main" noGrp="1"/>
          </p:cNvSpPr>
          <p:nvPr/>
        </p:nvSpPr>
        <p:spPr>
          <a:xfrm xmlns:a="http://schemas.openxmlformats.org/drawingml/2006/main">
            <a:off x="609600" y="1924050"/>
            <a:ext cx="10287000" cy="904875"/>
          </a:xfrm>
          <a:prstGeom xmlns:a="http://schemas.openxmlformats.org/drawingml/2006/main" prst="rect">
            <a:avLst/>
          </a:prstGeom>
          <a:solidFill xmlns:a="http://schemas.openxmlformats.org/drawingml/2006/main">
            <a:srgbClr val="E6F2EA"/>
          </a:solidFill>
          <a:ln xmlns:a="http://schemas.openxmlformats.org/drawingml/2006/main" w="0">
            <a:solidFill>
              <a:srgbClr val="E6F2EA"/>
            </a:solidFill>
            <a:prstDash val="solid"/>
          </a:ln>
        </p:spPr>
      </p:sp>
      <p:sp>
        <p:nvSpPr>
          <p:cNvPr id="9" name="">
            <a:extLst xmlns:a="http://schemas.openxmlformats.org/drawingml/2006/main">
              <a:ext uri="{FF2B5EF4-FFF2-40B4-BE49-F238E27FC236}">
                <a16:creationId xmlns:a16="http://schemas.microsoft.com/office/drawing/2014/main" id="{D064CA93-F295-43F7-A1FA-4D648884EC9C}"/>
              </a:ext>
            </a:extLst>
          </p:cNvPr>
          <p:cNvSpPr>
            <a:spLocks xmlns:a="http://schemas.openxmlformats.org/drawingml/2006/main" noGrp="1"/>
          </p:cNvSpPr>
          <p:nvPr/>
        </p:nvSpPr>
        <p:spPr>
          <a:xfrm xmlns:a="http://schemas.openxmlformats.org/drawingml/2006/main">
            <a:off x="781050" y="2133600"/>
            <a:ext cx="1857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1F7A55"/>
                </a:solidFill>
                <a:latin typeface="Arial"/>
                <a:ea typeface="Arial"/>
                <a:cs typeface="Arial"/>
              </a:defRPr>
            </a:pPr>
            <a:r>
              <a:rPr sz="1800" b="1">
                <a:solidFill>
                  <a:srgbClr val="1F7A55"/>
                </a:solidFill>
                <a:latin typeface="Arial"/>
                <a:ea typeface="Arial"/>
                <a:cs typeface="Arial"/>
              </a:rPr>
              <a:t>U-Net</a:t>
            </a:r>
          </a:p>
        </p:txBody>
      </p:sp>
      <p:sp>
        <p:nvSpPr>
          <p:cNvPr id="10" name="">
            <a:extLst xmlns:a="http://schemas.openxmlformats.org/drawingml/2006/main">
              <a:ext uri="{FF2B5EF4-FFF2-40B4-BE49-F238E27FC236}">
                <a16:creationId xmlns:a16="http://schemas.microsoft.com/office/drawing/2014/main" id="{BA054927-82A2-42BC-8FE6-1A7364A21458}"/>
              </a:ext>
            </a:extLst>
          </p:cNvPr>
          <p:cNvSpPr>
            <a:spLocks xmlns:a="http://schemas.openxmlformats.org/drawingml/2006/main" noGrp="1"/>
          </p:cNvSpPr>
          <p:nvPr/>
        </p:nvSpPr>
        <p:spPr>
          <a:xfrm xmlns:a="http://schemas.openxmlformats.org/drawingml/2006/main">
            <a:off x="2857500" y="2105025"/>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0">
                <a:solidFill>
                  <a:srgbClr val="17221B"/>
                </a:solidFill>
                <a:latin typeface="Arial"/>
                <a:ea typeface="Arial"/>
                <a:cs typeface="Arial"/>
              </a:defRPr>
            </a:pPr>
            <a:r>
              <a:rPr sz="1275" b="0">
                <a:solidFill>
                  <a:srgbClr val="17221B"/>
                </a:solidFill>
                <a:latin typeface="Arial"/>
                <a:ea typeface="Arial"/>
                <a:cs typeface="Arial"/>
              </a:rPr>
              <a:t>Encoder–decoder + skip connections</a:t>
            </a:r>
          </a:p>
        </p:txBody>
      </p:sp>
      <p:sp>
        <p:nvSpPr>
          <p:cNvPr id="11" name="">
            <a:extLst xmlns:a="http://schemas.openxmlformats.org/drawingml/2006/main">
              <a:ext uri="{FF2B5EF4-FFF2-40B4-BE49-F238E27FC236}">
                <a16:creationId xmlns:a16="http://schemas.microsoft.com/office/drawing/2014/main" id="{52EAEEC1-EF2E-42FD-A786-5955770ED319}"/>
              </a:ext>
            </a:extLst>
          </p:cNvPr>
          <p:cNvSpPr>
            <a:spLocks xmlns:a="http://schemas.openxmlformats.org/drawingml/2006/main" noGrp="1"/>
          </p:cNvSpPr>
          <p:nvPr/>
        </p:nvSpPr>
        <p:spPr>
          <a:xfrm xmlns:a="http://schemas.openxmlformats.org/drawingml/2006/main">
            <a:off x="6191250" y="2105025"/>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0">
                <a:solidFill>
                  <a:srgbClr val="17221B"/>
                </a:solidFill>
                <a:latin typeface="Arial"/>
                <a:ea typeface="Arial"/>
                <a:cs typeface="Arial"/>
              </a:defRPr>
            </a:pPr>
            <a:r>
              <a:rPr sz="1275" b="0">
                <a:solidFill>
                  <a:srgbClr val="17221B"/>
                </a:solidFill>
                <a:latin typeface="Arial"/>
                <a:ea typeface="Arial"/>
                <a:cs typeface="Arial"/>
              </a:rPr>
              <a:t>Precise localization; strong baseline</a:t>
            </a:r>
          </a:p>
        </p:txBody>
      </p:sp>
      <p:sp>
        <p:nvSpPr>
          <p:cNvPr id="12" name="">
            <a:extLst xmlns:a="http://schemas.openxmlformats.org/drawingml/2006/main">
              <a:ext uri="{FF2B5EF4-FFF2-40B4-BE49-F238E27FC236}">
                <a16:creationId xmlns:a16="http://schemas.microsoft.com/office/drawing/2014/main" id="{4EB1AF85-3465-4867-8B70-F1C8779457EF}"/>
              </a:ext>
            </a:extLst>
          </p:cNvPr>
          <p:cNvSpPr>
            <a:spLocks xmlns:a="http://schemas.openxmlformats.org/drawingml/2006/main" noGrp="1"/>
          </p:cNvSpPr>
          <p:nvPr/>
        </p:nvSpPr>
        <p:spPr>
          <a:xfrm xmlns:a="http://schemas.openxmlformats.org/drawingml/2006/main">
            <a:off x="9858375" y="2200275"/>
            <a:ext cx="876300" cy="285750"/>
          </a:xfrm>
          <a:prstGeom xmlns:a="http://schemas.openxmlformats.org/drawingml/2006/main" prst="roundRect">
            <a:avLst>
              <a:gd name="adj" fmla="val 50000"/>
            </a:avLst>
          </a:prstGeom>
          <a:solidFill xmlns:a="http://schemas.openxmlformats.org/drawingml/2006/main">
            <a:srgbClr val="CDE8D6"/>
          </a:solidFill>
          <a:ln xmlns:a="http://schemas.openxmlformats.org/drawingml/2006/main" w="9525">
            <a:solidFill>
              <a:srgbClr val="CDE8D6"/>
            </a:solidFill>
            <a:prstDash val="solid"/>
          </a:ln>
        </p:spPr>
      </p:sp>
      <p:sp>
        <p:nvSpPr>
          <p:cNvPr id="13" name="">
            <a:extLst xmlns:a="http://schemas.openxmlformats.org/drawingml/2006/main">
              <a:ext uri="{FF2B5EF4-FFF2-40B4-BE49-F238E27FC236}">
                <a16:creationId xmlns:a16="http://schemas.microsoft.com/office/drawing/2014/main" id="{13368B34-9B4C-4FE0-A210-03B46B80F583}"/>
              </a:ext>
            </a:extLst>
          </p:cNvPr>
          <p:cNvSpPr>
            <a:spLocks xmlns:a="http://schemas.openxmlformats.org/drawingml/2006/main" noGrp="1"/>
          </p:cNvSpPr>
          <p:nvPr/>
        </p:nvSpPr>
        <p:spPr>
          <a:xfrm xmlns:a="http://schemas.openxmlformats.org/drawingml/2006/main">
            <a:off x="9972675" y="2266950"/>
            <a:ext cx="647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900" b="1">
                <a:solidFill>
                  <a:srgbClr val="1F7A55"/>
                </a:solidFill>
                <a:latin typeface="Arial"/>
                <a:ea typeface="Arial"/>
                <a:cs typeface="Arial"/>
              </a:defRPr>
            </a:pPr>
            <a:r>
              <a:rPr sz="900" b="1">
                <a:solidFill>
                  <a:srgbClr val="1F7A55"/>
                </a:solidFill>
                <a:latin typeface="Arial"/>
                <a:ea typeface="Arial"/>
                <a:cs typeface="Arial"/>
              </a:rPr>
              <a:t>SELECTED</a:t>
            </a:r>
          </a:p>
        </p:txBody>
      </p:sp>
      <p:sp>
        <p:nvSpPr>
          <p:cNvPr id="14" name="">
            <a:extLst xmlns:a="http://schemas.openxmlformats.org/drawingml/2006/main">
              <a:ext uri="{FF2B5EF4-FFF2-40B4-BE49-F238E27FC236}">
                <a16:creationId xmlns:a16="http://schemas.microsoft.com/office/drawing/2014/main" id="{062D665D-1164-4371-BADC-F962FFFB618F}"/>
              </a:ext>
            </a:extLst>
          </p:cNvPr>
          <p:cNvSpPr>
            <a:spLocks xmlns:a="http://schemas.openxmlformats.org/drawingml/2006/main" noGrp="1"/>
          </p:cNvSpPr>
          <p:nvPr/>
        </p:nvSpPr>
        <p:spPr>
          <a:xfrm xmlns:a="http://schemas.openxmlformats.org/drawingml/2006/main">
            <a:off x="609600" y="3048000"/>
            <a:ext cx="10287000" cy="904875"/>
          </a:xfrm>
          <a:prstGeom xmlns:a="http://schemas.openxmlformats.org/drawingml/2006/main" prst="rect">
            <a:avLst/>
          </a:prstGeom>
          <a:solidFill xmlns:a="http://schemas.openxmlformats.org/drawingml/2006/main">
            <a:srgbClr val="F4F7F4"/>
          </a:solidFill>
          <a:ln xmlns:a="http://schemas.openxmlformats.org/drawingml/2006/main" w="0">
            <a:solidFill>
              <a:srgbClr val="F4F7F4"/>
            </a:solidFill>
            <a:prstDash val="solid"/>
          </a:ln>
        </p:spPr>
      </p:sp>
      <p:sp>
        <p:nvSpPr>
          <p:cNvPr id="15" name="">
            <a:extLst xmlns:a="http://schemas.openxmlformats.org/drawingml/2006/main">
              <a:ext uri="{FF2B5EF4-FFF2-40B4-BE49-F238E27FC236}">
                <a16:creationId xmlns:a16="http://schemas.microsoft.com/office/drawing/2014/main" id="{B0E7C1D7-080B-42BD-B046-EDE43FA0E1F8}"/>
              </a:ext>
            </a:extLst>
          </p:cNvPr>
          <p:cNvSpPr>
            <a:spLocks xmlns:a="http://schemas.openxmlformats.org/drawingml/2006/main" noGrp="1"/>
          </p:cNvSpPr>
          <p:nvPr/>
        </p:nvSpPr>
        <p:spPr>
          <a:xfrm xmlns:a="http://schemas.openxmlformats.org/drawingml/2006/main">
            <a:off x="781050" y="3257550"/>
            <a:ext cx="1857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17221B"/>
                </a:solidFill>
                <a:latin typeface="Arial"/>
                <a:ea typeface="Arial"/>
                <a:cs typeface="Arial"/>
              </a:defRPr>
            </a:pPr>
            <a:r>
              <a:rPr sz="1800" b="1">
                <a:solidFill>
                  <a:srgbClr val="17221B"/>
                </a:solidFill>
                <a:latin typeface="Arial"/>
                <a:ea typeface="Arial"/>
                <a:cs typeface="Arial"/>
              </a:rPr>
              <a:t>DeepLabv3+</a:t>
            </a:r>
          </a:p>
        </p:txBody>
      </p:sp>
      <p:sp>
        <p:nvSpPr>
          <p:cNvPr id="16" name="">
            <a:extLst xmlns:a="http://schemas.openxmlformats.org/drawingml/2006/main">
              <a:ext uri="{FF2B5EF4-FFF2-40B4-BE49-F238E27FC236}">
                <a16:creationId xmlns:a16="http://schemas.microsoft.com/office/drawing/2014/main" id="{CA9F183D-2F09-4A9E-AE79-AAB7CE6279D9}"/>
              </a:ext>
            </a:extLst>
          </p:cNvPr>
          <p:cNvSpPr>
            <a:spLocks xmlns:a="http://schemas.openxmlformats.org/drawingml/2006/main" noGrp="1"/>
          </p:cNvSpPr>
          <p:nvPr/>
        </p:nvSpPr>
        <p:spPr>
          <a:xfrm xmlns:a="http://schemas.openxmlformats.org/drawingml/2006/main">
            <a:off x="2857500" y="3228975"/>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0">
                <a:solidFill>
                  <a:srgbClr val="17221B"/>
                </a:solidFill>
                <a:latin typeface="Arial"/>
                <a:ea typeface="Arial"/>
                <a:cs typeface="Arial"/>
              </a:defRPr>
            </a:pPr>
            <a:r>
              <a:rPr sz="1275" b="0">
                <a:solidFill>
                  <a:srgbClr val="17221B"/>
                </a:solidFill>
                <a:latin typeface="Arial"/>
                <a:ea typeface="Arial"/>
                <a:cs typeface="Arial"/>
              </a:rPr>
              <a:t>Atrous context + decoder</a:t>
            </a:r>
          </a:p>
        </p:txBody>
      </p:sp>
      <p:sp>
        <p:nvSpPr>
          <p:cNvPr id="17" name="">
            <a:extLst xmlns:a="http://schemas.openxmlformats.org/drawingml/2006/main">
              <a:ext uri="{FF2B5EF4-FFF2-40B4-BE49-F238E27FC236}">
                <a16:creationId xmlns:a16="http://schemas.microsoft.com/office/drawing/2014/main" id="{FF5A9C03-63D3-4FC8-9A6F-35856A47FE0F}"/>
              </a:ext>
            </a:extLst>
          </p:cNvPr>
          <p:cNvSpPr>
            <a:spLocks xmlns:a="http://schemas.openxmlformats.org/drawingml/2006/main" noGrp="1"/>
          </p:cNvSpPr>
          <p:nvPr/>
        </p:nvSpPr>
        <p:spPr>
          <a:xfrm xmlns:a="http://schemas.openxmlformats.org/drawingml/2006/main">
            <a:off x="6191250" y="3228975"/>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0">
                <a:solidFill>
                  <a:srgbClr val="17221B"/>
                </a:solidFill>
                <a:latin typeface="Arial"/>
                <a:ea typeface="Arial"/>
                <a:cs typeface="Arial"/>
              </a:defRPr>
            </a:pPr>
            <a:r>
              <a:rPr sz="1275" b="0">
                <a:solidFill>
                  <a:srgbClr val="17221B"/>
                </a:solidFill>
                <a:latin typeface="Arial"/>
                <a:ea typeface="Arial"/>
                <a:cs typeface="Arial"/>
              </a:rPr>
              <a:t>Multi-scale context; sharper boundaries</a:t>
            </a:r>
          </a:p>
        </p:txBody>
      </p:sp>
      <p:sp>
        <p:nvSpPr>
          <p:cNvPr id="18" name="">
            <a:extLst xmlns:a="http://schemas.openxmlformats.org/drawingml/2006/main">
              <a:ext uri="{FF2B5EF4-FFF2-40B4-BE49-F238E27FC236}">
                <a16:creationId xmlns:a16="http://schemas.microsoft.com/office/drawing/2014/main" id="{A6922D1E-F9C6-453C-8B47-21FB59FAA768}"/>
              </a:ext>
            </a:extLst>
          </p:cNvPr>
          <p:cNvSpPr>
            <a:spLocks xmlns:a="http://schemas.openxmlformats.org/drawingml/2006/main" noGrp="1"/>
          </p:cNvSpPr>
          <p:nvPr/>
        </p:nvSpPr>
        <p:spPr>
          <a:xfrm xmlns:a="http://schemas.openxmlformats.org/drawingml/2006/main">
            <a:off x="9858375" y="3324225"/>
            <a:ext cx="876300" cy="285750"/>
          </a:xfrm>
          <a:prstGeom xmlns:a="http://schemas.openxmlformats.org/drawingml/2006/main" prst="roundRect">
            <a:avLst>
              <a:gd name="adj" fmla="val 50000"/>
            </a:avLst>
          </a:prstGeom>
          <a:solidFill xmlns:a="http://schemas.openxmlformats.org/drawingml/2006/main">
            <a:srgbClr val="E5E9E6"/>
          </a:solidFill>
          <a:ln xmlns:a="http://schemas.openxmlformats.org/drawingml/2006/main" w="9525">
            <a:solidFill>
              <a:srgbClr val="E5E9E6"/>
            </a:solidFill>
            <a:prstDash val="solid"/>
          </a:ln>
        </p:spPr>
      </p:sp>
      <p:sp>
        <p:nvSpPr>
          <p:cNvPr id="19" name="">
            <a:extLst xmlns:a="http://schemas.openxmlformats.org/drawingml/2006/main">
              <a:ext uri="{FF2B5EF4-FFF2-40B4-BE49-F238E27FC236}">
                <a16:creationId xmlns:a16="http://schemas.microsoft.com/office/drawing/2014/main" id="{E9C5E62D-3C1E-4348-A8D6-CD419671CCAA}"/>
              </a:ext>
            </a:extLst>
          </p:cNvPr>
          <p:cNvSpPr>
            <a:spLocks xmlns:a="http://schemas.openxmlformats.org/drawingml/2006/main" noGrp="1"/>
          </p:cNvSpPr>
          <p:nvPr/>
        </p:nvSpPr>
        <p:spPr>
          <a:xfrm xmlns:a="http://schemas.openxmlformats.org/drawingml/2006/main">
            <a:off x="9972675" y="3390900"/>
            <a:ext cx="647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900" b="1">
                <a:solidFill>
                  <a:srgbClr val="5D6B63"/>
                </a:solidFill>
                <a:latin typeface="Arial"/>
                <a:ea typeface="Arial"/>
                <a:cs typeface="Arial"/>
              </a:defRPr>
            </a:pPr>
            <a:r>
              <a:rPr sz="900" b="1">
                <a:solidFill>
                  <a:srgbClr val="5D6B63"/>
                </a:solidFill>
                <a:latin typeface="Arial"/>
                <a:ea typeface="Arial"/>
                <a:cs typeface="Arial"/>
              </a:rPr>
              <a:t>NEXT</a:t>
            </a:r>
          </a:p>
        </p:txBody>
      </p:sp>
      <p:sp>
        <p:nvSpPr>
          <p:cNvPr id="20" name="">
            <a:extLst xmlns:a="http://schemas.openxmlformats.org/drawingml/2006/main">
              <a:ext uri="{FF2B5EF4-FFF2-40B4-BE49-F238E27FC236}">
                <a16:creationId xmlns:a16="http://schemas.microsoft.com/office/drawing/2014/main" id="{CAD71B84-BC5B-41C3-AC5B-91D97CC78F85}"/>
              </a:ext>
            </a:extLst>
          </p:cNvPr>
          <p:cNvSpPr>
            <a:spLocks xmlns:a="http://schemas.openxmlformats.org/drawingml/2006/main" noGrp="1"/>
          </p:cNvSpPr>
          <p:nvPr/>
        </p:nvSpPr>
        <p:spPr>
          <a:xfrm xmlns:a="http://schemas.openxmlformats.org/drawingml/2006/main">
            <a:off x="609600" y="4171950"/>
            <a:ext cx="10287000" cy="904875"/>
          </a:xfrm>
          <a:prstGeom xmlns:a="http://schemas.openxmlformats.org/drawingml/2006/main" prst="rect">
            <a:avLst/>
          </a:prstGeom>
          <a:solidFill xmlns:a="http://schemas.openxmlformats.org/drawingml/2006/main">
            <a:srgbClr val="F4F7F4"/>
          </a:solidFill>
          <a:ln xmlns:a="http://schemas.openxmlformats.org/drawingml/2006/main" w="0">
            <a:solidFill>
              <a:srgbClr val="F4F7F4"/>
            </a:solidFill>
            <a:prstDash val="solid"/>
          </a:ln>
        </p:spPr>
      </p:sp>
      <p:sp>
        <p:nvSpPr>
          <p:cNvPr id="21" name="">
            <a:extLst xmlns:a="http://schemas.openxmlformats.org/drawingml/2006/main">
              <a:ext uri="{FF2B5EF4-FFF2-40B4-BE49-F238E27FC236}">
                <a16:creationId xmlns:a16="http://schemas.microsoft.com/office/drawing/2014/main" id="{FA2E878B-AE8C-436C-A892-E445EE371AE2}"/>
              </a:ext>
            </a:extLst>
          </p:cNvPr>
          <p:cNvSpPr>
            <a:spLocks xmlns:a="http://schemas.openxmlformats.org/drawingml/2006/main" noGrp="1"/>
          </p:cNvSpPr>
          <p:nvPr/>
        </p:nvSpPr>
        <p:spPr>
          <a:xfrm xmlns:a="http://schemas.openxmlformats.org/drawingml/2006/main">
            <a:off x="781050" y="4381500"/>
            <a:ext cx="1857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17221B"/>
                </a:solidFill>
                <a:latin typeface="Arial"/>
                <a:ea typeface="Arial"/>
                <a:cs typeface="Arial"/>
              </a:defRPr>
            </a:pPr>
            <a:r>
              <a:rPr sz="1800" b="1">
                <a:solidFill>
                  <a:srgbClr val="17221B"/>
                </a:solidFill>
                <a:latin typeface="Arial"/>
                <a:ea typeface="Arial"/>
                <a:cs typeface="Arial"/>
              </a:rPr>
              <a:t>SegFormer</a:t>
            </a:r>
          </a:p>
        </p:txBody>
      </p:sp>
      <p:sp>
        <p:nvSpPr>
          <p:cNvPr id="22" name="">
            <a:extLst xmlns:a="http://schemas.openxmlformats.org/drawingml/2006/main">
              <a:ext uri="{FF2B5EF4-FFF2-40B4-BE49-F238E27FC236}">
                <a16:creationId xmlns:a16="http://schemas.microsoft.com/office/drawing/2014/main" id="{EAF74698-4DB4-4AA3-8589-F7B4D0A560BF}"/>
              </a:ext>
            </a:extLst>
          </p:cNvPr>
          <p:cNvSpPr>
            <a:spLocks xmlns:a="http://schemas.openxmlformats.org/drawingml/2006/main" noGrp="1"/>
          </p:cNvSpPr>
          <p:nvPr/>
        </p:nvSpPr>
        <p:spPr>
          <a:xfrm xmlns:a="http://schemas.openxmlformats.org/drawingml/2006/main">
            <a:off x="2857500" y="4352925"/>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0">
                <a:solidFill>
                  <a:srgbClr val="17221B"/>
                </a:solidFill>
                <a:latin typeface="Arial"/>
                <a:ea typeface="Arial"/>
                <a:cs typeface="Arial"/>
              </a:defRPr>
            </a:pPr>
            <a:r>
              <a:rPr sz="1275" b="0">
                <a:solidFill>
                  <a:srgbClr val="17221B"/>
                </a:solidFill>
                <a:latin typeface="Arial"/>
                <a:ea typeface="Arial"/>
                <a:cs typeface="Arial"/>
              </a:rPr>
              <a:t>Hierarchical Transformer + MLP</a:t>
            </a:r>
          </a:p>
        </p:txBody>
      </p:sp>
      <p:sp>
        <p:nvSpPr>
          <p:cNvPr id="23" name="">
            <a:extLst xmlns:a="http://schemas.openxmlformats.org/drawingml/2006/main">
              <a:ext uri="{FF2B5EF4-FFF2-40B4-BE49-F238E27FC236}">
                <a16:creationId xmlns:a16="http://schemas.microsoft.com/office/drawing/2014/main" id="{A4D50FA8-0744-46E8-84A0-ACBBAB401F01}"/>
              </a:ext>
            </a:extLst>
          </p:cNvPr>
          <p:cNvSpPr>
            <a:spLocks xmlns:a="http://schemas.openxmlformats.org/drawingml/2006/main" noGrp="1"/>
          </p:cNvSpPr>
          <p:nvPr/>
        </p:nvSpPr>
        <p:spPr>
          <a:xfrm xmlns:a="http://schemas.openxmlformats.org/drawingml/2006/main">
            <a:off x="6191250" y="4352925"/>
            <a:ext cx="342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0">
                <a:solidFill>
                  <a:srgbClr val="17221B"/>
                </a:solidFill>
                <a:latin typeface="Arial"/>
                <a:ea typeface="Arial"/>
                <a:cs typeface="Arial"/>
              </a:defRPr>
            </a:pPr>
            <a:r>
              <a:rPr sz="1275" b="0">
                <a:solidFill>
                  <a:srgbClr val="17221B"/>
                </a:solidFill>
                <a:latin typeface="Arial"/>
                <a:ea typeface="Arial"/>
                <a:cs typeface="Arial"/>
              </a:rPr>
              <a:t>Global context; efficient scaling</a:t>
            </a:r>
          </a:p>
        </p:txBody>
      </p:sp>
      <p:sp>
        <p:nvSpPr>
          <p:cNvPr id="24" name="">
            <a:extLst xmlns:a="http://schemas.openxmlformats.org/drawingml/2006/main">
              <a:ext uri="{FF2B5EF4-FFF2-40B4-BE49-F238E27FC236}">
                <a16:creationId xmlns:a16="http://schemas.microsoft.com/office/drawing/2014/main" id="{DBC980C7-D025-4EC6-A8B8-3A485529226F}"/>
              </a:ext>
            </a:extLst>
          </p:cNvPr>
          <p:cNvSpPr>
            <a:spLocks xmlns:a="http://schemas.openxmlformats.org/drawingml/2006/main" noGrp="1"/>
          </p:cNvSpPr>
          <p:nvPr/>
        </p:nvSpPr>
        <p:spPr>
          <a:xfrm xmlns:a="http://schemas.openxmlformats.org/drawingml/2006/main">
            <a:off x="9858375" y="4448175"/>
            <a:ext cx="876300" cy="285750"/>
          </a:xfrm>
          <a:prstGeom xmlns:a="http://schemas.openxmlformats.org/drawingml/2006/main" prst="roundRect">
            <a:avLst>
              <a:gd name="adj" fmla="val 50000"/>
            </a:avLst>
          </a:prstGeom>
          <a:solidFill xmlns:a="http://schemas.openxmlformats.org/drawingml/2006/main">
            <a:srgbClr val="E5E9E6"/>
          </a:solidFill>
          <a:ln xmlns:a="http://schemas.openxmlformats.org/drawingml/2006/main" w="9525">
            <a:solidFill>
              <a:srgbClr val="E5E9E6"/>
            </a:solidFill>
            <a:prstDash val="solid"/>
          </a:ln>
        </p:spPr>
      </p:sp>
      <p:sp>
        <p:nvSpPr>
          <p:cNvPr id="25" name="">
            <a:extLst xmlns:a="http://schemas.openxmlformats.org/drawingml/2006/main">
              <a:ext uri="{FF2B5EF4-FFF2-40B4-BE49-F238E27FC236}">
                <a16:creationId xmlns:a16="http://schemas.microsoft.com/office/drawing/2014/main" id="{90D7B0C6-F6A3-42EF-AFA7-53442D0FD0D4}"/>
              </a:ext>
            </a:extLst>
          </p:cNvPr>
          <p:cNvSpPr>
            <a:spLocks xmlns:a="http://schemas.openxmlformats.org/drawingml/2006/main" noGrp="1"/>
          </p:cNvSpPr>
          <p:nvPr/>
        </p:nvSpPr>
        <p:spPr>
          <a:xfrm xmlns:a="http://schemas.openxmlformats.org/drawingml/2006/main">
            <a:off x="9972675" y="4514850"/>
            <a:ext cx="647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900" b="1">
                <a:solidFill>
                  <a:srgbClr val="5D6B63"/>
                </a:solidFill>
                <a:latin typeface="Arial"/>
                <a:ea typeface="Arial"/>
                <a:cs typeface="Arial"/>
              </a:defRPr>
            </a:pPr>
            <a:r>
              <a:rPr sz="900" b="1">
                <a:solidFill>
                  <a:srgbClr val="5D6B63"/>
                </a:solidFill>
                <a:latin typeface="Arial"/>
                <a:ea typeface="Arial"/>
                <a:cs typeface="Arial"/>
              </a:rPr>
              <a:t>LATER</a:t>
            </a:r>
          </a:p>
        </p:txBody>
      </p:sp>
      <p:sp>
        <p:nvSpPr>
          <p:cNvPr id="26" name="">
            <a:extLst xmlns:a="http://schemas.openxmlformats.org/drawingml/2006/main">
              <a:ext uri="{FF2B5EF4-FFF2-40B4-BE49-F238E27FC236}">
                <a16:creationId xmlns:a16="http://schemas.microsoft.com/office/drawing/2014/main" id="{4BF7350E-61DE-4DCD-9053-B59A00C067FB}"/>
              </a:ext>
            </a:extLst>
          </p:cNvPr>
          <p:cNvSpPr>
            <a:spLocks xmlns:a="http://schemas.openxmlformats.org/drawingml/2006/main" noGrp="1"/>
          </p:cNvSpPr>
          <p:nvPr/>
        </p:nvSpPr>
        <p:spPr>
          <a:xfrm xmlns:a="http://schemas.openxmlformats.org/drawingml/2006/main">
            <a:off x="666750" y="5572125"/>
            <a:ext cx="15716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1F7A55"/>
                </a:solidFill>
                <a:latin typeface="Arial"/>
                <a:ea typeface="Arial"/>
                <a:cs typeface="Arial"/>
              </a:defRPr>
            </a:pPr>
            <a:r>
              <a:rPr sz="1050" b="1">
                <a:solidFill>
                  <a:srgbClr val="1F7A55"/>
                </a:solidFill>
                <a:latin typeface="Arial"/>
                <a:ea typeface="Arial"/>
                <a:cs typeface="Arial"/>
              </a:rPr>
              <a:t>Why this baseline</a:t>
            </a:r>
          </a:p>
        </p:txBody>
      </p:sp>
      <p:sp>
        <p:nvSpPr>
          <p:cNvPr id="27" name="">
            <a:extLst xmlns:a="http://schemas.openxmlformats.org/drawingml/2006/main">
              <a:ext uri="{FF2B5EF4-FFF2-40B4-BE49-F238E27FC236}">
                <a16:creationId xmlns:a16="http://schemas.microsoft.com/office/drawing/2014/main" id="{4AAC40EA-7FE9-4790-B493-758FCCB60357}"/>
              </a:ext>
            </a:extLst>
          </p:cNvPr>
          <p:cNvSpPr>
            <a:spLocks xmlns:a="http://schemas.openxmlformats.org/drawingml/2006/main" noGrp="1"/>
          </p:cNvSpPr>
          <p:nvPr/>
        </p:nvSpPr>
        <p:spPr>
          <a:xfrm xmlns:a="http://schemas.openxmlformats.org/drawingml/2006/main">
            <a:off x="2333625" y="5514975"/>
            <a:ext cx="8524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492"/>
          </a:bodyPr>
          <a:lstStyle xmlns:a="http://schemas.openxmlformats.org/drawingml/2006/main"/>
          <a:p xmlns:a="http://schemas.openxmlformats.org/drawingml/2006/main">
            <a:pPr algn="l">
              <a:buNone/>
              <a:defRPr sz="1500" b="1">
                <a:solidFill>
                  <a:srgbClr val="17221B"/>
                </a:solidFill>
                <a:latin typeface="Arial"/>
                <a:ea typeface="Arial"/>
                <a:cs typeface="Arial"/>
              </a:defRPr>
            </a:pPr>
            <a:r>
              <a:rPr sz="1500" b="1">
                <a:solidFill>
                  <a:srgbClr val="17221B"/>
                </a:solidFill>
                <a:latin typeface="Arial"/>
                <a:ea typeface="Arial"/>
                <a:cs typeface="Arial"/>
              </a:rPr>
              <a:t>Pretrained ResNet50 features + an interpretable decoder; suitable for a small, imbalanced first experiment.</a:t>
            </a:r>
          </a:p>
        </p:txBody>
      </p:sp>
      <p:sp>
        <p:nvSpPr>
          <p:cNvPr id="28" name="">
            <a:extLst xmlns:a="http://schemas.openxmlformats.org/drawingml/2006/main">
              <a:ext uri="{FF2B5EF4-FFF2-40B4-BE49-F238E27FC236}">
                <a16:creationId xmlns:a16="http://schemas.microsoft.com/office/drawing/2014/main" id="{FBD59368-72B0-4C1E-BD80-156422FFABE5}"/>
              </a:ext>
            </a:extLst>
          </p:cNvPr>
          <p:cNvSpPr>
            <a:spLocks xmlns:a="http://schemas.openxmlformats.org/drawingml/2006/main" noGrp="1"/>
          </p:cNvSpPr>
          <p:nvPr/>
        </p:nvSpPr>
        <p:spPr>
          <a:xfrm xmlns:a="http://schemas.openxmlformats.org/drawingml/2006/main">
            <a:off x="647700" y="22860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1F7A55"/>
                </a:solidFill>
                <a:latin typeface="Arial"/>
                <a:ea typeface="Arial"/>
                <a:cs typeface="Arial"/>
              </a:defRPr>
            </a:pPr>
            <a:r>
              <a:rPr sz="900" b="1">
                <a:solidFill>
                  <a:srgbClr val="1F7A55"/>
                </a:solidFill>
                <a:latin typeface="Arial"/>
                <a:ea typeface="Arial"/>
                <a:cs typeface="Arial"/>
              </a:rPr>
              <a:t>GREEN-ROOF MAPPING</a:t>
            </a:r>
          </a:p>
        </p:txBody>
      </p:sp>
      <p:sp>
        <p:nvSpPr>
          <p:cNvPr id="29" name="">
            <a:extLst xmlns:a="http://schemas.openxmlformats.org/drawingml/2006/main">
              <a:ext uri="{FF2B5EF4-FFF2-40B4-BE49-F238E27FC236}">
                <a16:creationId xmlns:a16="http://schemas.microsoft.com/office/drawing/2014/main" id="{BB6BA813-D954-452F-84C0-FFE9E4AEA27C}"/>
              </a:ext>
            </a:extLst>
          </p:cNvPr>
          <p:cNvSpPr>
            <a:spLocks xmlns:a="http://schemas.openxmlformats.org/drawingml/2006/main" noGrp="1"/>
          </p:cNvSpPr>
          <p:nvPr/>
        </p:nvSpPr>
        <p:spPr>
          <a:xfrm xmlns:a="http://schemas.openxmlformats.org/drawingml/2006/main">
            <a:off x="647700" y="1257300"/>
            <a:ext cx="10839450" cy="9525"/>
          </a:xfrm>
          <a:prstGeom xmlns:a="http://schemas.openxmlformats.org/drawingml/2006/main" prst="rect">
            <a:avLst/>
          </a:prstGeom>
          <a:solidFill xmlns:a="http://schemas.openxmlformats.org/drawingml/2006/main">
            <a:srgbClr val="C6D0C9"/>
          </a:solidFill>
          <a:ln xmlns:a="http://schemas.openxmlformats.org/drawingml/2006/main" w="0">
            <a:solidFill>
              <a:srgbClr val="C6D0C9"/>
            </a:solidFill>
            <a:prstDash val="solid"/>
          </a:ln>
        </p:spPr>
      </p:sp>
      <p:sp>
        <p:nvSpPr>
          <p:cNvPr id="30" name="">
            <a:extLst xmlns:a="http://schemas.openxmlformats.org/drawingml/2006/main">
              <a:ext uri="{FF2B5EF4-FFF2-40B4-BE49-F238E27FC236}">
                <a16:creationId xmlns:a16="http://schemas.microsoft.com/office/drawing/2014/main" id="{48D2BFC9-6A30-428F-A289-51B4C4C3BC6C}"/>
              </a:ext>
            </a:extLst>
          </p:cNvPr>
          <p:cNvSpPr>
            <a:spLocks xmlns:a="http://schemas.openxmlformats.org/drawingml/2006/main" noGrp="1"/>
          </p:cNvSpPr>
          <p:nvPr/>
        </p:nvSpPr>
        <p:spPr>
          <a:xfrm xmlns:a="http://schemas.openxmlformats.org/drawingml/2006/main">
            <a:off x="571500" y="6457950"/>
            <a:ext cx="9906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0">
                <a:solidFill>
                  <a:srgbClr val="5D6B63"/>
                </a:solidFill>
                <a:latin typeface="Arial"/>
                <a:ea typeface="Arial"/>
                <a:cs typeface="Arial"/>
              </a:defRPr>
            </a:pPr>
            <a:r>
              <a:rPr sz="750" b="0">
                <a:solidFill>
                  <a:srgbClr val="5D6B63"/>
                </a:solidFill>
                <a:latin typeface="Arial"/>
                <a:ea typeface="Arial"/>
                <a:cs typeface="Arial"/>
              </a:rPr>
              <a:t>Sources: Ronneberger et al. 2015; Chen et al. 2018; Xie et al. 2021</a:t>
            </a:r>
          </a:p>
        </p:txBody>
      </p:sp>
    </p:spTree>
    <p:extLst>
      <p:ext uri="{BB962C8B-B14F-4D97-AF65-F5344CB8AC3E}">
        <p14:creationId xmlns:p14="http://schemas.microsoft.com/office/powerpoint/2010/main" val="85751927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265B938C-A7F8-4FAE-8419-7F9D5F80C024}"/>
              </a:ext>
            </a:extLst>
          </p:cNvPr>
          <p:cNvSpPr>
            <a:spLocks xmlns:a="http://schemas.openxmlformats.org/drawingml/2006/main" noGrp="1"/>
          </p:cNvSpPr>
          <p:nvPr/>
        </p:nvSpPr>
        <p:spPr>
          <a:xfrm xmlns:a="http://schemas.openxmlformats.org/drawingml/2006/main">
            <a:off x="647700" y="22860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1F7A55"/>
                </a:solidFill>
                <a:latin typeface="Arial"/>
                <a:ea typeface="Arial"/>
                <a:cs typeface="Arial"/>
              </a:defRPr>
            </a:pPr>
            <a:r>
              <a:rPr sz="900" b="1">
                <a:solidFill>
                  <a:srgbClr val="1F7A55"/>
                </a:solidFill>
                <a:latin typeface="Arial"/>
                <a:ea typeface="Arial"/>
                <a:cs typeface="Arial"/>
              </a:rPr>
              <a:t>PROPOSED METHOD</a:t>
            </a:r>
          </a:p>
        </p:txBody>
      </p:sp>
      <p:sp>
        <p:nvSpPr>
          <p:cNvPr id="2" name="">
            <a:extLst xmlns:a="http://schemas.openxmlformats.org/drawingml/2006/main">
              <a:ext uri="{FF2B5EF4-FFF2-40B4-BE49-F238E27FC236}">
                <a16:creationId xmlns:a16="http://schemas.microsoft.com/office/drawing/2014/main" id="{B9F3571A-7994-411C-BAAC-D31D232F4684}"/>
              </a:ext>
            </a:extLst>
          </p:cNvPr>
          <p:cNvSpPr>
            <a:spLocks xmlns:a="http://schemas.openxmlformats.org/drawingml/2006/main" noGrp="1"/>
          </p:cNvSpPr>
          <p:nvPr/>
        </p:nvSpPr>
        <p:spPr>
          <a:xfrm xmlns:a="http://schemas.openxmlformats.org/drawingml/2006/main">
            <a:off x="647700" y="60960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7221B"/>
                </a:solidFill>
                <a:latin typeface="Arial"/>
                <a:ea typeface="Arial"/>
                <a:cs typeface="Arial"/>
              </a:defRPr>
            </a:pPr>
            <a:r>
              <a:rPr sz="2325" b="1">
                <a:solidFill>
                  <a:srgbClr val="17221B"/>
                </a:solidFill>
                <a:latin typeface="Arial"/>
                <a:ea typeface="Arial"/>
                <a:cs typeface="Arial"/>
              </a:rPr>
              <a:t>GIS preprocessing turns roof polygons into aligned masks</a:t>
            </a:r>
          </a:p>
        </p:txBody>
      </p:sp>
      <p:cxnSp>
        <p:nvCxnSpPr>
          <p:cNvPr id="66" name=""/>
          <p:cNvCxnSpPr/>
          <p:nvPr/>
        </p:nvCxnSpPr>
        <p:spPr>
          <a:xfrm xmlns:a="http://schemas.openxmlformats.org/drawingml/2006/main">
            <a:off x="647700" y="1257300"/>
            <a:ext cx="10839450" cy="0"/>
          </a:xfrm>
          <a:prstGeom xmlns:a="http://schemas.openxmlformats.org/drawingml/2006/main" prst="straightConnector1">
            <a:avLst/>
          </a:prstGeom>
          <a:ln xmlns:a="http://schemas.openxmlformats.org/drawingml/2006/main" w="9525">
            <a:solidFill>
              <a:srgbClr val="C6D0C9"/>
            </a:solidFill>
            <a:prstDash val="solid"/>
          </a:ln>
        </p:spPr>
      </p:cxnSp>
      <p:sp>
        <p:nvSpPr>
          <p:cNvPr id="4" name="">
            <a:extLst xmlns:a="http://schemas.openxmlformats.org/drawingml/2006/main">
              <a:ext uri="{FF2B5EF4-FFF2-40B4-BE49-F238E27FC236}">
                <a16:creationId xmlns:a16="http://schemas.microsoft.com/office/drawing/2014/main" id="{128ADF5E-46A5-4DE0-ADC1-398BB68CC2FB}"/>
              </a:ext>
            </a:extLst>
          </p:cNvPr>
          <p:cNvSpPr>
            <a:spLocks xmlns:a="http://schemas.openxmlformats.org/drawingml/2006/main" noGrp="1"/>
          </p:cNvSpPr>
          <p:nvPr/>
        </p:nvSpPr>
        <p:spPr>
          <a:xfrm xmlns:a="http://schemas.openxmlformats.org/drawingml/2006/main">
            <a:off x="11382375" y="64389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a:solidFill>
                  <a:srgbClr val="5D6B63"/>
                </a:solidFill>
                <a:latin typeface="Arial"/>
                <a:ea typeface="Arial"/>
                <a:cs typeface="Arial"/>
              </a:defRPr>
            </a:pPr>
            <a:r>
              <a:rPr sz="900" b="0">
                <a:solidFill>
                  <a:srgbClr val="5D6B63"/>
                </a:solidFill>
                <a:latin typeface="Arial"/>
                <a:ea typeface="Arial"/>
                <a:cs typeface="Arial"/>
              </a:rPr>
              <a:t>06</a:t>
            </a:r>
          </a:p>
        </p:txBody>
      </p:sp>
      <p:pic>
        <p:nvPicPr>
          <p:cNvPr id="68" name=""/>
          <p:cNvPicPr>
            <a:picLocks xmlns:a="http://schemas.openxmlformats.org/drawingml/2006/main" noChangeAspect="1"/>
          </p:cNvPicPr>
          <p:nvPr/>
        </p:nvPicPr>
        <p:blipFill>
          <a:blip xmlns:r="http://schemas.openxmlformats.org/officeDocument/2006/relationships" xmlns:a="http://schemas.openxmlformats.org/drawingml/2006/main" r:embed="Rf2eed291501f45c0"/>
          <a:srcRect xmlns:a="http://schemas.openxmlformats.org/drawingml/2006/main" l="0" t="0" r="0" b="0"/>
          <a:stretch xmlns:a="http://schemas.openxmlformats.org/drawingml/2006/main">
            <a:fillRect l="0" t="0" r="0" b="0"/>
          </a:stretch>
        </p:blipFill>
        <p:spPr>
          <a:xfrm xmlns:a="http://schemas.openxmlformats.org/drawingml/2006/main">
            <a:off x="552450" y="1524000"/>
            <a:ext cx="2952750" cy="2952750"/>
          </a:xfrm>
          <a:prstGeom xmlns:a="http://schemas.openxmlformats.org/drawingml/2006/main" prst="rect">
            <a:avLst/>
          </a:prstGeom>
        </p:spPr>
      </p:pic>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8af0884403d04f3e"/>
          <a:stretch xmlns:a="http://schemas.openxmlformats.org/drawingml/2006/main"/>
        </p:blipFill>
        <p:spPr>
          <a:xfrm xmlns:a="http://schemas.openxmlformats.org/drawingml/2006/main">
            <a:off x="8553450" y="1524000"/>
            <a:ext cx="2952750" cy="29527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CE765D6-B028-430F-803D-5E14EA1E6813}"/>
              </a:ext>
            </a:extLst>
          </p:cNvPr>
          <p:cNvSpPr>
            <a:spLocks xmlns:a="http://schemas.openxmlformats.org/drawingml/2006/main" noGrp="1"/>
          </p:cNvSpPr>
          <p:nvPr/>
        </p:nvSpPr>
        <p:spPr>
          <a:xfrm xmlns:a="http://schemas.openxmlformats.org/drawingml/2006/main">
            <a:off x="3790950" y="1552575"/>
            <a:ext cx="304800" cy="304800"/>
          </a:xfrm>
          <a:prstGeom xmlns:a="http://schemas.openxmlformats.org/drawingml/2006/main" prst="ellipse">
            <a:avLst/>
          </a:prstGeom>
          <a:solidFill xmlns:a="http://schemas.openxmlformats.org/drawingml/2006/main">
            <a:srgbClr val="188F91"/>
          </a:solidFill>
          <a:ln xmlns:a="http://schemas.openxmlformats.org/drawingml/2006/main" w="0">
            <a:solidFill>
              <a:srgbClr val="188F91"/>
            </a:solidFill>
            <a:prstDash val="solid"/>
          </a:ln>
        </p:spPr>
      </p:sp>
      <p:sp>
        <p:nvSpPr>
          <p:cNvPr id="8" name="">
            <a:extLst xmlns:a="http://schemas.openxmlformats.org/drawingml/2006/main">
              <a:ext uri="{FF2B5EF4-FFF2-40B4-BE49-F238E27FC236}">
                <a16:creationId xmlns:a16="http://schemas.microsoft.com/office/drawing/2014/main" id="{3BFDF30E-C3FB-4EED-9673-862765D62A8E}"/>
              </a:ext>
            </a:extLst>
          </p:cNvPr>
          <p:cNvSpPr>
            <a:spLocks xmlns:a="http://schemas.openxmlformats.org/drawingml/2006/main" noGrp="1"/>
          </p:cNvSpPr>
          <p:nvPr/>
        </p:nvSpPr>
        <p:spPr>
          <a:xfrm xmlns:a="http://schemas.openxmlformats.org/drawingml/2006/main">
            <a:off x="3790950" y="1619250"/>
            <a:ext cx="3048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975" b="1">
                <a:solidFill>
                  <a:srgbClr val="FFFFFF"/>
                </a:solidFill>
                <a:latin typeface="Arial"/>
                <a:ea typeface="Arial"/>
                <a:cs typeface="Arial"/>
              </a:defRPr>
            </a:pPr>
            <a:r>
              <a:rPr sz="975" b="1">
                <a:solidFill>
                  <a:srgbClr val="FFFFFF"/>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771F5631-028D-4B52-A47F-16D39A9C4E81}"/>
              </a:ext>
            </a:extLst>
          </p:cNvPr>
          <p:cNvSpPr>
            <a:spLocks xmlns:a="http://schemas.openxmlformats.org/drawingml/2006/main" noGrp="1"/>
          </p:cNvSpPr>
          <p:nvPr/>
        </p:nvSpPr>
        <p:spPr>
          <a:xfrm xmlns:a="http://schemas.openxmlformats.org/drawingml/2006/main">
            <a:off x="4248150" y="15716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7221B"/>
                </a:solidFill>
                <a:latin typeface="Arial"/>
                <a:ea typeface="Arial"/>
                <a:cs typeface="Arial"/>
              </a:defRPr>
            </a:pPr>
            <a:r>
              <a:rPr sz="1125" b="1">
                <a:solidFill>
                  <a:srgbClr val="17221B"/>
                </a:solidFill>
                <a:latin typeface="Arial"/>
                <a:ea typeface="Arial"/>
                <a:cs typeface="Arial"/>
              </a:rPr>
              <a:t>XYZ tile</a:t>
            </a:r>
          </a:p>
        </p:txBody>
      </p:sp>
      <p:sp>
        <p:nvSpPr>
          <p:cNvPr id="10" name="">
            <a:extLst xmlns:a="http://schemas.openxmlformats.org/drawingml/2006/main">
              <a:ext uri="{FF2B5EF4-FFF2-40B4-BE49-F238E27FC236}">
                <a16:creationId xmlns:a16="http://schemas.microsoft.com/office/drawing/2014/main" id="{6513BA4C-B324-42C9-BDC1-C12CA4E4BD2C}"/>
              </a:ext>
            </a:extLst>
          </p:cNvPr>
          <p:cNvSpPr>
            <a:spLocks xmlns:a="http://schemas.openxmlformats.org/drawingml/2006/main" noGrp="1"/>
          </p:cNvSpPr>
          <p:nvPr/>
        </p:nvSpPr>
        <p:spPr>
          <a:xfrm xmlns:a="http://schemas.openxmlformats.org/drawingml/2006/main">
            <a:off x="5772150" y="15811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a:solidFill>
                  <a:srgbClr val="5D6B63"/>
                </a:solidFill>
                <a:latin typeface="Arial"/>
                <a:ea typeface="Arial"/>
                <a:cs typeface="Arial"/>
              </a:defRPr>
            </a:pPr>
            <a:r>
              <a:rPr sz="900" b="0">
                <a:solidFill>
                  <a:srgbClr val="5D6B63"/>
                </a:solidFill>
                <a:latin typeface="Arial"/>
                <a:ea typeface="Arial"/>
                <a:cs typeface="Arial"/>
              </a:rPr>
              <a:t>z / x / y key</a:t>
            </a:r>
          </a:p>
        </p:txBody>
      </p:sp>
      <p:cxnSp>
        <p:nvCxnSpPr>
          <p:cNvPr id="74" name=""/>
          <p:cNvCxnSpPr/>
          <p:nvPr/>
        </p:nvCxnSpPr>
        <p:spPr>
          <a:xfrm xmlns:a="http://schemas.openxmlformats.org/drawingml/2006/main">
            <a:off x="3943350" y="1876425"/>
            <a:ext cx="0" cy="219075"/>
          </a:xfrm>
          <a:prstGeom xmlns:a="http://schemas.openxmlformats.org/drawingml/2006/main" prst="straightConnector1">
            <a:avLst/>
          </a:prstGeom>
          <a:ln xmlns:a="http://schemas.openxmlformats.org/drawingml/2006/main" w="19050">
            <a:solidFill>
              <a:srgbClr val="C6D0C9"/>
            </a:solidFill>
            <a:prstDash val="solid"/>
          </a:ln>
        </p:spPr>
      </p:cxnSp>
      <p:sp>
        <p:nvSpPr>
          <p:cNvPr id="12" name="">
            <a:extLst xmlns:a="http://schemas.openxmlformats.org/drawingml/2006/main">
              <a:ext uri="{FF2B5EF4-FFF2-40B4-BE49-F238E27FC236}">
                <a16:creationId xmlns:a16="http://schemas.microsoft.com/office/drawing/2014/main" id="{9D253DE6-FB7C-4B6A-82BF-CC66529DD285}"/>
              </a:ext>
            </a:extLst>
          </p:cNvPr>
          <p:cNvSpPr>
            <a:spLocks xmlns:a="http://schemas.openxmlformats.org/drawingml/2006/main" noGrp="1"/>
          </p:cNvSpPr>
          <p:nvPr/>
        </p:nvSpPr>
        <p:spPr>
          <a:xfrm xmlns:a="http://schemas.openxmlformats.org/drawingml/2006/main">
            <a:off x="3790950" y="2114550"/>
            <a:ext cx="304800" cy="304800"/>
          </a:xfrm>
          <a:prstGeom xmlns:a="http://schemas.openxmlformats.org/drawingml/2006/main" prst="ellipse">
            <a:avLst/>
          </a:prstGeom>
          <a:solidFill xmlns:a="http://schemas.openxmlformats.org/drawingml/2006/main">
            <a:srgbClr val="188F91"/>
          </a:solidFill>
          <a:ln xmlns:a="http://schemas.openxmlformats.org/drawingml/2006/main" w="0">
            <a:solidFill>
              <a:srgbClr val="188F91"/>
            </a:solidFill>
            <a:prstDash val="solid"/>
          </a:ln>
        </p:spPr>
      </p:sp>
      <p:sp>
        <p:nvSpPr>
          <p:cNvPr id="13" name="">
            <a:extLst xmlns:a="http://schemas.openxmlformats.org/drawingml/2006/main">
              <a:ext uri="{FF2B5EF4-FFF2-40B4-BE49-F238E27FC236}">
                <a16:creationId xmlns:a16="http://schemas.microsoft.com/office/drawing/2014/main" id="{594648A3-D925-455A-B522-8F93A435C02F}"/>
              </a:ext>
            </a:extLst>
          </p:cNvPr>
          <p:cNvSpPr>
            <a:spLocks xmlns:a="http://schemas.openxmlformats.org/drawingml/2006/main" noGrp="1"/>
          </p:cNvSpPr>
          <p:nvPr/>
        </p:nvSpPr>
        <p:spPr>
          <a:xfrm xmlns:a="http://schemas.openxmlformats.org/drawingml/2006/main">
            <a:off x="3790950" y="2181225"/>
            <a:ext cx="3048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975" b="1">
                <a:solidFill>
                  <a:srgbClr val="FFFFFF"/>
                </a:solidFill>
                <a:latin typeface="Arial"/>
                <a:ea typeface="Arial"/>
                <a:cs typeface="Arial"/>
              </a:defRPr>
            </a:pPr>
            <a:r>
              <a:rPr sz="975" b="1">
                <a:solidFill>
                  <a:srgbClr val="FFFFFF"/>
                </a:solidFill>
                <a:latin typeface="Arial"/>
                <a:ea typeface="Arial"/>
                <a:cs typeface="Arial"/>
              </a:rPr>
              <a:t>2</a:t>
            </a:r>
          </a:p>
        </p:txBody>
      </p:sp>
      <p:sp>
        <p:nvSpPr>
          <p:cNvPr id="14" name="">
            <a:extLst xmlns:a="http://schemas.openxmlformats.org/drawingml/2006/main">
              <a:ext uri="{FF2B5EF4-FFF2-40B4-BE49-F238E27FC236}">
                <a16:creationId xmlns:a16="http://schemas.microsoft.com/office/drawing/2014/main" id="{00AD528C-4618-4328-9100-4D584BEADDE6}"/>
              </a:ext>
            </a:extLst>
          </p:cNvPr>
          <p:cNvSpPr>
            <a:spLocks xmlns:a="http://schemas.openxmlformats.org/drawingml/2006/main" noGrp="1"/>
          </p:cNvSpPr>
          <p:nvPr/>
        </p:nvSpPr>
        <p:spPr>
          <a:xfrm xmlns:a="http://schemas.openxmlformats.org/drawingml/2006/main">
            <a:off x="4248150" y="213360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7221B"/>
                </a:solidFill>
                <a:latin typeface="Arial"/>
                <a:ea typeface="Arial"/>
                <a:cs typeface="Arial"/>
              </a:defRPr>
            </a:pPr>
            <a:r>
              <a:rPr sz="1125" b="1">
                <a:solidFill>
                  <a:srgbClr val="17221B"/>
                </a:solidFill>
                <a:latin typeface="Arial"/>
                <a:ea typeface="Arial"/>
                <a:cs typeface="Arial"/>
              </a:rPr>
              <a:t>Tile bounds</a:t>
            </a:r>
          </a:p>
        </p:txBody>
      </p:sp>
      <p:sp>
        <p:nvSpPr>
          <p:cNvPr id="15" name="">
            <a:extLst xmlns:a="http://schemas.openxmlformats.org/drawingml/2006/main">
              <a:ext uri="{FF2B5EF4-FFF2-40B4-BE49-F238E27FC236}">
                <a16:creationId xmlns:a16="http://schemas.microsoft.com/office/drawing/2014/main" id="{BE1EEC16-5988-44DF-A8C0-2945BBF5B475}"/>
              </a:ext>
            </a:extLst>
          </p:cNvPr>
          <p:cNvSpPr>
            <a:spLocks xmlns:a="http://schemas.openxmlformats.org/drawingml/2006/main" noGrp="1"/>
          </p:cNvSpPr>
          <p:nvPr/>
        </p:nvSpPr>
        <p:spPr>
          <a:xfrm xmlns:a="http://schemas.openxmlformats.org/drawingml/2006/main">
            <a:off x="5772150" y="2143125"/>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a:solidFill>
                  <a:srgbClr val="5D6B63"/>
                </a:solidFill>
                <a:latin typeface="Arial"/>
                <a:ea typeface="Arial"/>
                <a:cs typeface="Arial"/>
              </a:defRPr>
            </a:pPr>
            <a:r>
              <a:rPr sz="900" b="0">
                <a:solidFill>
                  <a:srgbClr val="5D6B63"/>
                </a:solidFill>
                <a:latin typeface="Arial"/>
                <a:ea typeface="Arial"/>
                <a:cs typeface="Arial"/>
              </a:rPr>
              <a:t>mercantile.xy_bounds</a:t>
            </a:r>
          </a:p>
        </p:txBody>
      </p:sp>
      <p:cxnSp>
        <p:nvCxnSpPr>
          <p:cNvPr id="79" name=""/>
          <p:cNvCxnSpPr/>
          <p:nvPr/>
        </p:nvCxnSpPr>
        <p:spPr>
          <a:xfrm xmlns:a="http://schemas.openxmlformats.org/drawingml/2006/main">
            <a:off x="3943350" y="2438400"/>
            <a:ext cx="0" cy="219075"/>
          </a:xfrm>
          <a:prstGeom xmlns:a="http://schemas.openxmlformats.org/drawingml/2006/main" prst="straightConnector1">
            <a:avLst/>
          </a:prstGeom>
          <a:ln xmlns:a="http://schemas.openxmlformats.org/drawingml/2006/main" w="19050">
            <a:solidFill>
              <a:srgbClr val="C6D0C9"/>
            </a:solidFill>
            <a:prstDash val="solid"/>
          </a:ln>
        </p:spPr>
      </p:cxnSp>
      <p:sp>
        <p:nvSpPr>
          <p:cNvPr id="17" name="">
            <a:extLst xmlns:a="http://schemas.openxmlformats.org/drawingml/2006/main">
              <a:ext uri="{FF2B5EF4-FFF2-40B4-BE49-F238E27FC236}">
                <a16:creationId xmlns:a16="http://schemas.microsoft.com/office/drawing/2014/main" id="{77A5350E-5B42-4F51-B735-F41516AB7C93}"/>
              </a:ext>
            </a:extLst>
          </p:cNvPr>
          <p:cNvSpPr>
            <a:spLocks xmlns:a="http://schemas.openxmlformats.org/drawingml/2006/main" noGrp="1"/>
          </p:cNvSpPr>
          <p:nvPr/>
        </p:nvSpPr>
        <p:spPr>
          <a:xfrm xmlns:a="http://schemas.openxmlformats.org/drawingml/2006/main">
            <a:off x="3790950" y="2676525"/>
            <a:ext cx="304800" cy="304800"/>
          </a:xfrm>
          <a:prstGeom xmlns:a="http://schemas.openxmlformats.org/drawingml/2006/main" prst="ellipse">
            <a:avLst/>
          </a:prstGeom>
          <a:solidFill xmlns:a="http://schemas.openxmlformats.org/drawingml/2006/main">
            <a:srgbClr val="188F91"/>
          </a:solidFill>
          <a:ln xmlns:a="http://schemas.openxmlformats.org/drawingml/2006/main" w="0">
            <a:solidFill>
              <a:srgbClr val="188F91"/>
            </a:solidFill>
            <a:prstDash val="solid"/>
          </a:ln>
        </p:spPr>
      </p:sp>
      <p:sp>
        <p:nvSpPr>
          <p:cNvPr id="18" name="">
            <a:extLst xmlns:a="http://schemas.openxmlformats.org/drawingml/2006/main">
              <a:ext uri="{FF2B5EF4-FFF2-40B4-BE49-F238E27FC236}">
                <a16:creationId xmlns:a16="http://schemas.microsoft.com/office/drawing/2014/main" id="{DA58229F-AE91-4862-A501-514A86AD544A}"/>
              </a:ext>
            </a:extLst>
          </p:cNvPr>
          <p:cNvSpPr>
            <a:spLocks xmlns:a="http://schemas.openxmlformats.org/drawingml/2006/main" noGrp="1"/>
          </p:cNvSpPr>
          <p:nvPr/>
        </p:nvSpPr>
        <p:spPr>
          <a:xfrm xmlns:a="http://schemas.openxmlformats.org/drawingml/2006/main">
            <a:off x="3790950" y="2743200"/>
            <a:ext cx="3048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975" b="1">
                <a:solidFill>
                  <a:srgbClr val="FFFFFF"/>
                </a:solidFill>
                <a:latin typeface="Arial"/>
                <a:ea typeface="Arial"/>
                <a:cs typeface="Arial"/>
              </a:defRPr>
            </a:pPr>
            <a:r>
              <a:rPr sz="975" b="1">
                <a:solidFill>
                  <a:srgbClr val="FFFFFF"/>
                </a:solidFill>
                <a:latin typeface="Arial"/>
                <a:ea typeface="Arial"/>
                <a:cs typeface="Arial"/>
              </a:rPr>
              <a:t>3</a:t>
            </a:r>
          </a:p>
        </p:txBody>
      </p:sp>
      <p:sp>
        <p:nvSpPr>
          <p:cNvPr id="19" name="">
            <a:extLst xmlns:a="http://schemas.openxmlformats.org/drawingml/2006/main">
              <a:ext uri="{FF2B5EF4-FFF2-40B4-BE49-F238E27FC236}">
                <a16:creationId xmlns:a16="http://schemas.microsoft.com/office/drawing/2014/main" id="{D83D8FE9-C1A9-47C2-969B-B444DFDA09FA}"/>
              </a:ext>
            </a:extLst>
          </p:cNvPr>
          <p:cNvSpPr>
            <a:spLocks xmlns:a="http://schemas.openxmlformats.org/drawingml/2006/main" noGrp="1"/>
          </p:cNvSpPr>
          <p:nvPr/>
        </p:nvSpPr>
        <p:spPr>
          <a:xfrm xmlns:a="http://schemas.openxmlformats.org/drawingml/2006/main">
            <a:off x="4248150" y="269557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7221B"/>
                </a:solidFill>
                <a:latin typeface="Arial"/>
                <a:ea typeface="Arial"/>
                <a:cs typeface="Arial"/>
              </a:defRPr>
            </a:pPr>
            <a:r>
              <a:rPr sz="1125" b="1">
                <a:solidFill>
                  <a:srgbClr val="17221B"/>
                </a:solidFill>
                <a:latin typeface="Arial"/>
                <a:ea typeface="Arial"/>
                <a:cs typeface="Arial"/>
              </a:rPr>
              <a:t>Intersect labels</a:t>
            </a:r>
          </a:p>
        </p:txBody>
      </p:sp>
      <p:sp>
        <p:nvSpPr>
          <p:cNvPr id="20" name="">
            <a:extLst xmlns:a="http://schemas.openxmlformats.org/drawingml/2006/main">
              <a:ext uri="{FF2B5EF4-FFF2-40B4-BE49-F238E27FC236}">
                <a16:creationId xmlns:a16="http://schemas.microsoft.com/office/drawing/2014/main" id="{CA7BAC8F-4750-4446-91E8-78B90195E662}"/>
              </a:ext>
            </a:extLst>
          </p:cNvPr>
          <p:cNvSpPr>
            <a:spLocks xmlns:a="http://schemas.openxmlformats.org/drawingml/2006/main" noGrp="1"/>
          </p:cNvSpPr>
          <p:nvPr/>
        </p:nvSpPr>
        <p:spPr>
          <a:xfrm xmlns:a="http://schemas.openxmlformats.org/drawingml/2006/main">
            <a:off x="5772150" y="270510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a:solidFill>
                  <a:srgbClr val="5D6B63"/>
                </a:solidFill>
                <a:latin typeface="Arial"/>
                <a:ea typeface="Arial"/>
                <a:cs typeface="Arial"/>
              </a:defRPr>
            </a:pPr>
            <a:r>
              <a:rPr sz="900" b="0">
                <a:solidFill>
                  <a:srgbClr val="5D6B63"/>
                </a:solidFill>
                <a:latin typeface="Arial"/>
                <a:ea typeface="Arial"/>
                <a:cs typeface="Arial"/>
              </a:rPr>
              <a:t>Shapely in EPSG:3857</a:t>
            </a:r>
          </a:p>
        </p:txBody>
      </p:sp>
      <p:cxnSp>
        <p:nvCxnSpPr>
          <p:cNvPr id="84" name=""/>
          <p:cNvCxnSpPr/>
          <p:nvPr/>
        </p:nvCxnSpPr>
        <p:spPr>
          <a:xfrm xmlns:a="http://schemas.openxmlformats.org/drawingml/2006/main">
            <a:off x="3943350" y="3000375"/>
            <a:ext cx="0" cy="219075"/>
          </a:xfrm>
          <a:prstGeom xmlns:a="http://schemas.openxmlformats.org/drawingml/2006/main" prst="straightConnector1">
            <a:avLst/>
          </a:prstGeom>
          <a:ln xmlns:a="http://schemas.openxmlformats.org/drawingml/2006/main" w="19050">
            <a:solidFill>
              <a:srgbClr val="C6D0C9"/>
            </a:solidFill>
            <a:prstDash val="solid"/>
          </a:ln>
        </p:spPr>
      </p:cxnSp>
      <p:sp>
        <p:nvSpPr>
          <p:cNvPr id="22" name="">
            <a:extLst xmlns:a="http://schemas.openxmlformats.org/drawingml/2006/main">
              <a:ext uri="{FF2B5EF4-FFF2-40B4-BE49-F238E27FC236}">
                <a16:creationId xmlns:a16="http://schemas.microsoft.com/office/drawing/2014/main" id="{12ACB5AE-8E2C-4BE5-A6F4-24B8E44D18EF}"/>
              </a:ext>
            </a:extLst>
          </p:cNvPr>
          <p:cNvSpPr>
            <a:spLocks xmlns:a="http://schemas.openxmlformats.org/drawingml/2006/main" noGrp="1"/>
          </p:cNvSpPr>
          <p:nvPr/>
        </p:nvSpPr>
        <p:spPr>
          <a:xfrm xmlns:a="http://schemas.openxmlformats.org/drawingml/2006/main">
            <a:off x="3790950" y="3238500"/>
            <a:ext cx="304800" cy="304800"/>
          </a:xfrm>
          <a:prstGeom xmlns:a="http://schemas.openxmlformats.org/drawingml/2006/main" prst="ellipse">
            <a:avLst/>
          </a:prstGeom>
          <a:solidFill xmlns:a="http://schemas.openxmlformats.org/drawingml/2006/main">
            <a:srgbClr val="188F91"/>
          </a:solidFill>
          <a:ln xmlns:a="http://schemas.openxmlformats.org/drawingml/2006/main" w="0">
            <a:solidFill>
              <a:srgbClr val="188F91"/>
            </a:solidFill>
            <a:prstDash val="solid"/>
          </a:ln>
        </p:spPr>
      </p:sp>
      <p:sp>
        <p:nvSpPr>
          <p:cNvPr id="23" name="">
            <a:extLst xmlns:a="http://schemas.openxmlformats.org/drawingml/2006/main">
              <a:ext uri="{FF2B5EF4-FFF2-40B4-BE49-F238E27FC236}">
                <a16:creationId xmlns:a16="http://schemas.microsoft.com/office/drawing/2014/main" id="{79AF6C4B-567A-4B7B-9561-A32D983AB7E9}"/>
              </a:ext>
            </a:extLst>
          </p:cNvPr>
          <p:cNvSpPr>
            <a:spLocks xmlns:a="http://schemas.openxmlformats.org/drawingml/2006/main" noGrp="1"/>
          </p:cNvSpPr>
          <p:nvPr/>
        </p:nvSpPr>
        <p:spPr>
          <a:xfrm xmlns:a="http://schemas.openxmlformats.org/drawingml/2006/main">
            <a:off x="3790950" y="3305175"/>
            <a:ext cx="3048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975" b="1">
                <a:solidFill>
                  <a:srgbClr val="FFFFFF"/>
                </a:solidFill>
                <a:latin typeface="Arial"/>
                <a:ea typeface="Arial"/>
                <a:cs typeface="Arial"/>
              </a:defRPr>
            </a:pPr>
            <a:r>
              <a:rPr sz="975" b="1">
                <a:solidFill>
                  <a:srgbClr val="FFFFFF"/>
                </a:solidFill>
                <a:latin typeface="Arial"/>
                <a:ea typeface="Arial"/>
                <a:cs typeface="Arial"/>
              </a:rPr>
              <a:t>4</a:t>
            </a:r>
          </a:p>
        </p:txBody>
      </p:sp>
      <p:sp>
        <p:nvSpPr>
          <p:cNvPr id="24" name="">
            <a:extLst xmlns:a="http://schemas.openxmlformats.org/drawingml/2006/main">
              <a:ext uri="{FF2B5EF4-FFF2-40B4-BE49-F238E27FC236}">
                <a16:creationId xmlns:a16="http://schemas.microsoft.com/office/drawing/2014/main" id="{5E54CC41-830D-4830-97D1-AD405EBD7FB0}"/>
              </a:ext>
            </a:extLst>
          </p:cNvPr>
          <p:cNvSpPr>
            <a:spLocks xmlns:a="http://schemas.openxmlformats.org/drawingml/2006/main" noGrp="1"/>
          </p:cNvSpPr>
          <p:nvPr/>
        </p:nvSpPr>
        <p:spPr>
          <a:xfrm xmlns:a="http://schemas.openxmlformats.org/drawingml/2006/main">
            <a:off x="4248150" y="3257550"/>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7221B"/>
                </a:solidFill>
                <a:latin typeface="Arial"/>
                <a:ea typeface="Arial"/>
                <a:cs typeface="Arial"/>
              </a:defRPr>
            </a:pPr>
            <a:r>
              <a:rPr sz="1125" b="1">
                <a:solidFill>
                  <a:srgbClr val="17221B"/>
                </a:solidFill>
                <a:latin typeface="Arial"/>
                <a:ea typeface="Arial"/>
                <a:cs typeface="Arial"/>
              </a:rPr>
              <a:t>Pixel transform</a:t>
            </a:r>
          </a:p>
        </p:txBody>
      </p:sp>
      <p:sp>
        <p:nvSpPr>
          <p:cNvPr id="25" name="">
            <a:extLst xmlns:a="http://schemas.openxmlformats.org/drawingml/2006/main">
              <a:ext uri="{FF2B5EF4-FFF2-40B4-BE49-F238E27FC236}">
                <a16:creationId xmlns:a16="http://schemas.microsoft.com/office/drawing/2014/main" id="{EE914D7F-4623-4CF2-A719-9358744C1E1B}"/>
              </a:ext>
            </a:extLst>
          </p:cNvPr>
          <p:cNvSpPr>
            <a:spLocks xmlns:a="http://schemas.openxmlformats.org/drawingml/2006/main" noGrp="1"/>
          </p:cNvSpPr>
          <p:nvPr/>
        </p:nvSpPr>
        <p:spPr>
          <a:xfrm xmlns:a="http://schemas.openxmlformats.org/drawingml/2006/main">
            <a:off x="5772150" y="3267075"/>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a:solidFill>
                  <a:srgbClr val="5D6B63"/>
                </a:solidFill>
                <a:latin typeface="Arial"/>
                <a:ea typeface="Arial"/>
                <a:cs typeface="Arial"/>
              </a:defRPr>
            </a:pPr>
            <a:r>
              <a:rPr sz="900" b="0">
                <a:solidFill>
                  <a:srgbClr val="5D6B63"/>
                </a:solidFill>
                <a:latin typeface="Arial"/>
                <a:ea typeface="Arial"/>
                <a:cs typeface="Arial"/>
              </a:rPr>
              <a:t>rasterio.from_bounds</a:t>
            </a:r>
          </a:p>
        </p:txBody>
      </p:sp>
      <p:cxnSp>
        <p:nvCxnSpPr>
          <p:cNvPr id="89" name=""/>
          <p:cNvCxnSpPr/>
          <p:nvPr/>
        </p:nvCxnSpPr>
        <p:spPr>
          <a:xfrm xmlns:a="http://schemas.openxmlformats.org/drawingml/2006/main">
            <a:off x="3943350" y="3562350"/>
            <a:ext cx="0" cy="219075"/>
          </a:xfrm>
          <a:prstGeom xmlns:a="http://schemas.openxmlformats.org/drawingml/2006/main" prst="straightConnector1">
            <a:avLst/>
          </a:prstGeom>
          <a:ln xmlns:a="http://schemas.openxmlformats.org/drawingml/2006/main" w="19050">
            <a:solidFill>
              <a:srgbClr val="C6D0C9"/>
            </a:solidFill>
            <a:prstDash val="solid"/>
          </a:ln>
        </p:spPr>
      </p:cxnSp>
      <p:sp>
        <p:nvSpPr>
          <p:cNvPr id="27" name="">
            <a:extLst xmlns:a="http://schemas.openxmlformats.org/drawingml/2006/main">
              <a:ext uri="{FF2B5EF4-FFF2-40B4-BE49-F238E27FC236}">
                <a16:creationId xmlns:a16="http://schemas.microsoft.com/office/drawing/2014/main" id="{BE88130F-2594-46CA-8DAA-08CE15000424}"/>
              </a:ext>
            </a:extLst>
          </p:cNvPr>
          <p:cNvSpPr>
            <a:spLocks xmlns:a="http://schemas.openxmlformats.org/drawingml/2006/main" noGrp="1"/>
          </p:cNvSpPr>
          <p:nvPr/>
        </p:nvSpPr>
        <p:spPr>
          <a:xfrm xmlns:a="http://schemas.openxmlformats.org/drawingml/2006/main">
            <a:off x="3790950" y="3800475"/>
            <a:ext cx="304800" cy="304800"/>
          </a:xfrm>
          <a:prstGeom xmlns:a="http://schemas.openxmlformats.org/drawingml/2006/main" prst="ellipse">
            <a:avLst/>
          </a:prstGeom>
          <a:solidFill xmlns:a="http://schemas.openxmlformats.org/drawingml/2006/main">
            <a:srgbClr val="1F7A55"/>
          </a:solidFill>
          <a:ln xmlns:a="http://schemas.openxmlformats.org/drawingml/2006/main" w="0">
            <a:solidFill>
              <a:srgbClr val="1F7A55"/>
            </a:solidFill>
            <a:prstDash val="solid"/>
          </a:ln>
        </p:spPr>
      </p:sp>
      <p:sp>
        <p:nvSpPr>
          <p:cNvPr id="28" name="">
            <a:extLst xmlns:a="http://schemas.openxmlformats.org/drawingml/2006/main">
              <a:ext uri="{FF2B5EF4-FFF2-40B4-BE49-F238E27FC236}">
                <a16:creationId xmlns:a16="http://schemas.microsoft.com/office/drawing/2014/main" id="{CE5C59E0-52A8-4FBE-972E-E7650F64D73E}"/>
              </a:ext>
            </a:extLst>
          </p:cNvPr>
          <p:cNvSpPr>
            <a:spLocks xmlns:a="http://schemas.openxmlformats.org/drawingml/2006/main" noGrp="1"/>
          </p:cNvSpPr>
          <p:nvPr/>
        </p:nvSpPr>
        <p:spPr>
          <a:xfrm xmlns:a="http://schemas.openxmlformats.org/drawingml/2006/main">
            <a:off x="3790950" y="3867150"/>
            <a:ext cx="30480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975" b="1">
                <a:solidFill>
                  <a:srgbClr val="FFFFFF"/>
                </a:solidFill>
                <a:latin typeface="Arial"/>
                <a:ea typeface="Arial"/>
                <a:cs typeface="Arial"/>
              </a:defRPr>
            </a:pPr>
            <a:r>
              <a:rPr sz="975" b="1">
                <a:solidFill>
                  <a:srgbClr val="FFFFFF"/>
                </a:solidFill>
                <a:latin typeface="Arial"/>
                <a:ea typeface="Arial"/>
                <a:cs typeface="Arial"/>
              </a:rPr>
              <a:t>5</a:t>
            </a:r>
          </a:p>
        </p:txBody>
      </p:sp>
      <p:sp>
        <p:nvSpPr>
          <p:cNvPr id="29" name="">
            <a:extLst xmlns:a="http://schemas.openxmlformats.org/drawingml/2006/main">
              <a:ext uri="{FF2B5EF4-FFF2-40B4-BE49-F238E27FC236}">
                <a16:creationId xmlns:a16="http://schemas.microsoft.com/office/drawing/2014/main" id="{CCF6B941-2290-4FB0-8C3C-E90FF4C5D426}"/>
              </a:ext>
            </a:extLst>
          </p:cNvPr>
          <p:cNvSpPr>
            <a:spLocks xmlns:a="http://schemas.openxmlformats.org/drawingml/2006/main" noGrp="1"/>
          </p:cNvSpPr>
          <p:nvPr/>
        </p:nvSpPr>
        <p:spPr>
          <a:xfrm xmlns:a="http://schemas.openxmlformats.org/drawingml/2006/main">
            <a:off x="4248150" y="3819525"/>
            <a:ext cx="1428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7221B"/>
                </a:solidFill>
                <a:latin typeface="Arial"/>
                <a:ea typeface="Arial"/>
                <a:cs typeface="Arial"/>
              </a:defRPr>
            </a:pPr>
            <a:r>
              <a:rPr sz="1125" b="1">
                <a:solidFill>
                  <a:srgbClr val="17221B"/>
                </a:solidFill>
                <a:latin typeface="Arial"/>
                <a:ea typeface="Arial"/>
                <a:cs typeface="Arial"/>
              </a:rPr>
              <a:t>Rasterize</a:t>
            </a:r>
          </a:p>
        </p:txBody>
      </p:sp>
      <p:sp>
        <p:nvSpPr>
          <p:cNvPr id="30" name="">
            <a:extLst xmlns:a="http://schemas.openxmlformats.org/drawingml/2006/main">
              <a:ext uri="{FF2B5EF4-FFF2-40B4-BE49-F238E27FC236}">
                <a16:creationId xmlns:a16="http://schemas.microsoft.com/office/drawing/2014/main" id="{A01A0ECB-7FBC-4E35-B357-90B1578FD2A3}"/>
              </a:ext>
            </a:extLst>
          </p:cNvPr>
          <p:cNvSpPr>
            <a:spLocks xmlns:a="http://schemas.openxmlformats.org/drawingml/2006/main" noGrp="1"/>
          </p:cNvSpPr>
          <p:nvPr/>
        </p:nvSpPr>
        <p:spPr>
          <a:xfrm xmlns:a="http://schemas.openxmlformats.org/drawingml/2006/main">
            <a:off x="5772150" y="3829050"/>
            <a:ext cx="247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a:solidFill>
                  <a:srgbClr val="5D6B63"/>
                </a:solidFill>
                <a:latin typeface="Arial"/>
                <a:ea typeface="Arial"/>
                <a:cs typeface="Arial"/>
              </a:defRPr>
            </a:pPr>
            <a:r>
              <a:rPr sz="900" b="0">
                <a:solidFill>
                  <a:srgbClr val="5D6B63"/>
                </a:solidFill>
                <a:latin typeface="Arial"/>
                <a:ea typeface="Arial"/>
                <a:cs typeface="Arial"/>
              </a:rPr>
              <a:t>256 × 256 mask</a:t>
            </a:r>
          </a:p>
        </p:txBody>
      </p:sp>
      <p:sp>
        <p:nvSpPr>
          <p:cNvPr id="31" name="">
            <a:extLst xmlns:a="http://schemas.openxmlformats.org/drawingml/2006/main">
              <a:ext uri="{FF2B5EF4-FFF2-40B4-BE49-F238E27FC236}">
                <a16:creationId xmlns:a16="http://schemas.microsoft.com/office/drawing/2014/main" id="{F209A1E5-23C3-47C1-87C3-58E2CEA4AF96}"/>
              </a:ext>
            </a:extLst>
          </p:cNvPr>
          <p:cNvSpPr>
            <a:spLocks xmlns:a="http://schemas.openxmlformats.org/drawingml/2006/main" noGrp="1"/>
          </p:cNvSpPr>
          <p:nvPr/>
        </p:nvSpPr>
        <p:spPr>
          <a:xfrm xmlns:a="http://schemas.openxmlformats.org/drawingml/2006/main">
            <a:off x="571500" y="4438650"/>
            <a:ext cx="10934700" cy="1104900"/>
          </a:xfrm>
          <a:prstGeom xmlns:a="http://schemas.openxmlformats.org/drawingml/2006/main" prst="roundRect">
            <a:avLst>
              <a:gd name="adj" fmla="val 6897"/>
            </a:avLst>
          </a:prstGeom>
          <a:solidFill xmlns:a="http://schemas.openxmlformats.org/drawingml/2006/main">
            <a:srgbClr val="F4F7F4"/>
          </a:solidFill>
          <a:ln xmlns:a="http://schemas.openxmlformats.org/drawingml/2006/main" w="9525">
            <a:solidFill>
              <a:srgbClr val="F4F7F4"/>
            </a:solidFill>
            <a:prstDash val="solid"/>
          </a:ln>
        </p:spPr>
      </p:sp>
      <p:sp>
        <p:nvSpPr>
          <p:cNvPr id="32" name="">
            <a:extLst xmlns:a="http://schemas.openxmlformats.org/drawingml/2006/main">
              <a:ext uri="{FF2B5EF4-FFF2-40B4-BE49-F238E27FC236}">
                <a16:creationId xmlns:a16="http://schemas.microsoft.com/office/drawing/2014/main" id="{30F2248C-8C76-41A8-8318-0FE729DEBFE8}"/>
              </a:ext>
            </a:extLst>
          </p:cNvPr>
          <p:cNvSpPr>
            <a:spLocks xmlns:a="http://schemas.openxmlformats.org/drawingml/2006/main" noGrp="1"/>
          </p:cNvSpPr>
          <p:nvPr/>
        </p:nvSpPr>
        <p:spPr>
          <a:xfrm xmlns:a="http://schemas.openxmlformats.org/drawingml/2006/main">
            <a:off x="781050" y="46482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1F7A55"/>
                </a:solidFill>
                <a:latin typeface="Arial"/>
                <a:ea typeface="Arial"/>
                <a:cs typeface="Arial"/>
              </a:defRPr>
            </a:pPr>
            <a:r>
              <a:rPr sz="1125" b="1">
                <a:solidFill>
                  <a:srgbClr val="1F7A55"/>
                </a:solidFill>
                <a:latin typeface="Arial"/>
                <a:ea typeface="Arial"/>
                <a:cs typeface="Arial"/>
              </a:rPr>
              <a:t>Coordinate contract</a:t>
            </a:r>
          </a:p>
        </p:txBody>
      </p:sp>
      <p:sp>
        <p:nvSpPr>
          <p:cNvPr id="33" name="">
            <a:extLst xmlns:a="http://schemas.openxmlformats.org/drawingml/2006/main">
              <a:ext uri="{FF2B5EF4-FFF2-40B4-BE49-F238E27FC236}">
                <a16:creationId xmlns:a16="http://schemas.microsoft.com/office/drawing/2014/main" id="{76D2AFD5-EF38-4BAA-91C1-41FF2550C134}"/>
              </a:ext>
            </a:extLst>
          </p:cNvPr>
          <p:cNvSpPr>
            <a:spLocks xmlns:a="http://schemas.openxmlformats.org/drawingml/2006/main" noGrp="1"/>
          </p:cNvSpPr>
          <p:nvPr/>
        </p:nvSpPr>
        <p:spPr>
          <a:xfrm xmlns:a="http://schemas.openxmlformats.org/drawingml/2006/main">
            <a:off x="2571750" y="4600575"/>
            <a:ext cx="8591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1">
                <a:solidFill>
                  <a:srgbClr val="17221B"/>
                </a:solidFill>
                <a:latin typeface="Arial"/>
                <a:ea typeface="Arial"/>
                <a:cs typeface="Arial"/>
              </a:defRPr>
            </a:pPr>
            <a:r>
              <a:rPr sz="1575" b="1">
                <a:solidFill>
                  <a:srgbClr val="17221B"/>
                </a:solidFill>
                <a:latin typeface="Arial"/>
                <a:ea typeface="Arial"/>
                <a:cs typeface="Arial"/>
              </a:rPr>
              <a:t>Images and labels meet in EPSG:3857; rasterization then maps metre-based tile bounds directly to the 256 × 256 pixel grid.</a:t>
            </a:r>
          </a:p>
        </p:txBody>
      </p:sp>
      <p:sp>
        <p:nvSpPr>
          <p:cNvPr id="34" name="">
            <a:extLst xmlns:a="http://schemas.openxmlformats.org/drawingml/2006/main">
              <a:ext uri="{FF2B5EF4-FFF2-40B4-BE49-F238E27FC236}">
                <a16:creationId xmlns:a16="http://schemas.microsoft.com/office/drawing/2014/main" id="{D24FC4DD-EE2C-4D2D-87AA-B4398788DA00}"/>
              </a:ext>
            </a:extLst>
          </p:cNvPr>
          <p:cNvSpPr>
            <a:spLocks xmlns:a="http://schemas.openxmlformats.org/drawingml/2006/main" noGrp="1"/>
          </p:cNvSpPr>
          <p:nvPr/>
        </p:nvSpPr>
        <p:spPr>
          <a:xfrm xmlns:a="http://schemas.openxmlformats.org/drawingml/2006/main">
            <a:off x="781050" y="5286375"/>
            <a:ext cx="1009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0">
                <a:solidFill>
                  <a:srgbClr val="5D6B63"/>
                </a:solidFill>
                <a:latin typeface="Arial"/>
                <a:ea typeface="Arial"/>
                <a:cs typeface="Arial"/>
              </a:defRPr>
            </a:pPr>
            <a:r>
              <a:rPr sz="975" b="0">
                <a:solidFill>
                  <a:srgbClr val="5D6B63"/>
                </a:solidFill>
                <a:latin typeface="Arial"/>
                <a:ea typeface="Arial"/>
                <a:cs typeface="Arial"/>
              </a:rPr>
              <a:t>Vector I/O: GeoPandas / pyshp   ·   Geometry: Shapely   ·   CRS: pyproj   ·   Raster labels: Rasterio</a:t>
            </a:r>
          </a:p>
        </p:txBody>
      </p:sp>
      <p:sp>
        <p:nvSpPr>
          <p:cNvPr id="35" name="">
            <a:extLst xmlns:a="http://schemas.openxmlformats.org/drawingml/2006/main">
              <a:ext uri="{FF2B5EF4-FFF2-40B4-BE49-F238E27FC236}">
                <a16:creationId xmlns:a16="http://schemas.microsoft.com/office/drawing/2014/main" id="{FA3180E3-F221-408F-8DD8-FFDC82D39F43}"/>
              </a:ext>
            </a:extLst>
          </p:cNvPr>
          <p:cNvSpPr>
            <a:spLocks xmlns:a="http://schemas.openxmlformats.org/drawingml/2006/main" noGrp="1"/>
          </p:cNvSpPr>
          <p:nvPr/>
        </p:nvSpPr>
        <p:spPr>
          <a:xfrm xmlns:a="http://schemas.openxmlformats.org/drawingml/2006/main">
            <a:off x="571500" y="6457950"/>
            <a:ext cx="9906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0">
                <a:solidFill>
                  <a:srgbClr val="5D6B63"/>
                </a:solidFill>
                <a:latin typeface="Arial"/>
                <a:ea typeface="Arial"/>
                <a:cs typeface="Arial"/>
              </a:defRPr>
            </a:pPr>
            <a:r>
              <a:rPr sz="750" b="0">
                <a:solidFill>
                  <a:srgbClr val="5D6B63"/>
                </a:solidFill>
                <a:latin typeface="Arial"/>
                <a:ea typeface="Arial"/>
                <a:cs typeface="Arial"/>
              </a:rPr>
              <a:t>Source: project preprocessing modules and rasterized mask</a:t>
            </a:r>
          </a:p>
        </p:txBody>
      </p:sp>
    </p:spTree>
    <p:extLst>
      <p:ext uri="{BB962C8B-B14F-4D97-AF65-F5344CB8AC3E}">
        <p14:creationId xmlns:p14="http://schemas.microsoft.com/office/powerpoint/2010/main" val="184587928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C2772AA7-6F61-4B37-BE6E-5930A1B9540D}"/>
              </a:ext>
            </a:extLst>
          </p:cNvPr>
          <p:cNvSpPr>
            <a:spLocks xmlns:a="http://schemas.openxmlformats.org/drawingml/2006/main" noGrp="1"/>
          </p:cNvSpPr>
          <p:nvPr/>
        </p:nvSpPr>
        <p:spPr>
          <a:xfrm xmlns:a="http://schemas.openxmlformats.org/drawingml/2006/main">
            <a:off x="647700" y="22860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1F7A55"/>
                </a:solidFill>
                <a:latin typeface="Arial"/>
                <a:ea typeface="Arial"/>
                <a:cs typeface="Arial"/>
              </a:defRPr>
            </a:pPr>
            <a:r>
              <a:rPr sz="900" b="1">
                <a:solidFill>
                  <a:srgbClr val="1F7A55"/>
                </a:solidFill>
                <a:latin typeface="Arial"/>
                <a:ea typeface="Arial"/>
                <a:cs typeface="Arial"/>
              </a:rPr>
              <a:t>PROPOSED METHOD</a:t>
            </a:r>
          </a:p>
        </p:txBody>
      </p:sp>
      <p:sp>
        <p:nvSpPr>
          <p:cNvPr id="2" name="">
            <a:extLst xmlns:a="http://schemas.openxmlformats.org/drawingml/2006/main">
              <a:ext uri="{FF2B5EF4-FFF2-40B4-BE49-F238E27FC236}">
                <a16:creationId xmlns:a16="http://schemas.microsoft.com/office/drawing/2014/main" id="{47AFADAE-9995-424F-AB7F-685D132CB9EC}"/>
              </a:ext>
            </a:extLst>
          </p:cNvPr>
          <p:cNvSpPr>
            <a:spLocks xmlns:a="http://schemas.openxmlformats.org/drawingml/2006/main" noGrp="1"/>
          </p:cNvSpPr>
          <p:nvPr/>
        </p:nvSpPr>
        <p:spPr>
          <a:xfrm xmlns:a="http://schemas.openxmlformats.org/drawingml/2006/main">
            <a:off x="647700" y="60960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7221B"/>
                </a:solidFill>
                <a:latin typeface="Arial"/>
                <a:ea typeface="Arial"/>
                <a:cs typeface="Arial"/>
              </a:defRPr>
            </a:pPr>
            <a:r>
              <a:rPr sz="2325" b="1">
                <a:solidFill>
                  <a:srgbClr val="17221B"/>
                </a:solidFill>
                <a:latin typeface="Arial"/>
                <a:ea typeface="Arial"/>
                <a:cs typeface="Arial"/>
              </a:rPr>
              <a:t>Spatial blocks keep neighbouring tiles in the same split</a:t>
            </a:r>
          </a:p>
        </p:txBody>
      </p:sp>
      <p:cxnSp>
        <p:nvCxnSpPr>
          <p:cNvPr id="20" name=""/>
          <p:cNvCxnSpPr/>
          <p:nvPr/>
        </p:nvCxnSpPr>
        <p:spPr>
          <a:xfrm xmlns:a="http://schemas.openxmlformats.org/drawingml/2006/main">
            <a:off x="647700" y="1257300"/>
            <a:ext cx="10839450" cy="0"/>
          </a:xfrm>
          <a:prstGeom xmlns:a="http://schemas.openxmlformats.org/drawingml/2006/main" prst="straightConnector1">
            <a:avLst/>
          </a:prstGeom>
          <a:ln xmlns:a="http://schemas.openxmlformats.org/drawingml/2006/main" w="9525">
            <a:solidFill>
              <a:srgbClr val="C6D0C9"/>
            </a:solidFill>
            <a:prstDash val="solid"/>
          </a:ln>
        </p:spPr>
      </p:cxnSp>
      <p:sp>
        <p:nvSpPr>
          <p:cNvPr id="4" name="">
            <a:extLst xmlns:a="http://schemas.openxmlformats.org/drawingml/2006/main">
              <a:ext uri="{FF2B5EF4-FFF2-40B4-BE49-F238E27FC236}">
                <a16:creationId xmlns:a16="http://schemas.microsoft.com/office/drawing/2014/main" id="{2145CF5D-10C6-41C0-92A1-E13010321AD9}"/>
              </a:ext>
            </a:extLst>
          </p:cNvPr>
          <p:cNvSpPr>
            <a:spLocks xmlns:a="http://schemas.openxmlformats.org/drawingml/2006/main" noGrp="1"/>
          </p:cNvSpPr>
          <p:nvPr/>
        </p:nvSpPr>
        <p:spPr>
          <a:xfrm xmlns:a="http://schemas.openxmlformats.org/drawingml/2006/main">
            <a:off x="11382375" y="64389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a:solidFill>
                  <a:srgbClr val="5D6B63"/>
                </a:solidFill>
                <a:latin typeface="Arial"/>
                <a:ea typeface="Arial"/>
                <a:cs typeface="Arial"/>
              </a:defRPr>
            </a:pPr>
            <a:r>
              <a:rPr sz="900" b="0">
                <a:solidFill>
                  <a:srgbClr val="5D6B63"/>
                </a:solidFill>
                <a:latin typeface="Arial"/>
                <a:ea typeface="Arial"/>
                <a:cs typeface="Arial"/>
              </a:rPr>
              <a:t>07</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f3b9478eee324b0f"/>
          <a:stretch xmlns:a="http://schemas.openxmlformats.org/drawingml/2006/main"/>
        </p:blipFill>
        <p:spPr>
          <a:xfrm xmlns:a="http://schemas.openxmlformats.org/drawingml/2006/main">
            <a:off x="590550" y="1544466"/>
            <a:ext cx="8477250" cy="3969094"/>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93D5D07-5227-4306-8486-C2438D0472AF}"/>
              </a:ext>
            </a:extLst>
          </p:cNvPr>
          <p:cNvSpPr>
            <a:spLocks xmlns:a="http://schemas.openxmlformats.org/drawingml/2006/main" noGrp="1"/>
          </p:cNvSpPr>
          <p:nvPr/>
        </p:nvSpPr>
        <p:spPr>
          <a:xfrm xmlns:a="http://schemas.openxmlformats.org/drawingml/2006/main">
            <a:off x="9401175" y="1733550"/>
            <a:ext cx="2190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450" b="1">
                <a:solidFill>
                  <a:srgbClr val="188F91"/>
                </a:solidFill>
                <a:latin typeface="Arial"/>
                <a:ea typeface="Arial"/>
                <a:cs typeface="Arial"/>
              </a:defRPr>
            </a:pPr>
            <a:r>
              <a:rPr sz="3450" b="1">
                <a:solidFill>
                  <a:srgbClr val="188F91"/>
                </a:solidFill>
                <a:latin typeface="Arial"/>
                <a:ea typeface="Arial"/>
                <a:cs typeface="Arial"/>
              </a:rPr>
              <a:t>8 × 8</a:t>
            </a:r>
          </a:p>
        </p:txBody>
      </p:sp>
      <p:sp>
        <p:nvSpPr>
          <p:cNvPr id="7" name="">
            <a:extLst xmlns:a="http://schemas.openxmlformats.org/drawingml/2006/main">
              <a:ext uri="{FF2B5EF4-FFF2-40B4-BE49-F238E27FC236}">
                <a16:creationId xmlns:a16="http://schemas.microsoft.com/office/drawing/2014/main" id="{F01ECB61-047C-4610-B930-574444AA3D0B}"/>
              </a:ext>
            </a:extLst>
          </p:cNvPr>
          <p:cNvSpPr>
            <a:spLocks xmlns:a="http://schemas.openxmlformats.org/drawingml/2006/main" noGrp="1"/>
          </p:cNvSpPr>
          <p:nvPr/>
        </p:nvSpPr>
        <p:spPr>
          <a:xfrm xmlns:a="http://schemas.openxmlformats.org/drawingml/2006/main">
            <a:off x="9401175" y="2362200"/>
            <a:ext cx="2190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D6B63"/>
                </a:solidFill>
                <a:latin typeface="Arial"/>
                <a:ea typeface="Arial"/>
                <a:cs typeface="Arial"/>
              </a:defRPr>
            </a:pPr>
            <a:r>
              <a:rPr sz="1200" b="0">
                <a:solidFill>
                  <a:srgbClr val="5D6B63"/>
                </a:solidFill>
                <a:latin typeface="Arial"/>
                <a:ea typeface="Arial"/>
                <a:cs typeface="Arial"/>
              </a:rPr>
              <a:t>XYZ tiles per split block</a:t>
            </a:r>
          </a:p>
        </p:txBody>
      </p:sp>
      <p:sp>
        <p:nvSpPr>
          <p:cNvPr id="8" name="">
            <a:extLst xmlns:a="http://schemas.openxmlformats.org/drawingml/2006/main">
              <a:ext uri="{FF2B5EF4-FFF2-40B4-BE49-F238E27FC236}">
                <a16:creationId xmlns:a16="http://schemas.microsoft.com/office/drawing/2014/main" id="{6C551CD1-30E1-4DFE-A124-C1EF6460F4E0}"/>
              </a:ext>
            </a:extLst>
          </p:cNvPr>
          <p:cNvSpPr>
            <a:spLocks xmlns:a="http://schemas.openxmlformats.org/drawingml/2006/main" noGrp="1"/>
          </p:cNvSpPr>
          <p:nvPr/>
        </p:nvSpPr>
        <p:spPr>
          <a:xfrm xmlns:a="http://schemas.openxmlformats.org/drawingml/2006/main">
            <a:off x="9401175" y="3028950"/>
            <a:ext cx="2190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450" b="1">
                <a:solidFill>
                  <a:srgbClr val="1F7A55"/>
                </a:solidFill>
                <a:latin typeface="Arial"/>
                <a:ea typeface="Arial"/>
                <a:cs typeface="Arial"/>
              </a:defRPr>
            </a:pPr>
            <a:r>
              <a:rPr sz="3450" b="1">
                <a:solidFill>
                  <a:srgbClr val="1F7A55"/>
                </a:solidFill>
                <a:latin typeface="Arial"/>
                <a:ea typeface="Arial"/>
                <a:cs typeface="Arial"/>
              </a:rPr>
              <a:t>2.0×</a:t>
            </a:r>
          </a:p>
        </p:txBody>
      </p:sp>
      <p:sp>
        <p:nvSpPr>
          <p:cNvPr id="9" name="">
            <a:extLst xmlns:a="http://schemas.openxmlformats.org/drawingml/2006/main">
              <a:ext uri="{FF2B5EF4-FFF2-40B4-BE49-F238E27FC236}">
                <a16:creationId xmlns:a16="http://schemas.microsoft.com/office/drawing/2014/main" id="{B150BAC8-B4BC-4C56-B491-6377C6B7E13A}"/>
              </a:ext>
            </a:extLst>
          </p:cNvPr>
          <p:cNvSpPr>
            <a:spLocks xmlns:a="http://schemas.openxmlformats.org/drawingml/2006/main" noGrp="1"/>
          </p:cNvSpPr>
          <p:nvPr/>
        </p:nvSpPr>
        <p:spPr>
          <a:xfrm xmlns:a="http://schemas.openxmlformats.org/drawingml/2006/main">
            <a:off x="9401175" y="3657600"/>
            <a:ext cx="2190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D6B63"/>
                </a:solidFill>
                <a:latin typeface="Arial"/>
                <a:ea typeface="Arial"/>
                <a:cs typeface="Arial"/>
              </a:defRPr>
            </a:pPr>
            <a:r>
              <a:rPr sz="1200" b="0">
                <a:solidFill>
                  <a:srgbClr val="5D6B63"/>
                </a:solidFill>
                <a:latin typeface="Arial"/>
                <a:ea typeface="Arial"/>
                <a:cs typeface="Arial"/>
              </a:rPr>
              <a:t>median held-out distance</a:t>
            </a:r>
          </a:p>
        </p:txBody>
      </p:sp>
      <p:sp>
        <p:nvSpPr>
          <p:cNvPr id="10" name="">
            <a:extLst xmlns:a="http://schemas.openxmlformats.org/drawingml/2006/main">
              <a:ext uri="{FF2B5EF4-FFF2-40B4-BE49-F238E27FC236}">
                <a16:creationId xmlns:a16="http://schemas.microsoft.com/office/drawing/2014/main" id="{A7EA5885-E591-4405-AB20-0F2D5743D0ED}"/>
              </a:ext>
            </a:extLst>
          </p:cNvPr>
          <p:cNvSpPr>
            <a:spLocks xmlns:a="http://schemas.openxmlformats.org/drawingml/2006/main" noGrp="1"/>
          </p:cNvSpPr>
          <p:nvPr/>
        </p:nvSpPr>
        <p:spPr>
          <a:xfrm xmlns:a="http://schemas.openxmlformats.org/drawingml/2006/main">
            <a:off x="9401175" y="4448175"/>
            <a:ext cx="2095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00" b="1">
                <a:solidFill>
                  <a:srgbClr val="17221B"/>
                </a:solidFill>
                <a:latin typeface="Arial"/>
                <a:ea typeface="Arial"/>
                <a:cs typeface="Arial"/>
              </a:defRPr>
            </a:pPr>
            <a:r>
              <a:rPr sz="1500" b="1">
                <a:solidFill>
                  <a:srgbClr val="17221B"/>
                </a:solidFill>
                <a:latin typeface="Arial"/>
                <a:ea typeface="Arial"/>
                <a:cs typeface="Arial"/>
              </a:rPr>
              <a:t>Train 1,180</a:t>
            </a:r>
          </a:p>
          <a:p xmlns:a="http://schemas.openxmlformats.org/drawingml/2006/main">
            <a:pPr algn="l">
              <a:buNone/>
              <a:defRPr sz="1500" b="1">
                <a:solidFill>
                  <a:srgbClr val="17221B"/>
                </a:solidFill>
                <a:latin typeface="Arial"/>
                <a:ea typeface="Arial"/>
                <a:cs typeface="Arial"/>
              </a:defRPr>
            </a:pPr>
            <a:r>
              <a:rPr sz="1500" b="1">
                <a:solidFill>
                  <a:srgbClr val="17221B"/>
                </a:solidFill>
                <a:latin typeface="Arial"/>
                <a:ea typeface="Arial"/>
                <a:cs typeface="Arial"/>
              </a:rPr>
              <a:t>Validation 203</a:t>
            </a:r>
          </a:p>
          <a:p xmlns:a="http://schemas.openxmlformats.org/drawingml/2006/main">
            <a:pPr algn="l">
              <a:buNone/>
              <a:defRPr sz="1500" b="1">
                <a:solidFill>
                  <a:srgbClr val="17221B"/>
                </a:solidFill>
                <a:latin typeface="Arial"/>
                <a:ea typeface="Arial"/>
                <a:cs typeface="Arial"/>
              </a:defRPr>
            </a:pPr>
            <a:r>
              <a:rPr sz="1500" b="1">
                <a:solidFill>
                  <a:srgbClr val="17221B"/>
                </a:solidFill>
                <a:latin typeface="Arial"/>
                <a:ea typeface="Arial"/>
                <a:cs typeface="Arial"/>
              </a:rPr>
              <a:t>Test 252</a:t>
            </a:r>
          </a:p>
        </p:txBody>
      </p:sp>
      <p:sp>
        <p:nvSpPr>
          <p:cNvPr id="11" name="">
            <a:extLst xmlns:a="http://schemas.openxmlformats.org/drawingml/2006/main">
              <a:ext uri="{FF2B5EF4-FFF2-40B4-BE49-F238E27FC236}">
                <a16:creationId xmlns:a16="http://schemas.microsoft.com/office/drawing/2014/main" id="{B16DC85E-FE56-4EF4-ABD1-E1F3B017BDA2}"/>
              </a:ext>
            </a:extLst>
          </p:cNvPr>
          <p:cNvSpPr>
            <a:spLocks xmlns:a="http://schemas.openxmlformats.org/drawingml/2006/main" noGrp="1"/>
          </p:cNvSpPr>
          <p:nvPr/>
        </p:nvSpPr>
        <p:spPr>
          <a:xfrm xmlns:a="http://schemas.openxmlformats.org/drawingml/2006/main">
            <a:off x="590550" y="5772150"/>
            <a:ext cx="10906125" cy="419100"/>
          </a:xfrm>
          <a:prstGeom xmlns:a="http://schemas.openxmlformats.org/drawingml/2006/main" prst="roundRect">
            <a:avLst>
              <a:gd name="adj" fmla="val 11364"/>
            </a:avLst>
          </a:prstGeom>
          <a:solidFill xmlns:a="http://schemas.openxmlformats.org/drawingml/2006/main">
            <a:srgbClr val="EDF5F0"/>
          </a:solidFill>
          <a:ln xmlns:a="http://schemas.openxmlformats.org/drawingml/2006/main" w="9525">
            <a:solidFill>
              <a:srgbClr val="EDF5F0"/>
            </a:solidFill>
            <a:prstDash val="solid"/>
          </a:ln>
        </p:spPr>
      </p:sp>
      <p:sp>
        <p:nvSpPr>
          <p:cNvPr id="12" name="">
            <a:extLst xmlns:a="http://schemas.openxmlformats.org/drawingml/2006/main">
              <a:ext uri="{FF2B5EF4-FFF2-40B4-BE49-F238E27FC236}">
                <a16:creationId xmlns:a16="http://schemas.microsoft.com/office/drawing/2014/main" id="{8E811C98-5959-49A9-958B-04CA099788DB}"/>
              </a:ext>
            </a:extLst>
          </p:cNvPr>
          <p:cNvSpPr>
            <a:spLocks xmlns:a="http://schemas.openxmlformats.org/drawingml/2006/main" noGrp="1"/>
          </p:cNvSpPr>
          <p:nvPr/>
        </p:nvSpPr>
        <p:spPr>
          <a:xfrm xmlns:a="http://schemas.openxmlformats.org/drawingml/2006/main">
            <a:off x="742950" y="5867400"/>
            <a:ext cx="10572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1">
                <a:solidFill>
                  <a:srgbClr val="17221B"/>
                </a:solidFill>
                <a:latin typeface="Arial"/>
                <a:ea typeface="Arial"/>
                <a:cs typeface="Arial"/>
              </a:defRPr>
            </a:pPr>
            <a:r>
              <a:rPr sz="1275" b="1">
                <a:solidFill>
                  <a:srgbClr val="17221B"/>
                </a:solidFill>
                <a:latin typeface="Arial"/>
                <a:ea typeface="Arial"/>
                <a:cs typeface="Arial"/>
              </a:rPr>
              <a:t>No block ID appears in more than one split; validation and test remain geographically separated from training.</a:t>
            </a:r>
          </a:p>
        </p:txBody>
      </p:sp>
      <p:sp>
        <p:nvSpPr>
          <p:cNvPr id="13" name="">
            <a:extLst xmlns:a="http://schemas.openxmlformats.org/drawingml/2006/main">
              <a:ext uri="{FF2B5EF4-FFF2-40B4-BE49-F238E27FC236}">
                <a16:creationId xmlns:a16="http://schemas.microsoft.com/office/drawing/2014/main" id="{FB22DC3B-61A3-426D-9B65-BBB1492DAC2F}"/>
              </a:ext>
            </a:extLst>
          </p:cNvPr>
          <p:cNvSpPr>
            <a:spLocks xmlns:a="http://schemas.openxmlformats.org/drawingml/2006/main" noGrp="1"/>
          </p:cNvSpPr>
          <p:nvPr/>
        </p:nvSpPr>
        <p:spPr>
          <a:xfrm xmlns:a="http://schemas.openxmlformats.org/drawingml/2006/main">
            <a:off x="571500" y="6457950"/>
            <a:ext cx="9906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0">
                <a:solidFill>
                  <a:srgbClr val="5D6B63"/>
                </a:solidFill>
                <a:latin typeface="Arial"/>
                <a:ea typeface="Arial"/>
                <a:cs typeface="Arial"/>
              </a:defRPr>
            </a:pPr>
            <a:r>
              <a:rPr sz="750" b="0">
                <a:solidFill>
                  <a:srgbClr val="5D6B63"/>
                </a:solidFill>
                <a:latin typeface="Arial"/>
                <a:ea typeface="Arial"/>
                <a:cs typeface="Arial"/>
              </a:rPr>
              <a:t>Source: frozen manifests and spatial-distance analysis (EPSG:25833 distances)</a:t>
            </a:r>
          </a:p>
        </p:txBody>
      </p:sp>
    </p:spTree>
    <p:extLst>
      <p:ext uri="{BB962C8B-B14F-4D97-AF65-F5344CB8AC3E}">
        <p14:creationId xmlns:p14="http://schemas.microsoft.com/office/powerpoint/2010/main" val="2173330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075B713-0F5D-4E9C-9AC0-F6C8C472AC0D}"/>
              </a:ext>
            </a:extLst>
          </p:cNvPr>
          <p:cNvSpPr>
            <a:spLocks xmlns:a="http://schemas.openxmlformats.org/drawingml/2006/main" noGrp="1"/>
          </p:cNvSpPr>
          <p:nvPr/>
        </p:nvSpPr>
        <p:spPr>
          <a:xfrm xmlns:a="http://schemas.openxmlformats.org/drawingml/2006/main">
            <a:off x="647700" y="22860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1F7A55"/>
                </a:solidFill>
                <a:latin typeface="Arial"/>
                <a:ea typeface="Arial"/>
                <a:cs typeface="Arial"/>
              </a:defRPr>
            </a:pPr>
            <a:r>
              <a:rPr sz="900" b="1">
                <a:solidFill>
                  <a:srgbClr val="1F7A55"/>
                </a:solidFill>
                <a:latin typeface="Arial"/>
                <a:ea typeface="Arial"/>
                <a:cs typeface="Arial"/>
              </a:rPr>
              <a:t>FIRST FINDINGS</a:t>
            </a:r>
          </a:p>
        </p:txBody>
      </p:sp>
      <p:sp>
        <p:nvSpPr>
          <p:cNvPr id="2" name="">
            <a:extLst xmlns:a="http://schemas.openxmlformats.org/drawingml/2006/main">
              <a:ext uri="{FF2B5EF4-FFF2-40B4-BE49-F238E27FC236}">
                <a16:creationId xmlns:a16="http://schemas.microsoft.com/office/drawing/2014/main" id="{9DFD1992-7F75-43D4-A814-DC19EC35A673}"/>
              </a:ext>
            </a:extLst>
          </p:cNvPr>
          <p:cNvSpPr>
            <a:spLocks xmlns:a="http://schemas.openxmlformats.org/drawingml/2006/main" noGrp="1"/>
          </p:cNvSpPr>
          <p:nvPr/>
        </p:nvSpPr>
        <p:spPr>
          <a:xfrm xmlns:a="http://schemas.openxmlformats.org/drawingml/2006/main">
            <a:off x="647700" y="60960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7221B"/>
                </a:solidFill>
                <a:latin typeface="Arial"/>
                <a:ea typeface="Arial"/>
                <a:cs typeface="Arial"/>
              </a:defRPr>
            </a:pPr>
            <a:r>
              <a:rPr sz="2325" b="1">
                <a:solidFill>
                  <a:srgbClr val="17221B"/>
                </a:solidFill>
                <a:latin typeface="Arial"/>
                <a:ea typeface="Arial"/>
                <a:cs typeface="Arial"/>
              </a:rPr>
              <a:t>Only 0.60% of pixels represent green roofs</a:t>
            </a:r>
          </a:p>
        </p:txBody>
      </p:sp>
      <p:cxnSp>
        <p:nvCxnSpPr>
          <p:cNvPr id="21" name=""/>
          <p:cNvCxnSpPr/>
          <p:nvPr/>
        </p:nvCxnSpPr>
        <p:spPr>
          <a:xfrm xmlns:a="http://schemas.openxmlformats.org/drawingml/2006/main">
            <a:off x="647700" y="1257300"/>
            <a:ext cx="10839450" cy="0"/>
          </a:xfrm>
          <a:prstGeom xmlns:a="http://schemas.openxmlformats.org/drawingml/2006/main" prst="straightConnector1">
            <a:avLst/>
          </a:prstGeom>
          <a:ln xmlns:a="http://schemas.openxmlformats.org/drawingml/2006/main" w="9525">
            <a:solidFill>
              <a:srgbClr val="C6D0C9"/>
            </a:solidFill>
            <a:prstDash val="solid"/>
          </a:ln>
        </p:spPr>
      </p:cxnSp>
      <p:sp>
        <p:nvSpPr>
          <p:cNvPr id="4" name="">
            <a:extLst xmlns:a="http://schemas.openxmlformats.org/drawingml/2006/main">
              <a:ext uri="{FF2B5EF4-FFF2-40B4-BE49-F238E27FC236}">
                <a16:creationId xmlns:a16="http://schemas.microsoft.com/office/drawing/2014/main" id="{C0B1E684-BC40-4D9F-BF2C-D0D745431EA0}"/>
              </a:ext>
            </a:extLst>
          </p:cNvPr>
          <p:cNvSpPr>
            <a:spLocks xmlns:a="http://schemas.openxmlformats.org/drawingml/2006/main" noGrp="1"/>
          </p:cNvSpPr>
          <p:nvPr/>
        </p:nvSpPr>
        <p:spPr>
          <a:xfrm xmlns:a="http://schemas.openxmlformats.org/drawingml/2006/main">
            <a:off x="11382375" y="64389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a:solidFill>
                  <a:srgbClr val="5D6B63"/>
                </a:solidFill>
                <a:latin typeface="Arial"/>
                <a:ea typeface="Arial"/>
                <a:cs typeface="Arial"/>
              </a:defRPr>
            </a:pPr>
            <a:r>
              <a:rPr sz="900" b="0">
                <a:solidFill>
                  <a:srgbClr val="5D6B63"/>
                </a:solidFill>
                <a:latin typeface="Arial"/>
                <a:ea typeface="Arial"/>
                <a:cs typeface="Arial"/>
              </a:rPr>
              <a:t>08</a:t>
            </a:r>
          </a:p>
        </p:txBody>
      </p:sp>
      <p:graphicFrame>
        <p:nvGraphicFramePr>
          <p:cNvPr id="23" name="Chart"/>
          <p:cNvGraphicFramePr/>
          <p:nvPr/>
        </p:nvGraphicFramePr>
        <p:xfrm>
          <a:off xmlns:a="http://schemas.openxmlformats.org/drawingml/2006/main" x="666750" y="1666875"/>
          <a:ext xmlns:a="http://schemas.openxmlformats.org/drawingml/2006/main" cx="6000750" cy="3714750"/>
        </p:xfrm>
        <a:graphic xmlns:a="http://schemas.openxmlformats.org/drawingml/2006/main">
          <a:graphicData uri="http://schemas.openxmlformats.org/drawingml/2006/chart">
            <c:chart xmlns:r="http://schemas.openxmlformats.org/officeDocument/2006/relationships" xmlns:c="http://schemas.openxmlformats.org/drawingml/2006/chart" r:id="R38b239b426dd4392"/>
          </a:graphicData>
        </a:graphic>
      </p:graphicFrame>
      <p:sp>
        <p:nvSpPr>
          <p:cNvPr id="6" name="">
            <a:extLst xmlns:a="http://schemas.openxmlformats.org/drawingml/2006/main">
              <a:ext uri="{FF2B5EF4-FFF2-40B4-BE49-F238E27FC236}">
                <a16:creationId xmlns:a16="http://schemas.microsoft.com/office/drawing/2014/main" id="{15B6FD9C-439C-4BFA-9F17-894C197AC02D}"/>
              </a:ext>
            </a:extLst>
          </p:cNvPr>
          <p:cNvSpPr>
            <a:spLocks xmlns:a="http://schemas.openxmlformats.org/drawingml/2006/main" noGrp="1"/>
          </p:cNvSpPr>
          <p:nvPr/>
        </p:nvSpPr>
        <p:spPr>
          <a:xfrm xmlns:a="http://schemas.openxmlformats.org/drawingml/2006/main">
            <a:off x="7334250" y="1714500"/>
            <a:ext cx="3524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450" b="1">
                <a:solidFill>
                  <a:srgbClr val="1F7A55"/>
                </a:solidFill>
                <a:latin typeface="Arial"/>
                <a:ea typeface="Arial"/>
                <a:cs typeface="Arial"/>
              </a:defRPr>
            </a:pPr>
            <a:r>
              <a:rPr sz="3450" b="1">
                <a:solidFill>
                  <a:srgbClr val="1F7A55"/>
                </a:solidFill>
                <a:latin typeface="Arial"/>
                <a:ea typeface="Arial"/>
                <a:cs typeface="Arial"/>
              </a:rPr>
              <a:t>643,038</a:t>
            </a:r>
          </a:p>
        </p:txBody>
      </p:sp>
      <p:sp>
        <p:nvSpPr>
          <p:cNvPr id="7" name="">
            <a:extLst xmlns:a="http://schemas.openxmlformats.org/drawingml/2006/main">
              <a:ext uri="{FF2B5EF4-FFF2-40B4-BE49-F238E27FC236}">
                <a16:creationId xmlns:a16="http://schemas.microsoft.com/office/drawing/2014/main" id="{0B309F40-8F89-44CC-A7AA-C4BCE29B626B}"/>
              </a:ext>
            </a:extLst>
          </p:cNvPr>
          <p:cNvSpPr>
            <a:spLocks xmlns:a="http://schemas.openxmlformats.org/drawingml/2006/main" noGrp="1"/>
          </p:cNvSpPr>
          <p:nvPr/>
        </p:nvSpPr>
        <p:spPr>
          <a:xfrm xmlns:a="http://schemas.openxmlformats.org/drawingml/2006/main">
            <a:off x="7334250" y="2343150"/>
            <a:ext cx="3524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D6B63"/>
                </a:solidFill>
                <a:latin typeface="Arial"/>
                <a:ea typeface="Arial"/>
                <a:cs typeface="Arial"/>
              </a:defRPr>
            </a:pPr>
            <a:r>
              <a:rPr sz="1200" b="0">
                <a:solidFill>
                  <a:srgbClr val="5D6B63"/>
                </a:solidFill>
                <a:latin typeface="Arial"/>
                <a:ea typeface="Arial"/>
                <a:cs typeface="Arial"/>
              </a:rPr>
              <a:t>foreground pixels</a:t>
            </a:r>
          </a:p>
        </p:txBody>
      </p:sp>
      <p:sp>
        <p:nvSpPr>
          <p:cNvPr id="8" name="">
            <a:extLst xmlns:a="http://schemas.openxmlformats.org/drawingml/2006/main">
              <a:ext uri="{FF2B5EF4-FFF2-40B4-BE49-F238E27FC236}">
                <a16:creationId xmlns:a16="http://schemas.microsoft.com/office/drawing/2014/main" id="{C87E945B-6A36-40A3-B8AB-B37A0AD97640}"/>
              </a:ext>
            </a:extLst>
          </p:cNvPr>
          <p:cNvSpPr>
            <a:spLocks xmlns:a="http://schemas.openxmlformats.org/drawingml/2006/main" noGrp="1"/>
          </p:cNvSpPr>
          <p:nvPr/>
        </p:nvSpPr>
        <p:spPr>
          <a:xfrm xmlns:a="http://schemas.openxmlformats.org/drawingml/2006/main">
            <a:off x="7334250" y="3000375"/>
            <a:ext cx="3524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450" b="1">
                <a:solidFill>
                  <a:srgbClr val="4B739B"/>
                </a:solidFill>
                <a:latin typeface="Arial"/>
                <a:ea typeface="Arial"/>
                <a:cs typeface="Arial"/>
              </a:defRPr>
            </a:pPr>
            <a:r>
              <a:rPr sz="3450" b="1">
                <a:solidFill>
                  <a:srgbClr val="4B739B"/>
                </a:solidFill>
                <a:latin typeface="Arial"/>
                <a:ea typeface="Arial"/>
                <a:cs typeface="Arial"/>
              </a:rPr>
              <a:t>107.15 M</a:t>
            </a:r>
          </a:p>
        </p:txBody>
      </p:sp>
      <p:sp>
        <p:nvSpPr>
          <p:cNvPr id="9" name="">
            <a:extLst xmlns:a="http://schemas.openxmlformats.org/drawingml/2006/main">
              <a:ext uri="{FF2B5EF4-FFF2-40B4-BE49-F238E27FC236}">
                <a16:creationId xmlns:a16="http://schemas.microsoft.com/office/drawing/2014/main" id="{B87B4D0C-56C9-4AB0-9C8F-F6FFD7D441D7}"/>
              </a:ext>
            </a:extLst>
          </p:cNvPr>
          <p:cNvSpPr>
            <a:spLocks xmlns:a="http://schemas.openxmlformats.org/drawingml/2006/main" noGrp="1"/>
          </p:cNvSpPr>
          <p:nvPr/>
        </p:nvSpPr>
        <p:spPr>
          <a:xfrm xmlns:a="http://schemas.openxmlformats.org/drawingml/2006/main">
            <a:off x="7334250" y="3629025"/>
            <a:ext cx="3524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D6B63"/>
                </a:solidFill>
                <a:latin typeface="Arial"/>
                <a:ea typeface="Arial"/>
                <a:cs typeface="Arial"/>
              </a:defRPr>
            </a:pPr>
            <a:r>
              <a:rPr sz="1200" b="0">
                <a:solidFill>
                  <a:srgbClr val="5D6B63"/>
                </a:solidFill>
                <a:latin typeface="Arial"/>
                <a:ea typeface="Arial"/>
                <a:cs typeface="Arial"/>
              </a:rPr>
              <a:t>total pixels</a:t>
            </a:r>
          </a:p>
        </p:txBody>
      </p:sp>
      <p:sp>
        <p:nvSpPr>
          <p:cNvPr id="10" name="">
            <a:extLst xmlns:a="http://schemas.openxmlformats.org/drawingml/2006/main">
              <a:ext uri="{FF2B5EF4-FFF2-40B4-BE49-F238E27FC236}">
                <a16:creationId xmlns:a16="http://schemas.microsoft.com/office/drawing/2014/main" id="{BF759963-799D-4527-98B7-952755E6E533}"/>
              </a:ext>
            </a:extLst>
          </p:cNvPr>
          <p:cNvSpPr>
            <a:spLocks xmlns:a="http://schemas.openxmlformats.org/drawingml/2006/main" noGrp="1"/>
          </p:cNvSpPr>
          <p:nvPr/>
        </p:nvSpPr>
        <p:spPr>
          <a:xfrm xmlns:a="http://schemas.openxmlformats.org/drawingml/2006/main">
            <a:off x="7334250" y="4286250"/>
            <a:ext cx="3524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450" b="1">
                <a:solidFill>
                  <a:srgbClr val="C8605A"/>
                </a:solidFill>
                <a:latin typeface="Arial"/>
                <a:ea typeface="Arial"/>
                <a:cs typeface="Arial"/>
              </a:defRPr>
            </a:pPr>
            <a:r>
              <a:rPr sz="3450" b="1">
                <a:solidFill>
                  <a:srgbClr val="C8605A"/>
                </a:solidFill>
                <a:latin typeface="Arial"/>
                <a:ea typeface="Arial"/>
                <a:cs typeface="Arial"/>
              </a:rPr>
              <a:t>0.6001%</a:t>
            </a:r>
          </a:p>
        </p:txBody>
      </p:sp>
      <p:sp>
        <p:nvSpPr>
          <p:cNvPr id="11" name="">
            <a:extLst xmlns:a="http://schemas.openxmlformats.org/drawingml/2006/main">
              <a:ext uri="{FF2B5EF4-FFF2-40B4-BE49-F238E27FC236}">
                <a16:creationId xmlns:a16="http://schemas.microsoft.com/office/drawing/2014/main" id="{2CA44B50-68A7-4A82-9E88-199446EAFEBB}"/>
              </a:ext>
            </a:extLst>
          </p:cNvPr>
          <p:cNvSpPr>
            <a:spLocks xmlns:a="http://schemas.openxmlformats.org/drawingml/2006/main" noGrp="1"/>
          </p:cNvSpPr>
          <p:nvPr/>
        </p:nvSpPr>
        <p:spPr>
          <a:xfrm xmlns:a="http://schemas.openxmlformats.org/drawingml/2006/main">
            <a:off x="7334250" y="4914900"/>
            <a:ext cx="3524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D6B63"/>
                </a:solidFill>
                <a:latin typeface="Arial"/>
                <a:ea typeface="Arial"/>
                <a:cs typeface="Arial"/>
              </a:defRPr>
            </a:pPr>
            <a:r>
              <a:rPr sz="1200" b="0">
                <a:solidFill>
                  <a:srgbClr val="5D6B63"/>
                </a:solidFill>
                <a:latin typeface="Arial"/>
                <a:ea typeface="Arial"/>
                <a:cs typeface="Arial"/>
              </a:rPr>
              <a:t>foreground share</a:t>
            </a:r>
          </a:p>
        </p:txBody>
      </p:sp>
      <p:sp>
        <p:nvSpPr>
          <p:cNvPr id="12" name="">
            <a:extLst xmlns:a="http://schemas.openxmlformats.org/drawingml/2006/main">
              <a:ext uri="{FF2B5EF4-FFF2-40B4-BE49-F238E27FC236}">
                <a16:creationId xmlns:a16="http://schemas.microsoft.com/office/drawing/2014/main" id="{E30BF5E9-5287-4087-953F-610835E9871D}"/>
              </a:ext>
            </a:extLst>
          </p:cNvPr>
          <p:cNvSpPr>
            <a:spLocks xmlns:a="http://schemas.openxmlformats.org/drawingml/2006/main" noGrp="1"/>
          </p:cNvSpPr>
          <p:nvPr/>
        </p:nvSpPr>
        <p:spPr>
          <a:xfrm xmlns:a="http://schemas.openxmlformats.org/drawingml/2006/main">
            <a:off x="666750" y="5667375"/>
            <a:ext cx="10191750" cy="457200"/>
          </a:xfrm>
          <a:prstGeom xmlns:a="http://schemas.openxmlformats.org/drawingml/2006/main" prst="roundRect">
            <a:avLst>
              <a:gd name="adj" fmla="val 10417"/>
            </a:avLst>
          </a:prstGeom>
          <a:solidFill xmlns:a="http://schemas.openxmlformats.org/drawingml/2006/main">
            <a:srgbClr val="0E2C22"/>
          </a:solidFill>
          <a:ln xmlns:a="http://schemas.openxmlformats.org/drawingml/2006/main" w="9525">
            <a:solidFill>
              <a:srgbClr val="0E2C22"/>
            </a:solidFill>
            <a:prstDash val="solid"/>
          </a:ln>
        </p:spPr>
      </p:sp>
      <p:sp>
        <p:nvSpPr>
          <p:cNvPr id="13" name="">
            <a:extLst xmlns:a="http://schemas.openxmlformats.org/drawingml/2006/main">
              <a:ext uri="{FF2B5EF4-FFF2-40B4-BE49-F238E27FC236}">
                <a16:creationId xmlns:a16="http://schemas.microsoft.com/office/drawing/2014/main" id="{6A8143C6-61F3-4D1C-B0B3-FA4D7EBE4A9E}"/>
              </a:ext>
            </a:extLst>
          </p:cNvPr>
          <p:cNvSpPr>
            <a:spLocks xmlns:a="http://schemas.openxmlformats.org/drawingml/2006/main" noGrp="1"/>
          </p:cNvSpPr>
          <p:nvPr/>
        </p:nvSpPr>
        <p:spPr>
          <a:xfrm xmlns:a="http://schemas.openxmlformats.org/drawingml/2006/main">
            <a:off x="876300" y="5781675"/>
            <a:ext cx="97726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425" b="1">
                <a:solidFill>
                  <a:srgbClr val="FFFFFF"/>
                </a:solidFill>
                <a:latin typeface="Arial"/>
                <a:ea typeface="Arial"/>
                <a:cs typeface="Arial"/>
              </a:defRPr>
            </a:pPr>
            <a:r>
              <a:rPr sz="1425" b="1">
                <a:solidFill>
                  <a:srgbClr val="FFFFFF"/>
                </a:solidFill>
                <a:latin typeface="Arial"/>
                <a:ea typeface="Arial"/>
                <a:cs typeface="Arial"/>
              </a:rPr>
              <a:t>Implication: overlap metrics must be paired with negative-scene false-positive analysis.</a:t>
            </a:r>
          </a:p>
        </p:txBody>
      </p:sp>
      <p:sp>
        <p:nvSpPr>
          <p:cNvPr id="14" name="">
            <a:extLst xmlns:a="http://schemas.openxmlformats.org/drawingml/2006/main">
              <a:ext uri="{FF2B5EF4-FFF2-40B4-BE49-F238E27FC236}">
                <a16:creationId xmlns:a16="http://schemas.microsoft.com/office/drawing/2014/main" id="{39185257-C96C-4B96-B55E-1C11B115BC88}"/>
              </a:ext>
            </a:extLst>
          </p:cNvPr>
          <p:cNvSpPr>
            <a:spLocks xmlns:a="http://schemas.openxmlformats.org/drawingml/2006/main" noGrp="1"/>
          </p:cNvSpPr>
          <p:nvPr/>
        </p:nvSpPr>
        <p:spPr>
          <a:xfrm xmlns:a="http://schemas.openxmlformats.org/drawingml/2006/main">
            <a:off x="571500" y="6457950"/>
            <a:ext cx="9906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0">
                <a:solidFill>
                  <a:srgbClr val="5D6B63"/>
                </a:solidFill>
                <a:latin typeface="Arial"/>
                <a:ea typeface="Arial"/>
                <a:cs typeface="Arial"/>
              </a:defRPr>
            </a:pPr>
            <a:r>
              <a:rPr sz="750" b="0">
                <a:solidFill>
                  <a:srgbClr val="5D6B63"/>
                </a:solidFill>
                <a:latin typeface="Arial"/>
                <a:ea typeface="Arial"/>
                <a:cs typeface="Arial"/>
              </a:rPr>
              <a:t>Source: class-balance analysis for PLZ 12357</a:t>
            </a:r>
          </a:p>
        </p:txBody>
      </p:sp>
    </p:spTree>
    <p:extLst>
      <p:ext uri="{BB962C8B-B14F-4D97-AF65-F5344CB8AC3E}">
        <p14:creationId xmlns:p14="http://schemas.microsoft.com/office/powerpoint/2010/main" val="54251126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9EFFA45-EE4F-4A2D-BD60-C3B23DC66390}"/>
              </a:ext>
            </a:extLst>
          </p:cNvPr>
          <p:cNvSpPr>
            <a:spLocks xmlns:a="http://schemas.openxmlformats.org/drawingml/2006/main" noGrp="1"/>
          </p:cNvSpPr>
          <p:nvPr/>
        </p:nvSpPr>
        <p:spPr>
          <a:xfrm xmlns:a="http://schemas.openxmlformats.org/drawingml/2006/main">
            <a:off x="647700" y="22860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1F7A55"/>
                </a:solidFill>
                <a:latin typeface="Arial"/>
                <a:ea typeface="Arial"/>
                <a:cs typeface="Arial"/>
              </a:defRPr>
            </a:pPr>
            <a:r>
              <a:rPr sz="900" b="1">
                <a:solidFill>
                  <a:srgbClr val="1F7A55"/>
                </a:solidFill>
                <a:latin typeface="Arial"/>
                <a:ea typeface="Arial"/>
                <a:cs typeface="Arial"/>
              </a:rPr>
              <a:t>EXPERIMENT DESIGN</a:t>
            </a:r>
          </a:p>
        </p:txBody>
      </p:sp>
      <p:sp>
        <p:nvSpPr>
          <p:cNvPr id="2" name="">
            <a:extLst xmlns:a="http://schemas.openxmlformats.org/drawingml/2006/main">
              <a:ext uri="{FF2B5EF4-FFF2-40B4-BE49-F238E27FC236}">
                <a16:creationId xmlns:a16="http://schemas.microsoft.com/office/drawing/2014/main" id="{3AF7C60B-999C-4082-BD66-2583BDBF8594}"/>
              </a:ext>
            </a:extLst>
          </p:cNvPr>
          <p:cNvSpPr>
            <a:spLocks xmlns:a="http://schemas.openxmlformats.org/drawingml/2006/main" noGrp="1"/>
          </p:cNvSpPr>
          <p:nvPr/>
        </p:nvSpPr>
        <p:spPr>
          <a:xfrm xmlns:a="http://schemas.openxmlformats.org/drawingml/2006/main">
            <a:off x="647700" y="60960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7221B"/>
                </a:solidFill>
                <a:latin typeface="Arial"/>
                <a:ea typeface="Arial"/>
                <a:cs typeface="Arial"/>
              </a:defRPr>
            </a:pPr>
            <a:r>
              <a:rPr sz="2325" b="1">
                <a:solidFill>
                  <a:srgbClr val="17221B"/>
                </a:solidFill>
                <a:latin typeface="Arial"/>
                <a:ea typeface="Arial"/>
                <a:cs typeface="Arial"/>
              </a:rPr>
              <a:t>One frozen split isolates the effect of negative training scenes</a:t>
            </a:r>
          </a:p>
        </p:txBody>
      </p:sp>
      <p:cxnSp>
        <p:nvCxnSpPr>
          <p:cNvPr id="30" name=""/>
          <p:cNvCxnSpPr/>
          <p:nvPr/>
        </p:nvCxnSpPr>
        <p:spPr>
          <a:xfrm xmlns:a="http://schemas.openxmlformats.org/drawingml/2006/main">
            <a:off x="647700" y="1257300"/>
            <a:ext cx="10839450" cy="0"/>
          </a:xfrm>
          <a:prstGeom xmlns:a="http://schemas.openxmlformats.org/drawingml/2006/main" prst="straightConnector1">
            <a:avLst/>
          </a:prstGeom>
          <a:ln xmlns:a="http://schemas.openxmlformats.org/drawingml/2006/main" w="9525">
            <a:solidFill>
              <a:srgbClr val="C6D0C9"/>
            </a:solidFill>
            <a:prstDash val="solid"/>
          </a:ln>
        </p:spPr>
      </p:cxnSp>
      <p:sp>
        <p:nvSpPr>
          <p:cNvPr id="4" name="">
            <a:extLst xmlns:a="http://schemas.openxmlformats.org/drawingml/2006/main">
              <a:ext uri="{FF2B5EF4-FFF2-40B4-BE49-F238E27FC236}">
                <a16:creationId xmlns:a16="http://schemas.microsoft.com/office/drawing/2014/main" id="{9762C9E3-BAD6-4A48-8645-807E3A91D16A}"/>
              </a:ext>
            </a:extLst>
          </p:cNvPr>
          <p:cNvSpPr>
            <a:spLocks xmlns:a="http://schemas.openxmlformats.org/drawingml/2006/main" noGrp="1"/>
          </p:cNvSpPr>
          <p:nvPr/>
        </p:nvSpPr>
        <p:spPr>
          <a:xfrm xmlns:a="http://schemas.openxmlformats.org/drawingml/2006/main">
            <a:off x="11382375" y="64389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a:solidFill>
                  <a:srgbClr val="5D6B63"/>
                </a:solidFill>
                <a:latin typeface="Arial"/>
                <a:ea typeface="Arial"/>
                <a:cs typeface="Arial"/>
              </a:defRPr>
            </a:pPr>
            <a:r>
              <a:rPr sz="900" b="0">
                <a:solidFill>
                  <a:srgbClr val="5D6B63"/>
                </a:solidFill>
                <a:latin typeface="Arial"/>
                <a:ea typeface="Arial"/>
                <a:cs typeface="Arial"/>
              </a:rPr>
              <a:t>09</a:t>
            </a:r>
          </a:p>
        </p:txBody>
      </p:sp>
      <p:sp>
        <p:nvSpPr>
          <p:cNvPr id="5" name="">
            <a:extLst xmlns:a="http://schemas.openxmlformats.org/drawingml/2006/main">
              <a:ext uri="{FF2B5EF4-FFF2-40B4-BE49-F238E27FC236}">
                <a16:creationId xmlns:a16="http://schemas.microsoft.com/office/drawing/2014/main" id="{5E309417-43F0-4744-8BBF-089F95900BEC}"/>
              </a:ext>
            </a:extLst>
          </p:cNvPr>
          <p:cNvSpPr>
            <a:spLocks xmlns:a="http://schemas.openxmlformats.org/drawingml/2006/main" noGrp="1"/>
          </p:cNvSpPr>
          <p:nvPr/>
        </p:nvSpPr>
        <p:spPr>
          <a:xfrm xmlns:a="http://schemas.openxmlformats.org/drawingml/2006/main">
            <a:off x="609600" y="1571625"/>
            <a:ext cx="1619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5D6B63"/>
                </a:solidFill>
                <a:latin typeface="Arial"/>
                <a:ea typeface="Arial"/>
                <a:cs typeface="Arial"/>
              </a:defRPr>
            </a:pPr>
            <a:r>
              <a:rPr sz="1050" b="1">
                <a:solidFill>
                  <a:srgbClr val="5D6B63"/>
                </a:solidFill>
                <a:latin typeface="Arial"/>
                <a:ea typeface="Arial"/>
                <a:cs typeface="Arial"/>
              </a:rPr>
              <a:t>Shared protocol</a:t>
            </a:r>
          </a:p>
        </p:txBody>
      </p:sp>
      <p:sp>
        <p:nvSpPr>
          <p:cNvPr id="6" name="">
            <a:extLst xmlns:a="http://schemas.openxmlformats.org/drawingml/2006/main">
              <a:ext uri="{FF2B5EF4-FFF2-40B4-BE49-F238E27FC236}">
                <a16:creationId xmlns:a16="http://schemas.microsoft.com/office/drawing/2014/main" id="{E0EE1EF7-1EC4-4D6C-82EA-143518154FDA}"/>
              </a:ext>
            </a:extLst>
          </p:cNvPr>
          <p:cNvSpPr>
            <a:spLocks xmlns:a="http://schemas.openxmlformats.org/drawingml/2006/main" noGrp="1"/>
          </p:cNvSpPr>
          <p:nvPr/>
        </p:nvSpPr>
        <p:spPr>
          <a:xfrm xmlns:a="http://schemas.openxmlformats.org/drawingml/2006/main">
            <a:off x="2305050" y="150495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17221B"/>
                </a:solidFill>
                <a:latin typeface="Arial"/>
                <a:ea typeface="Arial"/>
                <a:cs typeface="Arial"/>
              </a:defRPr>
            </a:pPr>
            <a:r>
              <a:rPr sz="1650" b="1">
                <a:solidFill>
                  <a:srgbClr val="17221B"/>
                </a:solidFill>
                <a:latin typeface="Arial"/>
                <a:ea typeface="Arial"/>
                <a:cs typeface="Arial"/>
              </a:rPr>
              <a:t>Same U-Net · same optimizer budget · same augmentations · same full validation set</a:t>
            </a:r>
          </a:p>
        </p:txBody>
      </p:sp>
      <p:cxnSp>
        <p:nvCxnSpPr>
          <p:cNvPr id="34" name=""/>
          <p:cNvCxnSpPr/>
          <p:nvPr/>
        </p:nvCxnSpPr>
        <p:spPr>
          <a:xfrm xmlns:a="http://schemas.openxmlformats.org/drawingml/2006/main">
            <a:off x="609600" y="2114550"/>
            <a:ext cx="10287000" cy="0"/>
          </a:xfrm>
          <a:prstGeom xmlns:a="http://schemas.openxmlformats.org/drawingml/2006/main" prst="straightConnector1">
            <a:avLst/>
          </a:prstGeom>
          <a:ln xmlns:a="http://schemas.openxmlformats.org/drawingml/2006/main" w="9525">
            <a:solidFill>
              <a:srgbClr val="C6D0C9"/>
            </a:solidFill>
            <a:prstDash val="solid"/>
          </a:ln>
        </p:spPr>
      </p:cxnSp>
      <p:sp>
        <p:nvSpPr>
          <p:cNvPr id="8" name="">
            <a:extLst xmlns:a="http://schemas.openxmlformats.org/drawingml/2006/main">
              <a:ext uri="{FF2B5EF4-FFF2-40B4-BE49-F238E27FC236}">
                <a16:creationId xmlns:a16="http://schemas.microsoft.com/office/drawing/2014/main" id="{3845C914-10F8-4AE3-B849-6E059CF3090F}"/>
              </a:ext>
            </a:extLst>
          </p:cNvPr>
          <p:cNvSpPr>
            <a:spLocks xmlns:a="http://schemas.openxmlformats.org/drawingml/2006/main" noGrp="1"/>
          </p:cNvSpPr>
          <p:nvPr/>
        </p:nvSpPr>
        <p:spPr>
          <a:xfrm xmlns:a="http://schemas.openxmlformats.org/drawingml/2006/main">
            <a:off x="904875" y="2571750"/>
            <a:ext cx="4429125" cy="2333625"/>
          </a:xfrm>
          <a:prstGeom xmlns:a="http://schemas.openxmlformats.org/drawingml/2006/main" prst="roundRect">
            <a:avLst>
              <a:gd name="adj" fmla="val 3265"/>
            </a:avLst>
          </a:prstGeom>
          <a:solidFill xmlns:a="http://schemas.openxmlformats.org/drawingml/2006/main">
            <a:srgbClr val="E8F3EC"/>
          </a:solidFill>
          <a:ln xmlns:a="http://schemas.openxmlformats.org/drawingml/2006/main" w="9525">
            <a:solidFill>
              <a:srgbClr val="E8F3EC"/>
            </a:solidFill>
            <a:prstDash val="solid"/>
          </a:ln>
        </p:spPr>
      </p:sp>
      <p:sp>
        <p:nvSpPr>
          <p:cNvPr id="9" name="">
            <a:extLst xmlns:a="http://schemas.openxmlformats.org/drawingml/2006/main">
              <a:ext uri="{FF2B5EF4-FFF2-40B4-BE49-F238E27FC236}">
                <a16:creationId xmlns:a16="http://schemas.microsoft.com/office/drawing/2014/main" id="{042EBCDB-F109-4C36-8032-7099534AB140}"/>
              </a:ext>
            </a:extLst>
          </p:cNvPr>
          <p:cNvSpPr>
            <a:spLocks xmlns:a="http://schemas.openxmlformats.org/drawingml/2006/main" noGrp="1"/>
          </p:cNvSpPr>
          <p:nvPr/>
        </p:nvSpPr>
        <p:spPr>
          <a:xfrm xmlns:a="http://schemas.openxmlformats.org/drawingml/2006/main">
            <a:off x="1143000" y="2800350"/>
            <a:ext cx="1047750" cy="285750"/>
          </a:xfrm>
          <a:prstGeom xmlns:a="http://schemas.openxmlformats.org/drawingml/2006/main" prst="roundRect">
            <a:avLst>
              <a:gd name="adj" fmla="val 50000"/>
            </a:avLst>
          </a:prstGeom>
          <a:solidFill xmlns:a="http://schemas.openxmlformats.org/drawingml/2006/main">
            <a:srgbClr val="CDE8D6"/>
          </a:solidFill>
          <a:ln xmlns:a="http://schemas.openxmlformats.org/drawingml/2006/main" w="9525">
            <a:solidFill>
              <a:srgbClr val="CDE8D6"/>
            </a:solidFill>
            <a:prstDash val="solid"/>
          </a:ln>
        </p:spPr>
      </p:sp>
      <p:sp>
        <p:nvSpPr>
          <p:cNvPr id="10" name="">
            <a:extLst xmlns:a="http://schemas.openxmlformats.org/drawingml/2006/main">
              <a:ext uri="{FF2B5EF4-FFF2-40B4-BE49-F238E27FC236}">
                <a16:creationId xmlns:a16="http://schemas.microsoft.com/office/drawing/2014/main" id="{7D496A10-2C07-40B1-A1CD-B64E8EF9D7AB}"/>
              </a:ext>
            </a:extLst>
          </p:cNvPr>
          <p:cNvSpPr>
            <a:spLocks xmlns:a="http://schemas.openxmlformats.org/drawingml/2006/main" noGrp="1"/>
          </p:cNvSpPr>
          <p:nvPr/>
        </p:nvSpPr>
        <p:spPr>
          <a:xfrm xmlns:a="http://schemas.openxmlformats.org/drawingml/2006/main">
            <a:off x="1257300" y="2867025"/>
            <a:ext cx="819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900" b="1">
                <a:solidFill>
                  <a:srgbClr val="1F7A55"/>
                </a:solidFill>
                <a:latin typeface="Arial"/>
                <a:ea typeface="Arial"/>
                <a:cs typeface="Arial"/>
              </a:defRPr>
            </a:pPr>
            <a:r>
              <a:rPr sz="900" b="1">
                <a:solidFill>
                  <a:srgbClr val="1F7A55"/>
                </a:solidFill>
                <a:latin typeface="Arial"/>
                <a:ea typeface="Arial"/>
                <a:cs typeface="Arial"/>
              </a:rPr>
              <a:t>ALL-TILE</a:t>
            </a:r>
          </a:p>
        </p:txBody>
      </p:sp>
      <p:sp>
        <p:nvSpPr>
          <p:cNvPr id="11" name="">
            <a:extLst xmlns:a="http://schemas.openxmlformats.org/drawingml/2006/main">
              <a:ext uri="{FF2B5EF4-FFF2-40B4-BE49-F238E27FC236}">
                <a16:creationId xmlns:a16="http://schemas.microsoft.com/office/drawing/2014/main" id="{9CBE6419-CDC9-482B-8ABC-01D04BFE0A2D}"/>
              </a:ext>
            </a:extLst>
          </p:cNvPr>
          <p:cNvSpPr>
            <a:spLocks xmlns:a="http://schemas.openxmlformats.org/drawingml/2006/main" noGrp="1"/>
          </p:cNvSpPr>
          <p:nvPr/>
        </p:nvSpPr>
        <p:spPr>
          <a:xfrm xmlns:a="http://schemas.openxmlformats.org/drawingml/2006/main">
            <a:off x="1143000" y="337185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17221B"/>
                </a:solidFill>
                <a:latin typeface="Arial"/>
                <a:ea typeface="Arial"/>
                <a:cs typeface="Arial"/>
              </a:defRPr>
            </a:pPr>
            <a:r>
              <a:rPr sz="1800" b="1">
                <a:solidFill>
                  <a:srgbClr val="17221B"/>
                </a:solidFill>
                <a:latin typeface="Arial"/>
                <a:ea typeface="Arial"/>
                <a:cs typeface="Arial"/>
              </a:rPr>
              <a:t>590 positive + 590 negative</a:t>
            </a:r>
          </a:p>
        </p:txBody>
      </p:sp>
      <p:sp>
        <p:nvSpPr>
          <p:cNvPr id="12" name="">
            <a:extLst xmlns:a="http://schemas.openxmlformats.org/drawingml/2006/main">
              <a:ext uri="{FF2B5EF4-FFF2-40B4-BE49-F238E27FC236}">
                <a16:creationId xmlns:a16="http://schemas.microsoft.com/office/drawing/2014/main" id="{79B14078-9BD8-4F80-B570-83FB88460A52}"/>
              </a:ext>
            </a:extLst>
          </p:cNvPr>
          <p:cNvSpPr>
            <a:spLocks xmlns:a="http://schemas.openxmlformats.org/drawingml/2006/main" noGrp="1"/>
          </p:cNvSpPr>
          <p:nvPr/>
        </p:nvSpPr>
        <p:spPr>
          <a:xfrm xmlns:a="http://schemas.openxmlformats.org/drawingml/2006/main">
            <a:off x="1143000" y="3848100"/>
            <a:ext cx="314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5D6B63"/>
                </a:solidFill>
                <a:latin typeface="Arial"/>
                <a:ea typeface="Arial"/>
                <a:cs typeface="Arial"/>
              </a:defRPr>
            </a:pPr>
            <a:r>
              <a:rPr sz="1350" b="0">
                <a:solidFill>
                  <a:srgbClr val="5D6B63"/>
                </a:solidFill>
                <a:latin typeface="Arial"/>
                <a:ea typeface="Arial"/>
                <a:cs typeface="Arial"/>
              </a:rPr>
              <a:t>Balanced per epoch</a:t>
            </a:r>
          </a:p>
          <a:p xmlns:a="http://schemas.openxmlformats.org/drawingml/2006/main">
            <a:pPr algn="l">
              <a:buNone/>
              <a:defRPr sz="1350" b="0">
                <a:solidFill>
                  <a:srgbClr val="5D6B63"/>
                </a:solidFill>
                <a:latin typeface="Arial"/>
                <a:ea typeface="Arial"/>
                <a:cs typeface="Arial"/>
              </a:defRPr>
            </a:pPr>
            <a:r>
              <a:rPr sz="1350" b="0">
                <a:solidFill>
                  <a:srgbClr val="5D6B63"/>
                </a:solidFill>
                <a:latin typeface="Arial"/>
                <a:ea typeface="Arial"/>
                <a:cs typeface="Arial"/>
              </a:rPr>
              <a:t>1180 samples / epoch</a:t>
            </a:r>
          </a:p>
        </p:txBody>
      </p:sp>
      <p:sp>
        <p:nvSpPr>
          <p:cNvPr id="13" name="">
            <a:extLst xmlns:a="http://schemas.openxmlformats.org/drawingml/2006/main">
              <a:ext uri="{FF2B5EF4-FFF2-40B4-BE49-F238E27FC236}">
                <a16:creationId xmlns:a16="http://schemas.microsoft.com/office/drawing/2014/main" id="{C19F7B39-0CE7-4B3C-9AF3-1389FF2AD4DF}"/>
              </a:ext>
            </a:extLst>
          </p:cNvPr>
          <p:cNvSpPr>
            <a:spLocks xmlns:a="http://schemas.openxmlformats.org/drawingml/2006/main" noGrp="1"/>
          </p:cNvSpPr>
          <p:nvPr/>
        </p:nvSpPr>
        <p:spPr>
          <a:xfrm xmlns:a="http://schemas.openxmlformats.org/drawingml/2006/main">
            <a:off x="6858000" y="2571750"/>
            <a:ext cx="4429125" cy="2333625"/>
          </a:xfrm>
          <a:prstGeom xmlns:a="http://schemas.openxmlformats.org/drawingml/2006/main" prst="roundRect">
            <a:avLst>
              <a:gd name="adj" fmla="val 3265"/>
            </a:avLst>
          </a:prstGeom>
          <a:solidFill xmlns:a="http://schemas.openxmlformats.org/drawingml/2006/main">
            <a:srgbClr val="F7EDED"/>
          </a:solidFill>
          <a:ln xmlns:a="http://schemas.openxmlformats.org/drawingml/2006/main" w="9525">
            <a:solidFill>
              <a:srgbClr val="F7EDED"/>
            </a:solidFill>
            <a:prstDash val="solid"/>
          </a:ln>
        </p:spPr>
      </p:sp>
      <p:sp>
        <p:nvSpPr>
          <p:cNvPr id="14" name="">
            <a:extLst xmlns:a="http://schemas.openxmlformats.org/drawingml/2006/main">
              <a:ext uri="{FF2B5EF4-FFF2-40B4-BE49-F238E27FC236}">
                <a16:creationId xmlns:a16="http://schemas.microsoft.com/office/drawing/2014/main" id="{B306202F-5EFF-49D5-80E4-7B473075A716}"/>
              </a:ext>
            </a:extLst>
          </p:cNvPr>
          <p:cNvSpPr>
            <a:spLocks xmlns:a="http://schemas.openxmlformats.org/drawingml/2006/main" noGrp="1"/>
          </p:cNvSpPr>
          <p:nvPr/>
        </p:nvSpPr>
        <p:spPr>
          <a:xfrm xmlns:a="http://schemas.openxmlformats.org/drawingml/2006/main">
            <a:off x="7096125" y="2800350"/>
            <a:ext cx="1428750" cy="285750"/>
          </a:xfrm>
          <a:prstGeom xmlns:a="http://schemas.openxmlformats.org/drawingml/2006/main" prst="roundRect">
            <a:avLst>
              <a:gd name="adj" fmla="val 50000"/>
            </a:avLst>
          </a:prstGeom>
          <a:solidFill xmlns:a="http://schemas.openxmlformats.org/drawingml/2006/main">
            <a:srgbClr val="F0D6D3"/>
          </a:solidFill>
          <a:ln xmlns:a="http://schemas.openxmlformats.org/drawingml/2006/main" w="9525">
            <a:solidFill>
              <a:srgbClr val="F0D6D3"/>
            </a:solidFill>
            <a:prstDash val="solid"/>
          </a:ln>
        </p:spPr>
      </p:sp>
      <p:sp>
        <p:nvSpPr>
          <p:cNvPr id="15" name="">
            <a:extLst xmlns:a="http://schemas.openxmlformats.org/drawingml/2006/main">
              <a:ext uri="{FF2B5EF4-FFF2-40B4-BE49-F238E27FC236}">
                <a16:creationId xmlns:a16="http://schemas.microsoft.com/office/drawing/2014/main" id="{03B28B7B-C7E6-4516-AEE0-B4698A271254}"/>
              </a:ext>
            </a:extLst>
          </p:cNvPr>
          <p:cNvSpPr>
            <a:spLocks xmlns:a="http://schemas.openxmlformats.org/drawingml/2006/main" noGrp="1"/>
          </p:cNvSpPr>
          <p:nvPr/>
        </p:nvSpPr>
        <p:spPr>
          <a:xfrm xmlns:a="http://schemas.openxmlformats.org/drawingml/2006/main">
            <a:off x="7210425" y="2867025"/>
            <a:ext cx="1200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900" b="1">
                <a:solidFill>
                  <a:srgbClr val="C8605A"/>
                </a:solidFill>
                <a:latin typeface="Arial"/>
                <a:ea typeface="Arial"/>
                <a:cs typeface="Arial"/>
              </a:defRPr>
            </a:pPr>
            <a:r>
              <a:rPr sz="900" b="1">
                <a:solidFill>
                  <a:srgbClr val="C8605A"/>
                </a:solidFill>
                <a:latin typeface="Arial"/>
                <a:ea typeface="Arial"/>
                <a:cs typeface="Arial"/>
              </a:rPr>
              <a:t>POSITIVE-ONLY</a:t>
            </a:r>
          </a:p>
        </p:txBody>
      </p:sp>
      <p:sp>
        <p:nvSpPr>
          <p:cNvPr id="16" name="">
            <a:extLst xmlns:a="http://schemas.openxmlformats.org/drawingml/2006/main">
              <a:ext uri="{FF2B5EF4-FFF2-40B4-BE49-F238E27FC236}">
                <a16:creationId xmlns:a16="http://schemas.microsoft.com/office/drawing/2014/main" id="{75B834A4-C9AE-43E6-95C5-76DE1041956B}"/>
              </a:ext>
            </a:extLst>
          </p:cNvPr>
          <p:cNvSpPr>
            <a:spLocks xmlns:a="http://schemas.openxmlformats.org/drawingml/2006/main" noGrp="1"/>
          </p:cNvSpPr>
          <p:nvPr/>
        </p:nvSpPr>
        <p:spPr>
          <a:xfrm xmlns:a="http://schemas.openxmlformats.org/drawingml/2006/main">
            <a:off x="7096125" y="3371850"/>
            <a:ext cx="3714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800" b="1">
                <a:solidFill>
                  <a:srgbClr val="17221B"/>
                </a:solidFill>
                <a:latin typeface="Arial"/>
                <a:ea typeface="Arial"/>
                <a:cs typeface="Arial"/>
              </a:defRPr>
            </a:pPr>
            <a:r>
              <a:rPr sz="1800" b="1">
                <a:solidFill>
                  <a:srgbClr val="17221B"/>
                </a:solidFill>
                <a:latin typeface="Arial"/>
                <a:ea typeface="Arial"/>
                <a:cs typeface="Arial"/>
              </a:rPr>
              <a:t>1180 positive samples</a:t>
            </a:r>
          </a:p>
        </p:txBody>
      </p:sp>
      <p:sp>
        <p:nvSpPr>
          <p:cNvPr id="17" name="">
            <a:extLst xmlns:a="http://schemas.openxmlformats.org/drawingml/2006/main">
              <a:ext uri="{FF2B5EF4-FFF2-40B4-BE49-F238E27FC236}">
                <a16:creationId xmlns:a16="http://schemas.microsoft.com/office/drawing/2014/main" id="{5A730A49-54B5-4A30-965E-CA215A01D145}"/>
              </a:ext>
            </a:extLst>
          </p:cNvPr>
          <p:cNvSpPr>
            <a:spLocks xmlns:a="http://schemas.openxmlformats.org/drawingml/2006/main" noGrp="1"/>
          </p:cNvSpPr>
          <p:nvPr/>
        </p:nvSpPr>
        <p:spPr>
          <a:xfrm xmlns:a="http://schemas.openxmlformats.org/drawingml/2006/main">
            <a:off x="7096125" y="3848100"/>
            <a:ext cx="3714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0">
                <a:solidFill>
                  <a:srgbClr val="5D6B63"/>
                </a:solidFill>
                <a:latin typeface="Arial"/>
                <a:ea typeface="Arial"/>
                <a:cs typeface="Arial"/>
              </a:defRPr>
            </a:pPr>
            <a:r>
              <a:rPr sz="1350" b="0">
                <a:solidFill>
                  <a:srgbClr val="5D6B63"/>
                </a:solidFill>
                <a:latin typeface="Arial"/>
                <a:ea typeface="Arial"/>
                <a:cs typeface="Arial"/>
              </a:rPr>
              <a:t>Positive tiles sampled with replacement</a:t>
            </a:r>
          </a:p>
          <a:p xmlns:a="http://schemas.openxmlformats.org/drawingml/2006/main">
            <a:pPr algn="l">
              <a:buNone/>
              <a:defRPr sz="1350" b="0">
                <a:solidFill>
                  <a:srgbClr val="5D6B63"/>
                </a:solidFill>
                <a:latin typeface="Arial"/>
                <a:ea typeface="Arial"/>
                <a:cs typeface="Arial"/>
              </a:defRPr>
            </a:pPr>
            <a:r>
              <a:rPr sz="1350" b="0">
                <a:solidFill>
                  <a:srgbClr val="5D6B63"/>
                </a:solidFill>
                <a:latin typeface="Arial"/>
                <a:ea typeface="Arial"/>
                <a:cs typeface="Arial"/>
              </a:rPr>
              <a:t>No negative-only training scenes</a:t>
            </a:r>
          </a:p>
        </p:txBody>
      </p:sp>
      <p:sp>
        <p:nvSpPr>
          <p:cNvPr id="18" name="">
            <a:extLst xmlns:a="http://schemas.openxmlformats.org/drawingml/2006/main">
              <a:ext uri="{FF2B5EF4-FFF2-40B4-BE49-F238E27FC236}">
                <a16:creationId xmlns:a16="http://schemas.microsoft.com/office/drawing/2014/main" id="{1B5101C0-15C9-49FD-B565-2853EF3028C2}"/>
              </a:ext>
            </a:extLst>
          </p:cNvPr>
          <p:cNvSpPr>
            <a:spLocks xmlns:a="http://schemas.openxmlformats.org/drawingml/2006/main" noGrp="1"/>
          </p:cNvSpPr>
          <p:nvPr/>
        </p:nvSpPr>
        <p:spPr>
          <a:xfrm xmlns:a="http://schemas.openxmlformats.org/drawingml/2006/main">
            <a:off x="5791200" y="3333750"/>
            <a:ext cx="6096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025" b="1">
                <a:solidFill>
                  <a:srgbClr val="5D6B63"/>
                </a:solidFill>
                <a:latin typeface="Arial"/>
                <a:ea typeface="Arial"/>
                <a:cs typeface="Arial"/>
              </a:defRPr>
            </a:pPr>
            <a:r>
              <a:rPr sz="2025" b="1">
                <a:solidFill>
                  <a:srgbClr val="5D6B63"/>
                </a:solidFill>
                <a:latin typeface="Arial"/>
                <a:ea typeface="Arial"/>
                <a:cs typeface="Arial"/>
              </a:rPr>
              <a:t>VS</a:t>
            </a:r>
          </a:p>
        </p:txBody>
      </p:sp>
      <p:sp>
        <p:nvSpPr>
          <p:cNvPr id="19" name="">
            <a:extLst xmlns:a="http://schemas.openxmlformats.org/drawingml/2006/main">
              <a:ext uri="{FF2B5EF4-FFF2-40B4-BE49-F238E27FC236}">
                <a16:creationId xmlns:a16="http://schemas.microsoft.com/office/drawing/2014/main" id="{7CC37275-A665-4E57-85C5-C91D8ECBDF41}"/>
              </a:ext>
            </a:extLst>
          </p:cNvPr>
          <p:cNvSpPr>
            <a:spLocks xmlns:a="http://schemas.openxmlformats.org/drawingml/2006/main" noGrp="1"/>
          </p:cNvSpPr>
          <p:nvPr/>
        </p:nvSpPr>
        <p:spPr>
          <a:xfrm xmlns:a="http://schemas.openxmlformats.org/drawingml/2006/main">
            <a:off x="904875" y="5257800"/>
            <a:ext cx="10382250" cy="514350"/>
          </a:xfrm>
          <a:prstGeom xmlns:a="http://schemas.openxmlformats.org/drawingml/2006/main" prst="roundRect">
            <a:avLst>
              <a:gd name="adj" fmla="val 9259"/>
            </a:avLst>
          </a:prstGeom>
          <a:solidFill xmlns:a="http://schemas.openxmlformats.org/drawingml/2006/main">
            <a:srgbClr val="0E2C22"/>
          </a:solidFill>
          <a:ln xmlns:a="http://schemas.openxmlformats.org/drawingml/2006/main" w="9525">
            <a:solidFill>
              <a:srgbClr val="0E2C22"/>
            </a:solidFill>
            <a:prstDash val="solid"/>
          </a:ln>
        </p:spPr>
      </p:sp>
      <p:sp>
        <p:nvSpPr>
          <p:cNvPr id="20" name="">
            <a:extLst xmlns:a="http://schemas.openxmlformats.org/drawingml/2006/main">
              <a:ext uri="{FF2B5EF4-FFF2-40B4-BE49-F238E27FC236}">
                <a16:creationId xmlns:a16="http://schemas.microsoft.com/office/drawing/2014/main" id="{28C14171-65D7-45F6-9FAC-54228BFD5E34}"/>
              </a:ext>
            </a:extLst>
          </p:cNvPr>
          <p:cNvSpPr>
            <a:spLocks xmlns:a="http://schemas.openxmlformats.org/drawingml/2006/main" noGrp="1"/>
          </p:cNvSpPr>
          <p:nvPr/>
        </p:nvSpPr>
        <p:spPr>
          <a:xfrm xmlns:a="http://schemas.openxmlformats.org/drawingml/2006/main">
            <a:off x="1143000" y="5381625"/>
            <a:ext cx="990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Only the training sampler changes; validation prevalence and labels do not.</a:t>
            </a:r>
          </a:p>
        </p:txBody>
      </p:sp>
    </p:spTree>
    <p:extLst>
      <p:ext uri="{BB962C8B-B14F-4D97-AF65-F5344CB8AC3E}">
        <p14:creationId xmlns:p14="http://schemas.microsoft.com/office/powerpoint/2010/main" val="189056016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0B00A0E-0320-45E9-8862-3EDA60109EBA}"/>
              </a:ext>
            </a:extLst>
          </p:cNvPr>
          <p:cNvSpPr>
            <a:spLocks xmlns:a="http://schemas.openxmlformats.org/drawingml/2006/main" noGrp="1"/>
          </p:cNvSpPr>
          <p:nvPr/>
        </p:nvSpPr>
        <p:spPr>
          <a:xfrm xmlns:a="http://schemas.openxmlformats.org/drawingml/2006/main">
            <a:off x="647700" y="22860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1F7A55"/>
                </a:solidFill>
                <a:latin typeface="Arial"/>
                <a:ea typeface="Arial"/>
                <a:cs typeface="Arial"/>
              </a:defRPr>
            </a:pPr>
            <a:r>
              <a:rPr sz="900" b="1">
                <a:solidFill>
                  <a:srgbClr val="1F7A55"/>
                </a:solidFill>
                <a:latin typeface="Arial"/>
                <a:ea typeface="Arial"/>
                <a:cs typeface="Arial"/>
              </a:rPr>
              <a:t>FIRST MODEL RESULTS</a:t>
            </a:r>
          </a:p>
        </p:txBody>
      </p:sp>
      <p:sp>
        <p:nvSpPr>
          <p:cNvPr id="2" name="">
            <a:extLst xmlns:a="http://schemas.openxmlformats.org/drawingml/2006/main">
              <a:ext uri="{FF2B5EF4-FFF2-40B4-BE49-F238E27FC236}">
                <a16:creationId xmlns:a16="http://schemas.microsoft.com/office/drawing/2014/main" id="{50C9EEDD-2B52-44FD-95DB-4228E703223D}"/>
              </a:ext>
            </a:extLst>
          </p:cNvPr>
          <p:cNvSpPr>
            <a:spLocks xmlns:a="http://schemas.openxmlformats.org/drawingml/2006/main" noGrp="1"/>
          </p:cNvSpPr>
          <p:nvPr/>
        </p:nvSpPr>
        <p:spPr>
          <a:xfrm xmlns:a="http://schemas.openxmlformats.org/drawingml/2006/main">
            <a:off x="647700" y="60960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7221B"/>
                </a:solidFill>
                <a:latin typeface="Arial"/>
                <a:ea typeface="Arial"/>
                <a:cs typeface="Arial"/>
              </a:defRPr>
            </a:pPr>
            <a:r>
              <a:rPr sz="2325" b="1">
                <a:solidFill>
                  <a:srgbClr val="17221B"/>
                </a:solidFill>
                <a:latin typeface="Arial"/>
                <a:ea typeface="Arial"/>
                <a:cs typeface="Arial"/>
              </a:rPr>
              <a:t>All-tile training performs better after threshold calibration</a:t>
            </a:r>
          </a:p>
        </p:txBody>
      </p:sp>
      <p:cxnSp>
        <p:nvCxnSpPr>
          <p:cNvPr id="21" name=""/>
          <p:cNvCxnSpPr/>
          <p:nvPr/>
        </p:nvCxnSpPr>
        <p:spPr>
          <a:xfrm xmlns:a="http://schemas.openxmlformats.org/drawingml/2006/main">
            <a:off x="647700" y="1257300"/>
            <a:ext cx="10839450" cy="0"/>
          </a:xfrm>
          <a:prstGeom xmlns:a="http://schemas.openxmlformats.org/drawingml/2006/main" prst="straightConnector1">
            <a:avLst/>
          </a:prstGeom>
          <a:ln xmlns:a="http://schemas.openxmlformats.org/drawingml/2006/main" w="9525">
            <a:solidFill>
              <a:srgbClr val="C6D0C9"/>
            </a:solidFill>
            <a:prstDash val="solid"/>
          </a:ln>
        </p:spPr>
      </p:cxnSp>
      <p:sp>
        <p:nvSpPr>
          <p:cNvPr id="4" name="">
            <a:extLst xmlns:a="http://schemas.openxmlformats.org/drawingml/2006/main">
              <a:ext uri="{FF2B5EF4-FFF2-40B4-BE49-F238E27FC236}">
                <a16:creationId xmlns:a16="http://schemas.microsoft.com/office/drawing/2014/main" id="{2F6DA710-644D-41E6-896E-29E80E9D1BBD}"/>
              </a:ext>
            </a:extLst>
          </p:cNvPr>
          <p:cNvSpPr>
            <a:spLocks xmlns:a="http://schemas.openxmlformats.org/drawingml/2006/main" noGrp="1"/>
          </p:cNvSpPr>
          <p:nvPr/>
        </p:nvSpPr>
        <p:spPr>
          <a:xfrm xmlns:a="http://schemas.openxmlformats.org/drawingml/2006/main">
            <a:off x="11382375" y="64389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a:solidFill>
                  <a:srgbClr val="5D6B63"/>
                </a:solidFill>
                <a:latin typeface="Arial"/>
                <a:ea typeface="Arial"/>
                <a:cs typeface="Arial"/>
              </a:defRPr>
            </a:pPr>
            <a:r>
              <a:rPr sz="900" b="0">
                <a:solidFill>
                  <a:srgbClr val="5D6B63"/>
                </a:solidFill>
                <a:latin typeface="Arial"/>
                <a:ea typeface="Arial"/>
                <a:cs typeface="Arial"/>
              </a:rPr>
              <a:t>10</a:t>
            </a:r>
          </a:p>
        </p:txBody>
      </p:sp>
      <p:graphicFrame>
        <p:nvGraphicFramePr>
          <p:cNvPr id="23" name="Chart"/>
          <p:cNvGraphicFramePr/>
          <p:nvPr/>
        </p:nvGraphicFramePr>
        <p:xfrm>
          <a:off xmlns:a="http://schemas.openxmlformats.org/drawingml/2006/main" x="523875" y="1571625"/>
          <a:ext xmlns:a="http://schemas.openxmlformats.org/drawingml/2006/main" cx="7381875" cy="3905250"/>
        </p:xfrm>
        <a:graphic xmlns:a="http://schemas.openxmlformats.org/drawingml/2006/main">
          <a:graphicData uri="http://schemas.openxmlformats.org/drawingml/2006/chart">
            <c:chart xmlns:r="http://schemas.openxmlformats.org/officeDocument/2006/relationships" xmlns:c="http://schemas.openxmlformats.org/drawingml/2006/chart" r:id="R6b3f44a73dcf4b17"/>
          </a:graphicData>
        </a:graphic>
      </p:graphicFrame>
      <p:sp>
        <p:nvSpPr>
          <p:cNvPr id="6" name="">
            <a:extLst xmlns:a="http://schemas.openxmlformats.org/drawingml/2006/main">
              <a:ext uri="{FF2B5EF4-FFF2-40B4-BE49-F238E27FC236}">
                <a16:creationId xmlns:a16="http://schemas.microsoft.com/office/drawing/2014/main" id="{CBA7D832-0C9F-4EF9-AA9F-649C1868A57E}"/>
              </a:ext>
            </a:extLst>
          </p:cNvPr>
          <p:cNvSpPr>
            <a:spLocks xmlns:a="http://schemas.openxmlformats.org/drawingml/2006/main" noGrp="1"/>
          </p:cNvSpPr>
          <p:nvPr/>
        </p:nvSpPr>
        <p:spPr>
          <a:xfrm xmlns:a="http://schemas.openxmlformats.org/drawingml/2006/main">
            <a:off x="8334375" y="1666875"/>
            <a:ext cx="2619375" cy="285750"/>
          </a:xfrm>
          <a:prstGeom xmlns:a="http://schemas.openxmlformats.org/drawingml/2006/main" prst="roundRect">
            <a:avLst>
              <a:gd name="adj" fmla="val 50000"/>
            </a:avLst>
          </a:prstGeom>
          <a:solidFill xmlns:a="http://schemas.openxmlformats.org/drawingml/2006/main">
            <a:srgbClr val="E8EFEA"/>
          </a:solidFill>
          <a:ln xmlns:a="http://schemas.openxmlformats.org/drawingml/2006/main" w="9525">
            <a:solidFill>
              <a:srgbClr val="E8EFEA"/>
            </a:solidFill>
            <a:prstDash val="solid"/>
          </a:ln>
        </p:spPr>
      </p:sp>
      <p:sp>
        <p:nvSpPr>
          <p:cNvPr id="7" name="">
            <a:extLst xmlns:a="http://schemas.openxmlformats.org/drawingml/2006/main">
              <a:ext uri="{FF2B5EF4-FFF2-40B4-BE49-F238E27FC236}">
                <a16:creationId xmlns:a16="http://schemas.microsoft.com/office/drawing/2014/main" id="{1335DD1D-465E-446F-9AEC-DB4322642654}"/>
              </a:ext>
            </a:extLst>
          </p:cNvPr>
          <p:cNvSpPr>
            <a:spLocks xmlns:a="http://schemas.openxmlformats.org/drawingml/2006/main" noGrp="1"/>
          </p:cNvSpPr>
          <p:nvPr/>
        </p:nvSpPr>
        <p:spPr>
          <a:xfrm xmlns:a="http://schemas.openxmlformats.org/drawingml/2006/main">
            <a:off x="8448675" y="1733550"/>
            <a:ext cx="2390775"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900" b="1">
                <a:solidFill>
                  <a:srgbClr val="5D6B63"/>
                </a:solidFill>
                <a:latin typeface="Arial"/>
                <a:ea typeface="Arial"/>
                <a:cs typeface="Arial"/>
              </a:defRPr>
            </a:pPr>
            <a:r>
              <a:rPr sz="900" b="1">
                <a:solidFill>
                  <a:srgbClr val="5D6B63"/>
                </a:solidFill>
                <a:latin typeface="Arial"/>
                <a:ea typeface="Arial"/>
                <a:cs typeface="Arial"/>
              </a:rPr>
              <a:t>CALIBRATED ON VALIDATION</a:t>
            </a:r>
          </a:p>
        </p:txBody>
      </p:sp>
      <p:sp>
        <p:nvSpPr>
          <p:cNvPr id="8" name="">
            <a:extLst xmlns:a="http://schemas.openxmlformats.org/drawingml/2006/main">
              <a:ext uri="{FF2B5EF4-FFF2-40B4-BE49-F238E27FC236}">
                <a16:creationId xmlns:a16="http://schemas.microsoft.com/office/drawing/2014/main" id="{D1EDAA9D-5E84-4244-B27C-EA6D47EEB453}"/>
              </a:ext>
            </a:extLst>
          </p:cNvPr>
          <p:cNvSpPr>
            <a:spLocks xmlns:a="http://schemas.openxmlformats.org/drawingml/2006/main" noGrp="1"/>
          </p:cNvSpPr>
          <p:nvPr/>
        </p:nvSpPr>
        <p:spPr>
          <a:xfrm xmlns:a="http://schemas.openxmlformats.org/drawingml/2006/main">
            <a:off x="8334375" y="2286000"/>
            <a:ext cx="2619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450" b="1">
                <a:solidFill>
                  <a:srgbClr val="1F7A55"/>
                </a:solidFill>
                <a:latin typeface="Arial"/>
                <a:ea typeface="Arial"/>
                <a:cs typeface="Arial"/>
              </a:defRPr>
            </a:pPr>
            <a:r>
              <a:rPr sz="3450" b="1">
                <a:solidFill>
                  <a:srgbClr val="1F7A55"/>
                </a:solidFill>
                <a:latin typeface="Arial"/>
                <a:ea typeface="Arial"/>
                <a:cs typeface="Arial"/>
              </a:rPr>
              <a:t>0.05</a:t>
            </a:r>
          </a:p>
        </p:txBody>
      </p:sp>
      <p:sp>
        <p:nvSpPr>
          <p:cNvPr id="9" name="">
            <a:extLst xmlns:a="http://schemas.openxmlformats.org/drawingml/2006/main">
              <a:ext uri="{FF2B5EF4-FFF2-40B4-BE49-F238E27FC236}">
                <a16:creationId xmlns:a16="http://schemas.microsoft.com/office/drawing/2014/main" id="{AB689FA8-5A45-4328-BC5D-D6B7F25A9385}"/>
              </a:ext>
            </a:extLst>
          </p:cNvPr>
          <p:cNvSpPr>
            <a:spLocks xmlns:a="http://schemas.openxmlformats.org/drawingml/2006/main" noGrp="1"/>
          </p:cNvSpPr>
          <p:nvPr/>
        </p:nvSpPr>
        <p:spPr>
          <a:xfrm xmlns:a="http://schemas.openxmlformats.org/drawingml/2006/main">
            <a:off x="8334375" y="2914650"/>
            <a:ext cx="2619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D6B63"/>
                </a:solidFill>
                <a:latin typeface="Arial"/>
                <a:ea typeface="Arial"/>
                <a:cs typeface="Arial"/>
              </a:defRPr>
            </a:pPr>
            <a:r>
              <a:rPr sz="1200" b="0">
                <a:solidFill>
                  <a:srgbClr val="5D6B63"/>
                </a:solidFill>
                <a:latin typeface="Arial"/>
                <a:ea typeface="Arial"/>
                <a:cs typeface="Arial"/>
              </a:rPr>
              <a:t>all-tile threshold</a:t>
            </a:r>
          </a:p>
        </p:txBody>
      </p:sp>
      <p:sp>
        <p:nvSpPr>
          <p:cNvPr id="10" name="">
            <a:extLst xmlns:a="http://schemas.openxmlformats.org/drawingml/2006/main">
              <a:ext uri="{FF2B5EF4-FFF2-40B4-BE49-F238E27FC236}">
                <a16:creationId xmlns:a16="http://schemas.microsoft.com/office/drawing/2014/main" id="{E8518EA1-FD35-4EFB-A413-990A3ED3081F}"/>
              </a:ext>
            </a:extLst>
          </p:cNvPr>
          <p:cNvSpPr>
            <a:spLocks xmlns:a="http://schemas.openxmlformats.org/drawingml/2006/main" noGrp="1"/>
          </p:cNvSpPr>
          <p:nvPr/>
        </p:nvSpPr>
        <p:spPr>
          <a:xfrm xmlns:a="http://schemas.openxmlformats.org/drawingml/2006/main">
            <a:off x="8334375" y="3667125"/>
            <a:ext cx="26193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450" b="1">
                <a:solidFill>
                  <a:srgbClr val="C8605A"/>
                </a:solidFill>
                <a:latin typeface="Arial"/>
                <a:ea typeface="Arial"/>
                <a:cs typeface="Arial"/>
              </a:defRPr>
            </a:pPr>
            <a:r>
              <a:rPr sz="3450" b="1">
                <a:solidFill>
                  <a:srgbClr val="C8605A"/>
                </a:solidFill>
                <a:latin typeface="Arial"/>
                <a:ea typeface="Arial"/>
                <a:cs typeface="Arial"/>
              </a:rPr>
              <a:t>0.95</a:t>
            </a:r>
          </a:p>
        </p:txBody>
      </p:sp>
      <p:sp>
        <p:nvSpPr>
          <p:cNvPr id="11" name="">
            <a:extLst xmlns:a="http://schemas.openxmlformats.org/drawingml/2006/main">
              <a:ext uri="{FF2B5EF4-FFF2-40B4-BE49-F238E27FC236}">
                <a16:creationId xmlns:a16="http://schemas.microsoft.com/office/drawing/2014/main" id="{E5E26284-65D1-4F2A-9EAD-E7CF4A66837F}"/>
              </a:ext>
            </a:extLst>
          </p:cNvPr>
          <p:cNvSpPr>
            <a:spLocks xmlns:a="http://schemas.openxmlformats.org/drawingml/2006/main" noGrp="1"/>
          </p:cNvSpPr>
          <p:nvPr/>
        </p:nvSpPr>
        <p:spPr>
          <a:xfrm xmlns:a="http://schemas.openxmlformats.org/drawingml/2006/main">
            <a:off x="8334375" y="4295775"/>
            <a:ext cx="26193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D6B63"/>
                </a:solidFill>
                <a:latin typeface="Arial"/>
                <a:ea typeface="Arial"/>
                <a:cs typeface="Arial"/>
              </a:defRPr>
            </a:pPr>
            <a:r>
              <a:rPr sz="1200" b="0">
                <a:solidFill>
                  <a:srgbClr val="5D6B63"/>
                </a:solidFill>
                <a:latin typeface="Arial"/>
                <a:ea typeface="Arial"/>
                <a:cs typeface="Arial"/>
              </a:rPr>
              <a:t>positive-only threshold</a:t>
            </a:r>
          </a:p>
        </p:txBody>
      </p:sp>
      <p:sp>
        <p:nvSpPr>
          <p:cNvPr id="12" name="">
            <a:extLst xmlns:a="http://schemas.openxmlformats.org/drawingml/2006/main">
              <a:ext uri="{FF2B5EF4-FFF2-40B4-BE49-F238E27FC236}">
                <a16:creationId xmlns:a16="http://schemas.microsoft.com/office/drawing/2014/main" id="{909D06CA-F2F7-46BA-BBBF-E94E5C4C5565}"/>
              </a:ext>
            </a:extLst>
          </p:cNvPr>
          <p:cNvSpPr>
            <a:spLocks xmlns:a="http://schemas.openxmlformats.org/drawingml/2006/main" noGrp="1"/>
          </p:cNvSpPr>
          <p:nvPr/>
        </p:nvSpPr>
        <p:spPr>
          <a:xfrm xmlns:a="http://schemas.openxmlformats.org/drawingml/2006/main">
            <a:off x="8096250" y="5095875"/>
            <a:ext cx="3143250" cy="666750"/>
          </a:xfrm>
          <a:prstGeom xmlns:a="http://schemas.openxmlformats.org/drawingml/2006/main" prst="roundRect">
            <a:avLst>
              <a:gd name="adj" fmla="val 8571"/>
            </a:avLst>
          </a:prstGeom>
          <a:solidFill xmlns:a="http://schemas.openxmlformats.org/drawingml/2006/main">
            <a:srgbClr val="F4F7F4"/>
          </a:solidFill>
          <a:ln xmlns:a="http://schemas.openxmlformats.org/drawingml/2006/main" w="9525">
            <a:solidFill>
              <a:srgbClr val="F4F7F4"/>
            </a:solidFill>
            <a:prstDash val="solid"/>
          </a:ln>
        </p:spPr>
      </p:sp>
      <p:sp>
        <p:nvSpPr>
          <p:cNvPr id="13" name="">
            <a:extLst xmlns:a="http://schemas.openxmlformats.org/drawingml/2006/main">
              <a:ext uri="{FF2B5EF4-FFF2-40B4-BE49-F238E27FC236}">
                <a16:creationId xmlns:a16="http://schemas.microsoft.com/office/drawing/2014/main" id="{40174772-9EC1-454C-9006-FFB6BFA5C853}"/>
              </a:ext>
            </a:extLst>
          </p:cNvPr>
          <p:cNvSpPr>
            <a:spLocks xmlns:a="http://schemas.openxmlformats.org/drawingml/2006/main" noGrp="1"/>
          </p:cNvSpPr>
          <p:nvPr/>
        </p:nvSpPr>
        <p:spPr>
          <a:xfrm xmlns:a="http://schemas.openxmlformats.org/drawingml/2006/main">
            <a:off x="8315325" y="5238750"/>
            <a:ext cx="2714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105"/>
          </a:bodyPr>
          <a:lstStyle xmlns:a="http://schemas.openxmlformats.org/drawingml/2006/main"/>
          <a:p xmlns:a="http://schemas.openxmlformats.org/drawingml/2006/main">
            <a:pPr algn="ctr">
              <a:buNone/>
              <a:defRPr sz="1425" b="1">
                <a:solidFill>
                  <a:srgbClr val="17221B"/>
                </a:solidFill>
                <a:latin typeface="Arial"/>
                <a:ea typeface="Arial"/>
                <a:cs typeface="Arial"/>
              </a:defRPr>
            </a:pPr>
            <a:r>
              <a:rPr sz="1425" b="1">
                <a:solidFill>
                  <a:srgbClr val="17221B"/>
                </a:solidFill>
                <a:latin typeface="Arial"/>
                <a:ea typeface="Arial"/>
                <a:cs typeface="Arial"/>
              </a:rPr>
              <a:t>Dice advantage</a:t>
            </a:r>
          </a:p>
          <a:p xmlns:a="http://schemas.openxmlformats.org/drawingml/2006/main">
            <a:pPr algn="ctr">
              <a:buNone/>
              <a:defRPr sz="1425" b="1">
                <a:solidFill>
                  <a:srgbClr val="17221B"/>
                </a:solidFill>
                <a:latin typeface="Arial"/>
                <a:ea typeface="Arial"/>
                <a:cs typeface="Arial"/>
              </a:defRPr>
            </a:pPr>
            <a:r>
              <a:rPr sz="1425" b="1">
                <a:solidFill>
                  <a:srgbClr val="17221B"/>
                </a:solidFill>
                <a:latin typeface="Arial"/>
                <a:ea typeface="Arial"/>
                <a:cs typeface="Arial"/>
              </a:rPr>
              <a:t>+5.33 percentage points</a:t>
            </a:r>
          </a:p>
        </p:txBody>
      </p:sp>
      <p:sp>
        <p:nvSpPr>
          <p:cNvPr id="14" name="">
            <a:extLst xmlns:a="http://schemas.openxmlformats.org/drawingml/2006/main">
              <a:ext uri="{FF2B5EF4-FFF2-40B4-BE49-F238E27FC236}">
                <a16:creationId xmlns:a16="http://schemas.microsoft.com/office/drawing/2014/main" id="{6E62BBFD-8A1D-4BBF-9E7B-95FA27968EE9}"/>
              </a:ext>
            </a:extLst>
          </p:cNvPr>
          <p:cNvSpPr>
            <a:spLocks xmlns:a="http://schemas.openxmlformats.org/drawingml/2006/main" noGrp="1"/>
          </p:cNvSpPr>
          <p:nvPr/>
        </p:nvSpPr>
        <p:spPr>
          <a:xfrm xmlns:a="http://schemas.openxmlformats.org/drawingml/2006/main">
            <a:off x="571500" y="6457950"/>
            <a:ext cx="9906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0">
                <a:solidFill>
                  <a:srgbClr val="5D6B63"/>
                </a:solidFill>
                <a:latin typeface="Arial"/>
                <a:ea typeface="Arial"/>
                <a:cs typeface="Arial"/>
              </a:defRPr>
            </a:pPr>
            <a:r>
              <a:rPr sz="750" b="0">
                <a:solidFill>
                  <a:srgbClr val="5D6B63"/>
                </a:solidFill>
                <a:latin typeface="Arial"/>
                <a:ea typeface="Arial"/>
                <a:cs typeface="Arial"/>
              </a:rPr>
              <a:t>Validation only · 203 tiles · test set untouched</a:t>
            </a:r>
          </a:p>
        </p:txBody>
      </p:sp>
    </p:spTree>
    <p:extLst>
      <p:ext uri="{BB962C8B-B14F-4D97-AF65-F5344CB8AC3E}">
        <p14:creationId xmlns:p14="http://schemas.microsoft.com/office/powerpoint/2010/main" val="214740079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AFAE1EC-C828-46AE-AF0E-A451A5CAF9BF}"/>
              </a:ext>
            </a:extLst>
          </p:cNvPr>
          <p:cNvSpPr>
            <a:spLocks xmlns:a="http://schemas.openxmlformats.org/drawingml/2006/main" noGrp="1"/>
          </p:cNvSpPr>
          <p:nvPr/>
        </p:nvSpPr>
        <p:spPr>
          <a:xfrm xmlns:a="http://schemas.openxmlformats.org/drawingml/2006/main">
            <a:off x="647700" y="22860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1F7A55"/>
                </a:solidFill>
                <a:latin typeface="Arial"/>
                <a:ea typeface="Arial"/>
                <a:cs typeface="Arial"/>
              </a:defRPr>
            </a:pPr>
            <a:r>
              <a:rPr sz="900" b="1">
                <a:solidFill>
                  <a:srgbClr val="1F7A55"/>
                </a:solidFill>
                <a:latin typeface="Arial"/>
                <a:ea typeface="Arial"/>
                <a:cs typeface="Arial"/>
              </a:rPr>
              <a:t>ERROR ANALYSIS</a:t>
            </a:r>
          </a:p>
        </p:txBody>
      </p:sp>
      <p:sp>
        <p:nvSpPr>
          <p:cNvPr id="2" name="">
            <a:extLst xmlns:a="http://schemas.openxmlformats.org/drawingml/2006/main">
              <a:ext uri="{FF2B5EF4-FFF2-40B4-BE49-F238E27FC236}">
                <a16:creationId xmlns:a16="http://schemas.microsoft.com/office/drawing/2014/main" id="{51EC7DB1-3D27-4450-A8BB-7729ED73C928}"/>
              </a:ext>
            </a:extLst>
          </p:cNvPr>
          <p:cNvSpPr>
            <a:spLocks xmlns:a="http://schemas.openxmlformats.org/drawingml/2006/main" noGrp="1"/>
          </p:cNvSpPr>
          <p:nvPr/>
        </p:nvSpPr>
        <p:spPr>
          <a:xfrm xmlns:a="http://schemas.openxmlformats.org/drawingml/2006/main">
            <a:off x="647700" y="60960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7221B"/>
                </a:solidFill>
                <a:latin typeface="Arial"/>
                <a:ea typeface="Arial"/>
                <a:cs typeface="Arial"/>
              </a:defRPr>
            </a:pPr>
            <a:r>
              <a:rPr sz="2325" b="1">
                <a:solidFill>
                  <a:srgbClr val="17221B"/>
                </a:solidFill>
                <a:latin typeface="Arial"/>
                <a:ea typeface="Arial"/>
                <a:cs typeface="Arial"/>
              </a:rPr>
              <a:t>Positive-only training spreads false positives across more scenes</a:t>
            </a:r>
          </a:p>
        </p:txBody>
      </p:sp>
      <p:cxnSp>
        <p:nvCxnSpPr>
          <p:cNvPr id="39" name=""/>
          <p:cNvCxnSpPr/>
          <p:nvPr/>
        </p:nvCxnSpPr>
        <p:spPr>
          <a:xfrm xmlns:a="http://schemas.openxmlformats.org/drawingml/2006/main">
            <a:off x="647700" y="1257300"/>
            <a:ext cx="10839450" cy="0"/>
          </a:xfrm>
          <a:prstGeom xmlns:a="http://schemas.openxmlformats.org/drawingml/2006/main" prst="straightConnector1">
            <a:avLst/>
          </a:prstGeom>
          <a:ln xmlns:a="http://schemas.openxmlformats.org/drawingml/2006/main" w="9525">
            <a:solidFill>
              <a:srgbClr val="C6D0C9"/>
            </a:solidFill>
            <a:prstDash val="solid"/>
          </a:ln>
        </p:spPr>
      </p:cxnSp>
      <p:sp>
        <p:nvSpPr>
          <p:cNvPr id="4" name="">
            <a:extLst xmlns:a="http://schemas.openxmlformats.org/drawingml/2006/main">
              <a:ext uri="{FF2B5EF4-FFF2-40B4-BE49-F238E27FC236}">
                <a16:creationId xmlns:a16="http://schemas.microsoft.com/office/drawing/2014/main" id="{FE3B0D5C-E012-4A94-97D5-9FAD53DF317B}"/>
              </a:ext>
            </a:extLst>
          </p:cNvPr>
          <p:cNvSpPr>
            <a:spLocks xmlns:a="http://schemas.openxmlformats.org/drawingml/2006/main" noGrp="1"/>
          </p:cNvSpPr>
          <p:nvPr/>
        </p:nvSpPr>
        <p:spPr>
          <a:xfrm xmlns:a="http://schemas.openxmlformats.org/drawingml/2006/main">
            <a:off x="11382375" y="64389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a:solidFill>
                  <a:srgbClr val="5D6B63"/>
                </a:solidFill>
                <a:latin typeface="Arial"/>
                <a:ea typeface="Arial"/>
                <a:cs typeface="Arial"/>
              </a:defRPr>
            </a:pPr>
            <a:r>
              <a:rPr sz="900" b="0">
                <a:solidFill>
                  <a:srgbClr val="5D6B63"/>
                </a:solidFill>
                <a:latin typeface="Arial"/>
                <a:ea typeface="Arial"/>
                <a:cs typeface="Arial"/>
              </a:rPr>
              <a:t>11</a:t>
            </a:r>
          </a:p>
        </p:txBody>
      </p:sp>
      <p:sp>
        <p:nvSpPr>
          <p:cNvPr id="5" name="">
            <a:extLst xmlns:a="http://schemas.openxmlformats.org/drawingml/2006/main">
              <a:ext uri="{FF2B5EF4-FFF2-40B4-BE49-F238E27FC236}">
                <a16:creationId xmlns:a16="http://schemas.microsoft.com/office/drawing/2014/main" id="{6205F79E-DED3-4141-9AE5-808CC4ACF083}"/>
              </a:ext>
            </a:extLst>
          </p:cNvPr>
          <p:cNvSpPr>
            <a:spLocks xmlns:a="http://schemas.openxmlformats.org/drawingml/2006/main" noGrp="1"/>
          </p:cNvSpPr>
          <p:nvPr/>
        </p:nvSpPr>
        <p:spPr>
          <a:xfrm xmlns:a="http://schemas.openxmlformats.org/drawingml/2006/main">
            <a:off x="590550" y="1476375"/>
            <a:ext cx="1143000" cy="285750"/>
          </a:xfrm>
          <a:prstGeom xmlns:a="http://schemas.openxmlformats.org/drawingml/2006/main" prst="roundRect">
            <a:avLst>
              <a:gd name="adj" fmla="val 50000"/>
            </a:avLst>
          </a:prstGeom>
          <a:solidFill xmlns:a="http://schemas.openxmlformats.org/drawingml/2006/main">
            <a:srgbClr val="CDE8D6"/>
          </a:solidFill>
          <a:ln xmlns:a="http://schemas.openxmlformats.org/drawingml/2006/main" w="9525">
            <a:solidFill>
              <a:srgbClr val="CDE8D6"/>
            </a:solidFill>
            <a:prstDash val="solid"/>
          </a:ln>
        </p:spPr>
      </p:sp>
      <p:sp>
        <p:nvSpPr>
          <p:cNvPr id="6" name="">
            <a:extLst xmlns:a="http://schemas.openxmlformats.org/drawingml/2006/main">
              <a:ext uri="{FF2B5EF4-FFF2-40B4-BE49-F238E27FC236}">
                <a16:creationId xmlns:a16="http://schemas.microsoft.com/office/drawing/2014/main" id="{BB6BE4C4-D36A-48E8-A619-B1EE68C6D393}"/>
              </a:ext>
            </a:extLst>
          </p:cNvPr>
          <p:cNvSpPr>
            <a:spLocks xmlns:a="http://schemas.openxmlformats.org/drawingml/2006/main" noGrp="1"/>
          </p:cNvSpPr>
          <p:nvPr/>
        </p:nvSpPr>
        <p:spPr>
          <a:xfrm xmlns:a="http://schemas.openxmlformats.org/drawingml/2006/main">
            <a:off x="704850" y="1543050"/>
            <a:ext cx="9144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900" b="1">
                <a:solidFill>
                  <a:srgbClr val="1F7A55"/>
                </a:solidFill>
                <a:latin typeface="Arial"/>
                <a:ea typeface="Arial"/>
                <a:cs typeface="Arial"/>
              </a:defRPr>
            </a:pPr>
            <a:r>
              <a:rPr sz="900" b="1">
                <a:solidFill>
                  <a:srgbClr val="1F7A55"/>
                </a:solidFill>
                <a:latin typeface="Arial"/>
                <a:ea typeface="Arial"/>
                <a:cs typeface="Arial"/>
              </a:rPr>
              <a:t>ALL-TILE</a:t>
            </a:r>
          </a:p>
        </p:txBody>
      </p:sp>
      <p:sp>
        <p:nvSpPr>
          <p:cNvPr id="7" name="">
            <a:extLst xmlns:a="http://schemas.openxmlformats.org/drawingml/2006/main">
              <a:ext uri="{FF2B5EF4-FFF2-40B4-BE49-F238E27FC236}">
                <a16:creationId xmlns:a16="http://schemas.microsoft.com/office/drawing/2014/main" id="{9F1A1D3B-D58D-4B92-ABAF-BCC07445C7B2}"/>
              </a:ext>
            </a:extLst>
          </p:cNvPr>
          <p:cNvSpPr>
            <a:spLocks xmlns:a="http://schemas.openxmlformats.org/drawingml/2006/main" noGrp="1"/>
          </p:cNvSpPr>
          <p:nvPr/>
        </p:nvSpPr>
        <p:spPr>
          <a:xfrm xmlns:a="http://schemas.openxmlformats.org/drawingml/2006/main">
            <a:off x="1857375" y="1495425"/>
            <a:ext cx="2952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1">
                <a:solidFill>
                  <a:srgbClr val="1F7A55"/>
                </a:solidFill>
                <a:latin typeface="Arial"/>
                <a:ea typeface="Arial"/>
                <a:cs typeface="Arial"/>
              </a:defRPr>
            </a:pPr>
            <a:r>
              <a:rPr sz="1425" b="1">
                <a:solidFill>
                  <a:srgbClr val="1F7A55"/>
                </a:solidFill>
                <a:latin typeface="Arial"/>
                <a:ea typeface="Arial"/>
                <a:cs typeface="Arial"/>
              </a:rPr>
              <a:t>10 / 181 negative scenes</a:t>
            </a:r>
          </a:p>
        </p:txBody>
      </p:sp>
      <p:pic>
        <p:nvPicPr>
          <p:cNvPr id="44" name=""/>
          <p:cNvPicPr>
            <a:picLocks xmlns:a="http://schemas.openxmlformats.org/drawingml/2006/main" noChangeAspect="1"/>
          </p:cNvPicPr>
          <p:nvPr/>
        </p:nvPicPr>
        <p:blipFill>
          <a:blip xmlns:r="http://schemas.openxmlformats.org/officeDocument/2006/relationships" xmlns:a="http://schemas.openxmlformats.org/drawingml/2006/main" r:embed="R72be914bd3e94522"/>
          <a:stretch xmlns:a="http://schemas.openxmlformats.org/drawingml/2006/main"/>
        </p:blipFill>
        <p:spPr>
          <a:xfrm xmlns:a="http://schemas.openxmlformats.org/drawingml/2006/main">
            <a:off x="590550" y="2293739"/>
            <a:ext cx="5334000" cy="1308497"/>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BD2BFD14-7F39-4D25-8697-39ECB687E891}"/>
              </a:ext>
            </a:extLst>
          </p:cNvPr>
          <p:cNvSpPr>
            <a:spLocks xmlns:a="http://schemas.openxmlformats.org/drawingml/2006/main" noGrp="1"/>
          </p:cNvSpPr>
          <p:nvPr/>
        </p:nvSpPr>
        <p:spPr>
          <a:xfrm xmlns:a="http://schemas.openxmlformats.org/drawingml/2006/main">
            <a:off x="6267450" y="1476375"/>
            <a:ext cx="1428750" cy="285750"/>
          </a:xfrm>
          <a:prstGeom xmlns:a="http://schemas.openxmlformats.org/drawingml/2006/main" prst="roundRect">
            <a:avLst>
              <a:gd name="adj" fmla="val 50000"/>
            </a:avLst>
          </a:prstGeom>
          <a:solidFill xmlns:a="http://schemas.openxmlformats.org/drawingml/2006/main">
            <a:srgbClr val="F0D6D3"/>
          </a:solidFill>
          <a:ln xmlns:a="http://schemas.openxmlformats.org/drawingml/2006/main" w="9525">
            <a:solidFill>
              <a:srgbClr val="F0D6D3"/>
            </a:solidFill>
            <a:prstDash val="solid"/>
          </a:ln>
        </p:spPr>
      </p:sp>
      <p:sp>
        <p:nvSpPr>
          <p:cNvPr id="10" name="">
            <a:extLst xmlns:a="http://schemas.openxmlformats.org/drawingml/2006/main">
              <a:ext uri="{FF2B5EF4-FFF2-40B4-BE49-F238E27FC236}">
                <a16:creationId xmlns:a16="http://schemas.microsoft.com/office/drawing/2014/main" id="{5999FB71-9126-46F9-A4F4-FD1B8E65861E}"/>
              </a:ext>
            </a:extLst>
          </p:cNvPr>
          <p:cNvSpPr>
            <a:spLocks xmlns:a="http://schemas.openxmlformats.org/drawingml/2006/main" noGrp="1"/>
          </p:cNvSpPr>
          <p:nvPr/>
        </p:nvSpPr>
        <p:spPr>
          <a:xfrm xmlns:a="http://schemas.openxmlformats.org/drawingml/2006/main">
            <a:off x="6381750" y="1543050"/>
            <a:ext cx="12001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900" b="1">
                <a:solidFill>
                  <a:srgbClr val="C8605A"/>
                </a:solidFill>
                <a:latin typeface="Arial"/>
                <a:ea typeface="Arial"/>
                <a:cs typeface="Arial"/>
              </a:defRPr>
            </a:pPr>
            <a:r>
              <a:rPr sz="900" b="1">
                <a:solidFill>
                  <a:srgbClr val="C8605A"/>
                </a:solidFill>
                <a:latin typeface="Arial"/>
                <a:ea typeface="Arial"/>
                <a:cs typeface="Arial"/>
              </a:rPr>
              <a:t>POSITIVE-ONLY</a:t>
            </a:r>
          </a:p>
        </p:txBody>
      </p:sp>
      <p:sp>
        <p:nvSpPr>
          <p:cNvPr id="11" name="">
            <a:extLst xmlns:a="http://schemas.openxmlformats.org/drawingml/2006/main">
              <a:ext uri="{FF2B5EF4-FFF2-40B4-BE49-F238E27FC236}">
                <a16:creationId xmlns:a16="http://schemas.microsoft.com/office/drawing/2014/main" id="{6329FD4D-F9E5-4550-87F6-7B1361D2917F}"/>
              </a:ext>
            </a:extLst>
          </p:cNvPr>
          <p:cNvSpPr>
            <a:spLocks xmlns:a="http://schemas.openxmlformats.org/drawingml/2006/main" noGrp="1"/>
          </p:cNvSpPr>
          <p:nvPr/>
        </p:nvSpPr>
        <p:spPr>
          <a:xfrm xmlns:a="http://schemas.openxmlformats.org/drawingml/2006/main">
            <a:off x="7810500" y="1495425"/>
            <a:ext cx="304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425" b="1">
                <a:solidFill>
                  <a:srgbClr val="C8605A"/>
                </a:solidFill>
                <a:latin typeface="Arial"/>
                <a:ea typeface="Arial"/>
                <a:cs typeface="Arial"/>
              </a:defRPr>
            </a:pPr>
            <a:r>
              <a:rPr sz="1425" b="1">
                <a:solidFill>
                  <a:srgbClr val="C8605A"/>
                </a:solidFill>
                <a:latin typeface="Arial"/>
                <a:ea typeface="Arial"/>
                <a:cs typeface="Arial"/>
              </a:rPr>
              <a:t>65 / 181 negative scenes</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86c94218909145d3"/>
          <a:stretch xmlns:a="http://schemas.openxmlformats.org/drawingml/2006/main"/>
        </p:blipFill>
        <p:spPr>
          <a:xfrm xmlns:a="http://schemas.openxmlformats.org/drawingml/2006/main">
            <a:off x="6267450" y="2293739"/>
            <a:ext cx="5334000" cy="1308497"/>
          </a:xfrm>
          <a:prstGeom xmlns:a="http://schemas.openxmlformats.org/drawingml/2006/main" prst="rect">
            <a:avLst/>
          </a:prstGeom>
        </p:spPr>
      </p:pic>
      <p:cxnSp>
        <p:nvCxnSpPr>
          <p:cNvPr id="49" name=""/>
          <p:cNvCxnSpPr/>
          <p:nvPr/>
        </p:nvCxnSpPr>
        <p:spPr>
          <a:xfrm xmlns:a="http://schemas.openxmlformats.org/drawingml/2006/main">
            <a:off x="590550" y="4333875"/>
            <a:ext cx="11010900" cy="0"/>
          </a:xfrm>
          <a:prstGeom xmlns:a="http://schemas.openxmlformats.org/drawingml/2006/main" prst="straightConnector1">
            <a:avLst/>
          </a:prstGeom>
          <a:ln xmlns:a="http://schemas.openxmlformats.org/drawingml/2006/main" w="9525">
            <a:solidFill>
              <a:srgbClr val="C6D0C9"/>
            </a:solidFill>
            <a:prstDash val="solid"/>
          </a:ln>
        </p:spPr>
      </p:cxnSp>
      <p:sp>
        <p:nvSpPr>
          <p:cNvPr id="14" name="">
            <a:extLst xmlns:a="http://schemas.openxmlformats.org/drawingml/2006/main">
              <a:ext uri="{FF2B5EF4-FFF2-40B4-BE49-F238E27FC236}">
                <a16:creationId xmlns:a16="http://schemas.microsoft.com/office/drawing/2014/main" id="{8957FCDB-3154-4788-A19C-B39A04CEA1A5}"/>
              </a:ext>
            </a:extLst>
          </p:cNvPr>
          <p:cNvSpPr>
            <a:spLocks xmlns:a="http://schemas.openxmlformats.org/drawingml/2006/main" noGrp="1"/>
          </p:cNvSpPr>
          <p:nvPr/>
        </p:nvSpPr>
        <p:spPr>
          <a:xfrm xmlns:a="http://schemas.openxmlformats.org/drawingml/2006/main">
            <a:off x="590550" y="4572000"/>
            <a:ext cx="2286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5D6B63"/>
                </a:solidFill>
                <a:latin typeface="Arial"/>
                <a:ea typeface="Arial"/>
                <a:cs typeface="Arial"/>
              </a:defRPr>
            </a:pPr>
            <a:r>
              <a:rPr sz="1050" b="1">
                <a:solidFill>
                  <a:srgbClr val="5D6B63"/>
                </a:solidFill>
                <a:latin typeface="Arial"/>
                <a:ea typeface="Arial"/>
                <a:cs typeface="Arial"/>
              </a:rPr>
              <a:t>False-positive pixels</a:t>
            </a:r>
          </a:p>
        </p:txBody>
      </p:sp>
      <p:sp>
        <p:nvSpPr>
          <p:cNvPr id="15" name="">
            <a:extLst xmlns:a="http://schemas.openxmlformats.org/drawingml/2006/main">
              <a:ext uri="{FF2B5EF4-FFF2-40B4-BE49-F238E27FC236}">
                <a16:creationId xmlns:a16="http://schemas.microsoft.com/office/drawing/2014/main" id="{AFDECD74-88AE-432E-844D-B067DCAED176}"/>
              </a:ext>
            </a:extLst>
          </p:cNvPr>
          <p:cNvSpPr>
            <a:spLocks xmlns:a="http://schemas.openxmlformats.org/drawingml/2006/main" noGrp="1"/>
          </p:cNvSpPr>
          <p:nvPr/>
        </p:nvSpPr>
        <p:spPr>
          <a:xfrm xmlns:a="http://schemas.openxmlformats.org/drawingml/2006/main">
            <a:off x="2952750" y="4486275"/>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100" b="1">
                <a:solidFill>
                  <a:srgbClr val="1F7A55"/>
                </a:solidFill>
                <a:latin typeface="Arial"/>
                <a:ea typeface="Arial"/>
                <a:cs typeface="Arial"/>
              </a:defRPr>
            </a:pPr>
            <a:r>
              <a:rPr sz="2100" b="1">
                <a:solidFill>
                  <a:srgbClr val="1F7A55"/>
                </a:solidFill>
                <a:latin typeface="Arial"/>
                <a:ea typeface="Arial"/>
                <a:cs typeface="Arial"/>
              </a:rPr>
              <a:t>31,962</a:t>
            </a:r>
          </a:p>
        </p:txBody>
      </p:sp>
      <p:sp>
        <p:nvSpPr>
          <p:cNvPr id="16" name="">
            <a:extLst xmlns:a="http://schemas.openxmlformats.org/drawingml/2006/main">
              <a:ext uri="{FF2B5EF4-FFF2-40B4-BE49-F238E27FC236}">
                <a16:creationId xmlns:a16="http://schemas.microsoft.com/office/drawing/2014/main" id="{6CC8BC2D-624B-41FD-A9D2-E2E0BD0976A0}"/>
              </a:ext>
            </a:extLst>
          </p:cNvPr>
          <p:cNvSpPr>
            <a:spLocks xmlns:a="http://schemas.openxmlformats.org/drawingml/2006/main" noGrp="1"/>
          </p:cNvSpPr>
          <p:nvPr/>
        </p:nvSpPr>
        <p:spPr>
          <a:xfrm xmlns:a="http://schemas.openxmlformats.org/drawingml/2006/main">
            <a:off x="2952750" y="4867275"/>
            <a:ext cx="1428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0">
                <a:solidFill>
                  <a:srgbClr val="5D6B63"/>
                </a:solidFill>
                <a:latin typeface="Arial"/>
                <a:ea typeface="Arial"/>
                <a:cs typeface="Arial"/>
              </a:defRPr>
            </a:pPr>
            <a:r>
              <a:rPr sz="975" b="0">
                <a:solidFill>
                  <a:srgbClr val="5D6B63"/>
                </a:solidFill>
                <a:latin typeface="Arial"/>
                <a:ea typeface="Arial"/>
                <a:cs typeface="Arial"/>
              </a:rPr>
              <a:t>all-tile</a:t>
            </a:r>
          </a:p>
        </p:txBody>
      </p:sp>
      <p:sp>
        <p:nvSpPr>
          <p:cNvPr id="17" name="">
            <a:extLst xmlns:a="http://schemas.openxmlformats.org/drawingml/2006/main">
              <a:ext uri="{FF2B5EF4-FFF2-40B4-BE49-F238E27FC236}">
                <a16:creationId xmlns:a16="http://schemas.microsoft.com/office/drawing/2014/main" id="{1C8F96D4-C9FE-4C99-B3E0-478B0601D482}"/>
              </a:ext>
            </a:extLst>
          </p:cNvPr>
          <p:cNvSpPr>
            <a:spLocks xmlns:a="http://schemas.openxmlformats.org/drawingml/2006/main" noGrp="1"/>
          </p:cNvSpPr>
          <p:nvPr/>
        </p:nvSpPr>
        <p:spPr>
          <a:xfrm xmlns:a="http://schemas.openxmlformats.org/drawingml/2006/main">
            <a:off x="6429375" y="4486275"/>
            <a:ext cx="1428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100" b="1">
                <a:solidFill>
                  <a:srgbClr val="C8605A"/>
                </a:solidFill>
                <a:latin typeface="Arial"/>
                <a:ea typeface="Arial"/>
                <a:cs typeface="Arial"/>
              </a:defRPr>
            </a:pPr>
            <a:r>
              <a:rPr sz="2100" b="1">
                <a:solidFill>
                  <a:srgbClr val="C8605A"/>
                </a:solidFill>
                <a:latin typeface="Arial"/>
                <a:ea typeface="Arial"/>
                <a:cs typeface="Arial"/>
              </a:rPr>
              <a:t>29,839</a:t>
            </a:r>
          </a:p>
        </p:txBody>
      </p:sp>
      <p:sp>
        <p:nvSpPr>
          <p:cNvPr id="18" name="">
            <a:extLst xmlns:a="http://schemas.openxmlformats.org/drawingml/2006/main">
              <a:ext uri="{FF2B5EF4-FFF2-40B4-BE49-F238E27FC236}">
                <a16:creationId xmlns:a16="http://schemas.microsoft.com/office/drawing/2014/main" id="{7BB06289-63DD-4E68-B59A-0CCB70D1B848}"/>
              </a:ext>
            </a:extLst>
          </p:cNvPr>
          <p:cNvSpPr>
            <a:spLocks xmlns:a="http://schemas.openxmlformats.org/drawingml/2006/main" noGrp="1"/>
          </p:cNvSpPr>
          <p:nvPr/>
        </p:nvSpPr>
        <p:spPr>
          <a:xfrm xmlns:a="http://schemas.openxmlformats.org/drawingml/2006/main">
            <a:off x="6429375" y="48672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0">
                <a:solidFill>
                  <a:srgbClr val="5D6B63"/>
                </a:solidFill>
                <a:latin typeface="Arial"/>
                <a:ea typeface="Arial"/>
                <a:cs typeface="Arial"/>
              </a:defRPr>
            </a:pPr>
            <a:r>
              <a:rPr sz="975" b="0">
                <a:solidFill>
                  <a:srgbClr val="5D6B63"/>
                </a:solidFill>
                <a:latin typeface="Arial"/>
                <a:ea typeface="Arial"/>
                <a:cs typeface="Arial"/>
              </a:rPr>
              <a:t>positive-only</a:t>
            </a:r>
          </a:p>
        </p:txBody>
      </p:sp>
      <p:sp>
        <p:nvSpPr>
          <p:cNvPr id="19" name="">
            <a:extLst xmlns:a="http://schemas.openxmlformats.org/drawingml/2006/main">
              <a:ext uri="{FF2B5EF4-FFF2-40B4-BE49-F238E27FC236}">
                <a16:creationId xmlns:a16="http://schemas.microsoft.com/office/drawing/2014/main" id="{8F50B413-3215-4FB1-80A4-ED4789C88DB2}"/>
              </a:ext>
            </a:extLst>
          </p:cNvPr>
          <p:cNvSpPr>
            <a:spLocks xmlns:a="http://schemas.openxmlformats.org/drawingml/2006/main" noGrp="1"/>
          </p:cNvSpPr>
          <p:nvPr/>
        </p:nvSpPr>
        <p:spPr>
          <a:xfrm xmlns:a="http://schemas.openxmlformats.org/drawingml/2006/main">
            <a:off x="590550" y="5429250"/>
            <a:ext cx="11010900" cy="533400"/>
          </a:xfrm>
          <a:prstGeom xmlns:a="http://schemas.openxmlformats.org/drawingml/2006/main" prst="roundRect">
            <a:avLst>
              <a:gd name="adj" fmla="val 8929"/>
            </a:avLst>
          </a:prstGeom>
          <a:solidFill xmlns:a="http://schemas.openxmlformats.org/drawingml/2006/main">
            <a:srgbClr val="0E2C22"/>
          </a:solidFill>
          <a:ln xmlns:a="http://schemas.openxmlformats.org/drawingml/2006/main" w="9525">
            <a:solidFill>
              <a:srgbClr val="0E2C22"/>
            </a:solidFill>
            <a:prstDash val="solid"/>
          </a:ln>
        </p:spPr>
      </p:sp>
      <p:sp>
        <p:nvSpPr>
          <p:cNvPr id="20" name="">
            <a:extLst xmlns:a="http://schemas.openxmlformats.org/drawingml/2006/main">
              <a:ext uri="{FF2B5EF4-FFF2-40B4-BE49-F238E27FC236}">
                <a16:creationId xmlns:a16="http://schemas.microsoft.com/office/drawing/2014/main" id="{B57D3792-DD5C-4434-AD1C-C2DD298CF3D4}"/>
              </a:ext>
            </a:extLst>
          </p:cNvPr>
          <p:cNvSpPr>
            <a:spLocks xmlns:a="http://schemas.openxmlformats.org/drawingml/2006/main" noGrp="1"/>
          </p:cNvSpPr>
          <p:nvPr/>
        </p:nvSpPr>
        <p:spPr>
          <a:xfrm xmlns:a="http://schemas.openxmlformats.org/drawingml/2006/main">
            <a:off x="838200" y="5562600"/>
            <a:ext cx="105156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00" b="1">
                <a:solidFill>
                  <a:srgbClr val="FFFFFF"/>
                </a:solidFill>
                <a:latin typeface="Arial"/>
                <a:ea typeface="Arial"/>
                <a:cs typeface="Arial"/>
              </a:defRPr>
            </a:pPr>
            <a:r>
              <a:rPr sz="1500" b="1">
                <a:solidFill>
                  <a:srgbClr val="FFFFFF"/>
                </a:solidFill>
                <a:latin typeface="Arial"/>
                <a:ea typeface="Arial"/>
                <a:cs typeface="Arial"/>
              </a:rPr>
              <a:t>Positive-only produces slightly fewer FP pixels—but contaminates 6.5× more negative scenes.</a:t>
            </a:r>
          </a:p>
        </p:txBody>
      </p:sp>
      <p:sp>
        <p:nvSpPr>
          <p:cNvPr id="21" name="">
            <a:extLst xmlns:a="http://schemas.openxmlformats.org/drawingml/2006/main">
              <a:ext uri="{FF2B5EF4-FFF2-40B4-BE49-F238E27FC236}">
                <a16:creationId xmlns:a16="http://schemas.microsoft.com/office/drawing/2014/main" id="{4E8711B5-9E01-4F92-8150-9D5A62388B42}"/>
              </a:ext>
            </a:extLst>
          </p:cNvPr>
          <p:cNvSpPr>
            <a:spLocks xmlns:a="http://schemas.openxmlformats.org/drawingml/2006/main" noGrp="1"/>
          </p:cNvSpPr>
          <p:nvPr/>
        </p:nvSpPr>
        <p:spPr>
          <a:xfrm xmlns:a="http://schemas.openxmlformats.org/drawingml/2006/main">
            <a:off x="571500" y="6457950"/>
            <a:ext cx="9906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0">
                <a:solidFill>
                  <a:srgbClr val="5D6B63"/>
                </a:solidFill>
                <a:latin typeface="Arial"/>
                <a:ea typeface="Arial"/>
                <a:cs typeface="Arial"/>
              </a:defRPr>
            </a:pPr>
            <a:r>
              <a:rPr sz="750" b="0">
                <a:solidFill>
                  <a:srgbClr val="5D6B63"/>
                </a:solidFill>
                <a:latin typeface="Arial"/>
                <a:ea typeface="Arial"/>
                <a:cs typeface="Arial"/>
              </a:rPr>
              <a:t>Diagnostic panels show image · truth · probability · prediction · TP/FP/FN</a:t>
            </a:r>
          </a:p>
        </p:txBody>
      </p:sp>
    </p:spTree>
    <p:extLst>
      <p:ext uri="{BB962C8B-B14F-4D97-AF65-F5344CB8AC3E}">
        <p14:creationId xmlns:p14="http://schemas.microsoft.com/office/powerpoint/2010/main" val="745631045"/>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899D376-D1BD-47C7-A8A8-4DFC4462F30A}"/>
              </a:ext>
            </a:extLst>
          </p:cNvPr>
          <p:cNvSpPr>
            <a:spLocks xmlns:a="http://schemas.openxmlformats.org/drawingml/2006/main" noGrp="1"/>
          </p:cNvSpPr>
          <p:nvPr/>
        </p:nvSpPr>
        <p:spPr>
          <a:xfrm xmlns:a="http://schemas.openxmlformats.org/drawingml/2006/main">
            <a:off x="647700" y="22860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1F7A55"/>
                </a:solidFill>
                <a:latin typeface="Arial"/>
                <a:ea typeface="Arial"/>
                <a:cs typeface="Arial"/>
              </a:defRPr>
            </a:pPr>
            <a:r>
              <a:rPr sz="900" b="1">
                <a:solidFill>
                  <a:srgbClr val="1F7A55"/>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B0160DEE-EC6A-479B-8C71-DE11F181DB50}"/>
              </a:ext>
            </a:extLst>
          </p:cNvPr>
          <p:cNvSpPr>
            <a:spLocks xmlns:a="http://schemas.openxmlformats.org/drawingml/2006/main" noGrp="1"/>
          </p:cNvSpPr>
          <p:nvPr/>
        </p:nvSpPr>
        <p:spPr>
          <a:xfrm xmlns:a="http://schemas.openxmlformats.org/drawingml/2006/main">
            <a:off x="647700" y="60960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7221B"/>
                </a:solidFill>
                <a:latin typeface="Arial"/>
                <a:ea typeface="Arial"/>
                <a:cs typeface="Arial"/>
              </a:defRPr>
            </a:pPr>
            <a:r>
              <a:rPr sz="2325" b="1">
                <a:solidFill>
                  <a:srgbClr val="17221B"/>
                </a:solidFill>
                <a:latin typeface="Arial"/>
                <a:ea typeface="Arial"/>
                <a:cs typeface="Arial"/>
              </a:rPr>
              <a:t>Current evidence favors negative-aware training</a:t>
            </a:r>
          </a:p>
        </p:txBody>
      </p:sp>
      <p:cxnSp>
        <p:nvCxnSpPr>
          <p:cNvPr id="31" name=""/>
          <p:cNvCxnSpPr/>
          <p:nvPr/>
        </p:nvCxnSpPr>
        <p:spPr>
          <a:xfrm xmlns:a="http://schemas.openxmlformats.org/drawingml/2006/main">
            <a:off x="647700" y="1257300"/>
            <a:ext cx="10839450" cy="0"/>
          </a:xfrm>
          <a:prstGeom xmlns:a="http://schemas.openxmlformats.org/drawingml/2006/main" prst="straightConnector1">
            <a:avLst/>
          </a:prstGeom>
          <a:ln xmlns:a="http://schemas.openxmlformats.org/drawingml/2006/main" w="9525">
            <a:solidFill>
              <a:srgbClr val="C6D0C9"/>
            </a:solidFill>
            <a:prstDash val="solid"/>
          </a:ln>
        </p:spPr>
      </p:cxnSp>
      <p:sp>
        <p:nvSpPr>
          <p:cNvPr id="4" name="">
            <a:extLst xmlns:a="http://schemas.openxmlformats.org/drawingml/2006/main">
              <a:ext uri="{FF2B5EF4-FFF2-40B4-BE49-F238E27FC236}">
                <a16:creationId xmlns:a16="http://schemas.microsoft.com/office/drawing/2014/main" id="{97F03DF1-658B-48F5-B885-48C9F3AFA902}"/>
              </a:ext>
            </a:extLst>
          </p:cNvPr>
          <p:cNvSpPr>
            <a:spLocks xmlns:a="http://schemas.openxmlformats.org/drawingml/2006/main" noGrp="1"/>
          </p:cNvSpPr>
          <p:nvPr/>
        </p:nvSpPr>
        <p:spPr>
          <a:xfrm xmlns:a="http://schemas.openxmlformats.org/drawingml/2006/main">
            <a:off x="11382375" y="64389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a:solidFill>
                  <a:srgbClr val="5D6B63"/>
                </a:solidFill>
                <a:latin typeface="Arial"/>
                <a:ea typeface="Arial"/>
                <a:cs typeface="Arial"/>
              </a:defRPr>
            </a:pPr>
            <a:r>
              <a:rPr sz="900" b="0">
                <a:solidFill>
                  <a:srgbClr val="5D6B63"/>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B69A92BF-F929-4CE7-8625-102340733D96}"/>
              </a:ext>
            </a:extLst>
          </p:cNvPr>
          <p:cNvSpPr>
            <a:spLocks xmlns:a="http://schemas.openxmlformats.org/drawingml/2006/main" noGrp="1"/>
          </p:cNvSpPr>
          <p:nvPr/>
        </p:nvSpPr>
        <p:spPr>
          <a:xfrm xmlns:a="http://schemas.openxmlformats.org/drawingml/2006/main">
            <a:off x="619125" y="1647825"/>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1F7A55"/>
                </a:solidFill>
                <a:latin typeface="Arial"/>
                <a:ea typeface="Arial"/>
                <a:cs typeface="Arial"/>
              </a:defRPr>
            </a:pPr>
            <a:r>
              <a:rPr sz="1050" b="1">
                <a:solidFill>
                  <a:srgbClr val="1F7A55"/>
                </a:solidFill>
                <a:latin typeface="Arial"/>
                <a:ea typeface="Arial"/>
                <a:cs typeface="Arial"/>
              </a:rPr>
              <a:t>SUPPORTED NOW</a:t>
            </a:r>
          </a:p>
        </p:txBody>
      </p:sp>
      <p:sp>
        <p:nvSpPr>
          <p:cNvPr id="6" name="">
            <a:extLst xmlns:a="http://schemas.openxmlformats.org/drawingml/2006/main">
              <a:ext uri="{FF2B5EF4-FFF2-40B4-BE49-F238E27FC236}">
                <a16:creationId xmlns:a16="http://schemas.microsoft.com/office/drawing/2014/main" id="{581EC841-55D6-4D0F-ADA3-1D5DE67694F3}"/>
              </a:ext>
            </a:extLst>
          </p:cNvPr>
          <p:cNvSpPr>
            <a:spLocks xmlns:a="http://schemas.openxmlformats.org/drawingml/2006/main" noGrp="1"/>
          </p:cNvSpPr>
          <p:nvPr/>
        </p:nvSpPr>
        <p:spPr>
          <a:xfrm xmlns:a="http://schemas.openxmlformats.org/drawingml/2006/main">
            <a:off x="619125" y="2000250"/>
            <a:ext cx="5000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025" b="1">
                <a:solidFill>
                  <a:srgbClr val="17221B"/>
                </a:solidFill>
                <a:latin typeface="Arial"/>
                <a:ea typeface="Arial"/>
                <a:cs typeface="Arial"/>
              </a:defRPr>
            </a:pPr>
            <a:r>
              <a:rPr sz="2025" b="1">
                <a:solidFill>
                  <a:srgbClr val="17221B"/>
                </a:solidFill>
                <a:latin typeface="Arial"/>
                <a:ea typeface="Arial"/>
                <a:cs typeface="Arial"/>
              </a:rPr>
              <a:t>Including negative scenes improves validation Dice and reduces the number of contaminated negative tiles.</a:t>
            </a:r>
          </a:p>
        </p:txBody>
      </p:sp>
      <p:sp>
        <p:nvSpPr>
          <p:cNvPr id="7" name="">
            <a:extLst xmlns:a="http://schemas.openxmlformats.org/drawingml/2006/main">
              <a:ext uri="{FF2B5EF4-FFF2-40B4-BE49-F238E27FC236}">
                <a16:creationId xmlns:a16="http://schemas.microsoft.com/office/drawing/2014/main" id="{D6555074-1140-47B2-AEC0-42EF704284BA}"/>
              </a:ext>
            </a:extLst>
          </p:cNvPr>
          <p:cNvSpPr>
            <a:spLocks xmlns:a="http://schemas.openxmlformats.org/drawingml/2006/main" noGrp="1"/>
          </p:cNvSpPr>
          <p:nvPr/>
        </p:nvSpPr>
        <p:spPr>
          <a:xfrm xmlns:a="http://schemas.openxmlformats.org/drawingml/2006/main">
            <a:off x="6572250" y="1647825"/>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C8605A"/>
                </a:solidFill>
                <a:latin typeface="Arial"/>
                <a:ea typeface="Arial"/>
                <a:cs typeface="Arial"/>
              </a:defRPr>
            </a:pPr>
            <a:r>
              <a:rPr sz="1050" b="1">
                <a:solidFill>
                  <a:srgbClr val="C8605A"/>
                </a:solidFill>
                <a:latin typeface="Arial"/>
                <a:ea typeface="Arial"/>
                <a:cs typeface="Arial"/>
              </a:rPr>
              <a:t>NOT YET CLAIMED</a:t>
            </a:r>
          </a:p>
        </p:txBody>
      </p:sp>
      <p:sp>
        <p:nvSpPr>
          <p:cNvPr id="8" name="">
            <a:extLst xmlns:a="http://schemas.openxmlformats.org/drawingml/2006/main">
              <a:ext uri="{FF2B5EF4-FFF2-40B4-BE49-F238E27FC236}">
                <a16:creationId xmlns:a16="http://schemas.microsoft.com/office/drawing/2014/main" id="{CECE8BCD-E238-470A-8F9B-66D25A1C4F75}"/>
              </a:ext>
            </a:extLst>
          </p:cNvPr>
          <p:cNvSpPr>
            <a:spLocks xmlns:a="http://schemas.openxmlformats.org/drawingml/2006/main" noGrp="1"/>
          </p:cNvSpPr>
          <p:nvPr/>
        </p:nvSpPr>
        <p:spPr>
          <a:xfrm xmlns:a="http://schemas.openxmlformats.org/drawingml/2006/main">
            <a:off x="6572250" y="2000250"/>
            <a:ext cx="4667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2025" b="1">
                <a:solidFill>
                  <a:srgbClr val="17221B"/>
                </a:solidFill>
                <a:latin typeface="Arial"/>
                <a:ea typeface="Arial"/>
                <a:cs typeface="Arial"/>
              </a:defRPr>
            </a:pPr>
            <a:r>
              <a:rPr sz="2025" b="1">
                <a:solidFill>
                  <a:srgbClr val="17221B"/>
                </a:solidFill>
                <a:latin typeface="Arial"/>
                <a:ea typeface="Arial"/>
                <a:cs typeface="Arial"/>
              </a:rPr>
              <a:t>Final test performance, full-Berlin transfer and cross-year generalization remain unknown.</a:t>
            </a:r>
          </a:p>
        </p:txBody>
      </p:sp>
      <p:cxnSp>
        <p:nvCxnSpPr>
          <p:cNvPr id="37" name=""/>
          <p:cNvCxnSpPr/>
          <p:nvPr/>
        </p:nvCxnSpPr>
        <p:spPr>
          <a:xfrm xmlns:a="http://schemas.openxmlformats.org/drawingml/2006/main">
            <a:off x="619125" y="3400425"/>
            <a:ext cx="10620375" cy="0"/>
          </a:xfrm>
          <a:prstGeom xmlns:a="http://schemas.openxmlformats.org/drawingml/2006/main" prst="straightConnector1">
            <a:avLst/>
          </a:prstGeom>
          <a:ln xmlns:a="http://schemas.openxmlformats.org/drawingml/2006/main" w="9525">
            <a:solidFill>
              <a:srgbClr val="C6D0C9"/>
            </a:solidFill>
            <a:prstDash val="solid"/>
          </a:ln>
        </p:spPr>
      </p:cxnSp>
      <p:sp>
        <p:nvSpPr>
          <p:cNvPr id="10" name="">
            <a:extLst xmlns:a="http://schemas.openxmlformats.org/drawingml/2006/main">
              <a:ext uri="{FF2B5EF4-FFF2-40B4-BE49-F238E27FC236}">
                <a16:creationId xmlns:a16="http://schemas.microsoft.com/office/drawing/2014/main" id="{CE66B471-8E33-49BB-8C77-8F4DD6FEDACF}"/>
              </a:ext>
            </a:extLst>
          </p:cNvPr>
          <p:cNvSpPr>
            <a:spLocks xmlns:a="http://schemas.openxmlformats.org/drawingml/2006/main" noGrp="1"/>
          </p:cNvSpPr>
          <p:nvPr/>
        </p:nvSpPr>
        <p:spPr>
          <a:xfrm xmlns:a="http://schemas.openxmlformats.org/drawingml/2006/main">
            <a:off x="619125" y="3810000"/>
            <a:ext cx="95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5D6B63"/>
                </a:solidFill>
                <a:latin typeface="Arial"/>
                <a:ea typeface="Arial"/>
                <a:cs typeface="Arial"/>
              </a:defRPr>
            </a:pPr>
            <a:r>
              <a:rPr sz="1050" b="1">
                <a:solidFill>
                  <a:srgbClr val="5D6B63"/>
                </a:solidFill>
                <a:latin typeface="Arial"/>
                <a:ea typeface="Arial"/>
                <a:cs typeface="Arial"/>
              </a:rPr>
              <a:t>Next</a:t>
            </a:r>
          </a:p>
        </p:txBody>
      </p:sp>
      <p:sp>
        <p:nvSpPr>
          <p:cNvPr id="11" name="">
            <a:extLst xmlns:a="http://schemas.openxmlformats.org/drawingml/2006/main">
              <a:ext uri="{FF2B5EF4-FFF2-40B4-BE49-F238E27FC236}">
                <a16:creationId xmlns:a16="http://schemas.microsoft.com/office/drawing/2014/main" id="{B9527676-3F50-4B34-B888-2AFF0F365BD2}"/>
              </a:ext>
            </a:extLst>
          </p:cNvPr>
          <p:cNvSpPr>
            <a:spLocks xmlns:a="http://schemas.openxmlformats.org/drawingml/2006/main" noGrp="1"/>
          </p:cNvSpPr>
          <p:nvPr/>
        </p:nvSpPr>
        <p:spPr>
          <a:xfrm xmlns:a="http://schemas.openxmlformats.org/drawingml/2006/main">
            <a:off x="1666875" y="3838575"/>
            <a:ext cx="114300" cy="114300"/>
          </a:xfrm>
          <a:prstGeom xmlns:a="http://schemas.openxmlformats.org/drawingml/2006/main" prst="ellipse">
            <a:avLst/>
          </a:prstGeom>
          <a:solidFill xmlns:a="http://schemas.openxmlformats.org/drawingml/2006/main">
            <a:srgbClr val="1F7A55"/>
          </a:solidFill>
          <a:ln xmlns:a="http://schemas.openxmlformats.org/drawingml/2006/main" w="0">
            <a:solidFill>
              <a:srgbClr val="1F7A55"/>
            </a:solidFill>
            <a:prstDash val="solid"/>
          </a:ln>
        </p:spPr>
      </p:sp>
      <p:sp>
        <p:nvSpPr>
          <p:cNvPr id="12" name="">
            <a:extLst xmlns:a="http://schemas.openxmlformats.org/drawingml/2006/main">
              <a:ext uri="{FF2B5EF4-FFF2-40B4-BE49-F238E27FC236}">
                <a16:creationId xmlns:a16="http://schemas.microsoft.com/office/drawing/2014/main" id="{0688FBE9-A8C2-484F-9EB3-0B094D852897}"/>
              </a:ext>
            </a:extLst>
          </p:cNvPr>
          <p:cNvSpPr>
            <a:spLocks xmlns:a="http://schemas.openxmlformats.org/drawingml/2006/main" noGrp="1"/>
          </p:cNvSpPr>
          <p:nvPr/>
        </p:nvSpPr>
        <p:spPr>
          <a:xfrm xmlns:a="http://schemas.openxmlformats.org/drawingml/2006/main">
            <a:off x="1905000" y="3733800"/>
            <a:ext cx="3095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1">
                <a:solidFill>
                  <a:srgbClr val="17221B"/>
                </a:solidFill>
                <a:latin typeface="Arial"/>
                <a:ea typeface="Arial"/>
                <a:cs typeface="Arial"/>
              </a:defRPr>
            </a:pPr>
            <a:r>
              <a:rPr sz="1575" b="1">
                <a:solidFill>
                  <a:srgbClr val="17221B"/>
                </a:solidFill>
                <a:latin typeface="Arial"/>
                <a:ea typeface="Arial"/>
                <a:cs typeface="Arial"/>
              </a:rPr>
              <a:t>Lock the decision threshold</a:t>
            </a:r>
          </a:p>
        </p:txBody>
      </p:sp>
      <p:sp>
        <p:nvSpPr>
          <p:cNvPr id="13" name="">
            <a:extLst xmlns:a="http://schemas.openxmlformats.org/drawingml/2006/main">
              <a:ext uri="{FF2B5EF4-FFF2-40B4-BE49-F238E27FC236}">
                <a16:creationId xmlns:a16="http://schemas.microsoft.com/office/drawing/2014/main" id="{42EFDFC0-5AEE-475E-B460-E15C8890CBE8}"/>
              </a:ext>
            </a:extLst>
          </p:cNvPr>
          <p:cNvSpPr>
            <a:spLocks xmlns:a="http://schemas.openxmlformats.org/drawingml/2006/main" noGrp="1"/>
          </p:cNvSpPr>
          <p:nvPr/>
        </p:nvSpPr>
        <p:spPr>
          <a:xfrm xmlns:a="http://schemas.openxmlformats.org/drawingml/2006/main">
            <a:off x="5095875" y="3838575"/>
            <a:ext cx="114300" cy="114300"/>
          </a:xfrm>
          <a:prstGeom xmlns:a="http://schemas.openxmlformats.org/drawingml/2006/main" prst="ellipse">
            <a:avLst/>
          </a:prstGeom>
          <a:solidFill xmlns:a="http://schemas.openxmlformats.org/drawingml/2006/main">
            <a:srgbClr val="188F91"/>
          </a:solidFill>
          <a:ln xmlns:a="http://schemas.openxmlformats.org/drawingml/2006/main" w="0">
            <a:solidFill>
              <a:srgbClr val="188F91"/>
            </a:solidFill>
            <a:prstDash val="solid"/>
          </a:ln>
        </p:spPr>
      </p:sp>
      <p:sp>
        <p:nvSpPr>
          <p:cNvPr id="14" name="">
            <a:extLst xmlns:a="http://schemas.openxmlformats.org/drawingml/2006/main">
              <a:ext uri="{FF2B5EF4-FFF2-40B4-BE49-F238E27FC236}">
                <a16:creationId xmlns:a16="http://schemas.microsoft.com/office/drawing/2014/main" id="{DDC074F2-F1B7-4D6D-A7F1-B30C59020409}"/>
              </a:ext>
            </a:extLst>
          </p:cNvPr>
          <p:cNvSpPr>
            <a:spLocks xmlns:a="http://schemas.openxmlformats.org/drawingml/2006/main" noGrp="1"/>
          </p:cNvSpPr>
          <p:nvPr/>
        </p:nvSpPr>
        <p:spPr>
          <a:xfrm xmlns:a="http://schemas.openxmlformats.org/drawingml/2006/main">
            <a:off x="5334000" y="3733800"/>
            <a:ext cx="3429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783"/>
          </a:bodyPr>
          <a:lstStyle xmlns:a="http://schemas.openxmlformats.org/drawingml/2006/main"/>
          <a:p xmlns:a="http://schemas.openxmlformats.org/drawingml/2006/main">
            <a:pPr algn="l">
              <a:buNone/>
              <a:defRPr sz="1575" b="1">
                <a:solidFill>
                  <a:srgbClr val="17221B"/>
                </a:solidFill>
                <a:latin typeface="Arial"/>
                <a:ea typeface="Arial"/>
                <a:cs typeface="Arial"/>
              </a:defRPr>
            </a:pPr>
            <a:r>
              <a:rPr sz="1575" b="1">
                <a:solidFill>
                  <a:srgbClr val="17221B"/>
                </a:solidFill>
                <a:latin typeface="Arial"/>
                <a:ea typeface="Arial"/>
                <a:cs typeface="Arial"/>
              </a:rPr>
              <a:t>Evaluate the untouched test set once</a:t>
            </a:r>
          </a:p>
        </p:txBody>
      </p:sp>
      <p:sp>
        <p:nvSpPr>
          <p:cNvPr id="15" name="">
            <a:extLst xmlns:a="http://schemas.openxmlformats.org/drawingml/2006/main">
              <a:ext uri="{FF2B5EF4-FFF2-40B4-BE49-F238E27FC236}">
                <a16:creationId xmlns:a16="http://schemas.microsoft.com/office/drawing/2014/main" id="{89C617F2-3430-4FA8-AC33-BC199BFFFD6D}"/>
              </a:ext>
            </a:extLst>
          </p:cNvPr>
          <p:cNvSpPr>
            <a:spLocks xmlns:a="http://schemas.openxmlformats.org/drawingml/2006/main" noGrp="1"/>
          </p:cNvSpPr>
          <p:nvPr/>
        </p:nvSpPr>
        <p:spPr>
          <a:xfrm xmlns:a="http://schemas.openxmlformats.org/drawingml/2006/main">
            <a:off x="9096375" y="3838575"/>
            <a:ext cx="114300" cy="114300"/>
          </a:xfrm>
          <a:prstGeom xmlns:a="http://schemas.openxmlformats.org/drawingml/2006/main" prst="ellipse">
            <a:avLst/>
          </a:prstGeom>
          <a:solidFill xmlns:a="http://schemas.openxmlformats.org/drawingml/2006/main">
            <a:srgbClr val="4B739B"/>
          </a:solidFill>
          <a:ln xmlns:a="http://schemas.openxmlformats.org/drawingml/2006/main" w="0">
            <a:solidFill>
              <a:srgbClr val="4B739B"/>
            </a:solidFill>
            <a:prstDash val="solid"/>
          </a:ln>
        </p:spPr>
      </p:sp>
      <p:sp>
        <p:nvSpPr>
          <p:cNvPr id="16" name="">
            <a:extLst xmlns:a="http://schemas.openxmlformats.org/drawingml/2006/main">
              <a:ext uri="{FF2B5EF4-FFF2-40B4-BE49-F238E27FC236}">
                <a16:creationId xmlns:a16="http://schemas.microsoft.com/office/drawing/2014/main" id="{2BF66CB0-B8D6-420F-B70E-A5A0EE4A18B1}"/>
              </a:ext>
            </a:extLst>
          </p:cNvPr>
          <p:cNvSpPr>
            <a:spLocks xmlns:a="http://schemas.openxmlformats.org/drawingml/2006/main" noGrp="1"/>
          </p:cNvSpPr>
          <p:nvPr/>
        </p:nvSpPr>
        <p:spPr>
          <a:xfrm xmlns:a="http://schemas.openxmlformats.org/drawingml/2006/main">
            <a:off x="9334500" y="3733800"/>
            <a:ext cx="2190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575" b="1">
                <a:solidFill>
                  <a:srgbClr val="17221B"/>
                </a:solidFill>
                <a:latin typeface="Arial"/>
                <a:ea typeface="Arial"/>
                <a:cs typeface="Arial"/>
              </a:defRPr>
            </a:pPr>
            <a:r>
              <a:rPr sz="1575" b="1">
                <a:solidFill>
                  <a:srgbClr val="17221B"/>
                </a:solidFill>
                <a:latin typeface="Arial"/>
                <a:ea typeface="Arial"/>
                <a:cs typeface="Arial"/>
              </a:rPr>
              <a:t>Compare one stronger baseline</a:t>
            </a:r>
          </a:p>
        </p:txBody>
      </p:sp>
      <p:sp>
        <p:nvSpPr>
          <p:cNvPr id="17" name="">
            <a:extLst xmlns:a="http://schemas.openxmlformats.org/drawingml/2006/main">
              <a:ext uri="{FF2B5EF4-FFF2-40B4-BE49-F238E27FC236}">
                <a16:creationId xmlns:a16="http://schemas.microsoft.com/office/drawing/2014/main" id="{F70D8860-5A27-4E08-9B83-F846FB260D9F}"/>
              </a:ext>
            </a:extLst>
          </p:cNvPr>
          <p:cNvSpPr>
            <a:spLocks xmlns:a="http://schemas.openxmlformats.org/drawingml/2006/main" noGrp="1"/>
          </p:cNvSpPr>
          <p:nvPr/>
        </p:nvSpPr>
        <p:spPr>
          <a:xfrm xmlns:a="http://schemas.openxmlformats.org/drawingml/2006/main">
            <a:off x="619125" y="4857750"/>
            <a:ext cx="10620375" cy="904875"/>
          </a:xfrm>
          <a:prstGeom xmlns:a="http://schemas.openxmlformats.org/drawingml/2006/main" prst="roundRect">
            <a:avLst>
              <a:gd name="adj" fmla="val 8421"/>
            </a:avLst>
          </a:prstGeom>
          <a:solidFill xmlns:a="http://schemas.openxmlformats.org/drawingml/2006/main">
            <a:srgbClr val="E6F2EA"/>
          </a:solidFill>
          <a:ln xmlns:a="http://schemas.openxmlformats.org/drawingml/2006/main" w="9525">
            <a:solidFill>
              <a:srgbClr val="E6F2EA"/>
            </a:solidFill>
            <a:prstDash val="solid"/>
          </a:ln>
        </p:spPr>
      </p:sp>
      <p:sp>
        <p:nvSpPr>
          <p:cNvPr id="18" name="">
            <a:extLst xmlns:a="http://schemas.openxmlformats.org/drawingml/2006/main">
              <a:ext uri="{FF2B5EF4-FFF2-40B4-BE49-F238E27FC236}">
                <a16:creationId xmlns:a16="http://schemas.microsoft.com/office/drawing/2014/main" id="{BD393D65-E2E6-4C25-B8D3-E9DF994EADC0}"/>
              </a:ext>
            </a:extLst>
          </p:cNvPr>
          <p:cNvSpPr>
            <a:spLocks xmlns:a="http://schemas.openxmlformats.org/drawingml/2006/main" noGrp="1"/>
          </p:cNvSpPr>
          <p:nvPr/>
        </p:nvSpPr>
        <p:spPr>
          <a:xfrm xmlns:a="http://schemas.openxmlformats.org/drawingml/2006/main">
            <a:off x="904875" y="5105400"/>
            <a:ext cx="10048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298"/>
          </a:bodyPr>
          <a:lstStyle xmlns:a="http://schemas.openxmlformats.org/drawingml/2006/main"/>
          <a:p xmlns:a="http://schemas.openxmlformats.org/drawingml/2006/main">
            <a:pPr algn="ctr">
              <a:buNone/>
              <a:defRPr sz="2100" b="1">
                <a:solidFill>
                  <a:srgbClr val="1F7A55"/>
                </a:solidFill>
                <a:latin typeface="Arial"/>
                <a:ea typeface="Arial"/>
                <a:cs typeface="Arial"/>
              </a:defRPr>
            </a:pPr>
            <a:r>
              <a:rPr sz="2100" b="1">
                <a:solidFill>
                  <a:srgbClr val="1F7A55"/>
                </a:solidFill>
                <a:latin typeface="Arial"/>
                <a:ea typeface="Arial"/>
                <a:cs typeface="Arial"/>
              </a:rPr>
              <a:t>For area-wide green-roof mapping, learning absence is as important as learning appearance.</a:t>
            </a:r>
          </a:p>
        </p:txBody>
      </p:sp>
      <p:sp>
        <p:nvSpPr>
          <p:cNvPr id="19" name="">
            <a:extLst xmlns:a="http://schemas.openxmlformats.org/drawingml/2006/main">
              <a:ext uri="{FF2B5EF4-FFF2-40B4-BE49-F238E27FC236}">
                <a16:creationId xmlns:a16="http://schemas.microsoft.com/office/drawing/2014/main" id="{0B74FDB4-F5E4-4601-9F8B-0179339C9C8A}"/>
              </a:ext>
            </a:extLst>
          </p:cNvPr>
          <p:cNvSpPr>
            <a:spLocks xmlns:a="http://schemas.openxmlformats.org/drawingml/2006/main" noGrp="1"/>
          </p:cNvSpPr>
          <p:nvPr/>
        </p:nvSpPr>
        <p:spPr>
          <a:xfrm xmlns:a="http://schemas.openxmlformats.org/drawingml/2006/main">
            <a:off x="571500" y="6457950"/>
            <a:ext cx="9906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0">
                <a:solidFill>
                  <a:srgbClr val="5D6B63"/>
                </a:solidFill>
                <a:latin typeface="Arial"/>
                <a:ea typeface="Arial"/>
                <a:cs typeface="Arial"/>
              </a:defRPr>
            </a:pPr>
            <a:r>
              <a:rPr sz="750" b="0">
                <a:solidFill>
                  <a:srgbClr val="5D6B63"/>
                </a:solidFill>
                <a:latin typeface="Arial"/>
                <a:ea typeface="Arial"/>
                <a:cs typeface="Arial"/>
              </a:rPr>
              <a:t>All findings are validation-stage evidence; test remains untouched</a:t>
            </a:r>
          </a:p>
        </p:txBody>
      </p:sp>
    </p:spTree>
    <p:extLst>
      <p:ext uri="{BB962C8B-B14F-4D97-AF65-F5344CB8AC3E}">
        <p14:creationId xmlns:p14="http://schemas.microsoft.com/office/powerpoint/2010/main" val="2140983895"/>
      </p:ext>
    </p:extLst>
  </p:cSld>
</p:sld>
</file>

<file path=ppt/slides/slide13.xml><?xml version="1.0" encoding="utf-8"?>
<p:sld xmlns:p="http://schemas.openxmlformats.org/presentationml/2006/main">
  <p:cSld>
    <p:bg>
      <p:bgPr>
        <a:solidFill xmlns:a="http://schemas.openxmlformats.org/drawingml/2006/main">
          <a:srgbClr val="0E2C2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FD6D7BD-C125-4EE9-9188-8983B8E4E1CE}"/>
              </a:ext>
            </a:extLst>
          </p:cNvPr>
          <p:cNvSpPr>
            <a:spLocks xmlns:a="http://schemas.openxmlformats.org/drawingml/2006/main" noGrp="1"/>
          </p:cNvSpPr>
          <p:nvPr/>
        </p:nvSpPr>
        <p:spPr>
          <a:xfrm xmlns:a="http://schemas.openxmlformats.org/drawingml/2006/main">
            <a:off x="552450" y="609600"/>
            <a:ext cx="333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75" b="1">
                <a:solidFill>
                  <a:srgbClr val="67B58A"/>
                </a:solidFill>
                <a:latin typeface="Arial"/>
                <a:ea typeface="Arial"/>
                <a:cs typeface="Arial"/>
              </a:defRPr>
            </a:pPr>
            <a:r>
              <a:rPr sz="975" b="1">
                <a:solidFill>
                  <a:srgbClr val="67B58A"/>
                </a:solidFill>
                <a:latin typeface="Arial"/>
                <a:ea typeface="Arial"/>
                <a:cs typeface="Arial"/>
              </a:rPr>
              <a:t>Q&amp;A APPENDIX</a:t>
            </a:r>
          </a:p>
        </p:txBody>
      </p:sp>
      <p:sp>
        <p:nvSpPr>
          <p:cNvPr id="2" name="">
            <a:extLst xmlns:a="http://schemas.openxmlformats.org/drawingml/2006/main">
              <a:ext uri="{FF2B5EF4-FFF2-40B4-BE49-F238E27FC236}">
                <a16:creationId xmlns:a16="http://schemas.microsoft.com/office/drawing/2014/main" id="{5FB6E39C-5F71-4011-92A5-9876369C6261}"/>
              </a:ext>
            </a:extLst>
          </p:cNvPr>
          <p:cNvSpPr>
            <a:spLocks xmlns:a="http://schemas.openxmlformats.org/drawingml/2006/main" noGrp="1"/>
          </p:cNvSpPr>
          <p:nvPr/>
        </p:nvSpPr>
        <p:spPr>
          <a:xfrm xmlns:a="http://schemas.openxmlformats.org/drawingml/2006/main">
            <a:off x="552450" y="1952625"/>
            <a:ext cx="7143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4050" b="1">
                <a:solidFill>
                  <a:srgbClr val="FFFFFF"/>
                </a:solidFill>
                <a:latin typeface="Arial"/>
                <a:ea typeface="Arial"/>
                <a:cs typeface="Arial"/>
              </a:defRPr>
            </a:pPr>
            <a:r>
              <a:rPr sz="4050" b="1">
                <a:solidFill>
                  <a:srgbClr val="FFFFFF"/>
                </a:solidFill>
                <a:latin typeface="Arial"/>
                <a:ea typeface="Arial"/>
                <a:cs typeface="Arial"/>
              </a:rPr>
              <a:t>Evidence behind</a:t>
            </a:r>
          </a:p>
          <a:p xmlns:a="http://schemas.openxmlformats.org/drawingml/2006/main">
            <a:pPr algn="l">
              <a:buNone/>
              <a:defRPr sz="4050" b="1">
                <a:solidFill>
                  <a:srgbClr val="FFFFFF"/>
                </a:solidFill>
                <a:latin typeface="Arial"/>
                <a:ea typeface="Arial"/>
                <a:cs typeface="Arial"/>
              </a:defRPr>
            </a:pPr>
            <a:r>
              <a:rPr sz="4050" b="1">
                <a:solidFill>
                  <a:srgbClr val="FFFFFF"/>
                </a:solidFill>
                <a:latin typeface="Arial"/>
                <a:ea typeface="Arial"/>
                <a:cs typeface="Arial"/>
              </a:rPr>
              <a:t>the first findings</a:t>
            </a:r>
          </a:p>
        </p:txBody>
      </p:sp>
      <p:sp>
        <p:nvSpPr>
          <p:cNvPr id="3" name="">
            <a:extLst xmlns:a="http://schemas.openxmlformats.org/drawingml/2006/main">
              <a:ext uri="{FF2B5EF4-FFF2-40B4-BE49-F238E27FC236}">
                <a16:creationId xmlns:a16="http://schemas.microsoft.com/office/drawing/2014/main" id="{1232E464-3186-4CE6-BCDE-3C0037BEFF50}"/>
              </a:ext>
            </a:extLst>
          </p:cNvPr>
          <p:cNvSpPr>
            <a:spLocks xmlns:a="http://schemas.openxmlformats.org/drawingml/2006/main" noGrp="1"/>
          </p:cNvSpPr>
          <p:nvPr/>
        </p:nvSpPr>
        <p:spPr>
          <a:xfrm xmlns:a="http://schemas.openxmlformats.org/drawingml/2006/main">
            <a:off x="552450" y="3905250"/>
            <a:ext cx="9048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0">
                <a:solidFill>
                  <a:srgbClr val="CDE5D6"/>
                </a:solidFill>
                <a:latin typeface="Arial"/>
                <a:ea typeface="Arial"/>
                <a:cs typeface="Arial"/>
              </a:defRPr>
            </a:pPr>
            <a:r>
              <a:rPr sz="1650" b="0">
                <a:solidFill>
                  <a:srgbClr val="CDE5D6"/>
                </a:solidFill>
                <a:latin typeface="Arial"/>
                <a:ea typeface="Arial"/>
                <a:cs typeface="Arial"/>
              </a:rPr>
              <a:t>Data provenance · calibration · augmentation · subgroups · spatial diagnostics</a:t>
            </a:r>
          </a:p>
        </p:txBody>
      </p:sp>
      <p:sp>
        <p:nvSpPr>
          <p:cNvPr id="4" name="">
            <a:extLst xmlns:a="http://schemas.openxmlformats.org/drawingml/2006/main">
              <a:ext uri="{FF2B5EF4-FFF2-40B4-BE49-F238E27FC236}">
                <a16:creationId xmlns:a16="http://schemas.microsoft.com/office/drawing/2014/main" id="{025A823E-CD7B-492B-B2F7-3C5CCD12D41A}"/>
              </a:ext>
            </a:extLst>
          </p:cNvPr>
          <p:cNvSpPr>
            <a:spLocks xmlns:a="http://schemas.openxmlformats.org/drawingml/2006/main" noGrp="1"/>
          </p:cNvSpPr>
          <p:nvPr/>
        </p:nvSpPr>
        <p:spPr>
          <a:xfrm xmlns:a="http://schemas.openxmlformats.org/drawingml/2006/main">
            <a:off x="11287125" y="6191250"/>
            <a:ext cx="38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buNone/>
              <a:defRPr sz="1200" b="1">
                <a:solidFill>
                  <a:srgbClr val="95AA9C"/>
                </a:solidFill>
                <a:latin typeface="Arial"/>
                <a:ea typeface="Arial"/>
                <a:cs typeface="Arial"/>
              </a:defRPr>
            </a:pPr>
            <a:r>
              <a:rPr sz="1200" b="1">
                <a:solidFill>
                  <a:srgbClr val="95AA9C"/>
                </a:solidFill>
                <a:latin typeface="Arial"/>
                <a:ea typeface="Arial"/>
                <a:cs typeface="Arial"/>
              </a:rPr>
              <a:t>A</a:t>
            </a:r>
          </a:p>
        </p:txBody>
      </p:sp>
    </p:spTree>
    <p:extLst>
      <p:ext uri="{BB962C8B-B14F-4D97-AF65-F5344CB8AC3E}">
        <p14:creationId xmlns:p14="http://schemas.microsoft.com/office/powerpoint/2010/main" val="62051274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88C03C12-FA3A-40D3-AE68-DAA3793C6562}"/>
              </a:ext>
            </a:extLst>
          </p:cNvPr>
          <p:cNvSpPr>
            <a:spLocks xmlns:a="http://schemas.openxmlformats.org/drawingml/2006/main" noGrp="1"/>
          </p:cNvSpPr>
          <p:nvPr/>
        </p:nvSpPr>
        <p:spPr>
          <a:xfrm xmlns:a="http://schemas.openxmlformats.org/drawingml/2006/main">
            <a:off x="647700" y="22860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1F7A55"/>
                </a:solidFill>
                <a:latin typeface="Arial"/>
                <a:ea typeface="Arial"/>
                <a:cs typeface="Arial"/>
              </a:defRPr>
            </a:pPr>
            <a:r>
              <a:rPr sz="900" b="1">
                <a:solidFill>
                  <a:srgbClr val="1F7A55"/>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D4E1AF0D-C08A-4AE5-A9F8-3FAE8FFB4F38}"/>
              </a:ext>
            </a:extLst>
          </p:cNvPr>
          <p:cNvSpPr>
            <a:spLocks xmlns:a="http://schemas.openxmlformats.org/drawingml/2006/main" noGrp="1"/>
          </p:cNvSpPr>
          <p:nvPr/>
        </p:nvSpPr>
        <p:spPr>
          <a:xfrm xmlns:a="http://schemas.openxmlformats.org/drawingml/2006/main">
            <a:off x="647700" y="60960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7221B"/>
                </a:solidFill>
                <a:latin typeface="Arial"/>
                <a:ea typeface="Arial"/>
                <a:cs typeface="Arial"/>
              </a:defRPr>
            </a:pPr>
            <a:r>
              <a:rPr sz="2325" b="1">
                <a:solidFill>
                  <a:srgbClr val="17221B"/>
                </a:solidFill>
                <a:latin typeface="Arial"/>
                <a:ea typeface="Arial"/>
                <a:cs typeface="Arial"/>
              </a:rPr>
              <a:t>Dataset provenance and frozen split</a:t>
            </a:r>
          </a:p>
        </p:txBody>
      </p:sp>
      <p:cxnSp>
        <p:nvCxnSpPr>
          <p:cNvPr id="46" name=""/>
          <p:cNvCxnSpPr/>
          <p:nvPr/>
        </p:nvCxnSpPr>
        <p:spPr>
          <a:xfrm xmlns:a="http://schemas.openxmlformats.org/drawingml/2006/main">
            <a:off x="647700" y="1257300"/>
            <a:ext cx="10839450" cy="0"/>
          </a:xfrm>
          <a:prstGeom xmlns:a="http://schemas.openxmlformats.org/drawingml/2006/main" prst="straightConnector1">
            <a:avLst/>
          </a:prstGeom>
          <a:ln xmlns:a="http://schemas.openxmlformats.org/drawingml/2006/main" w="9525">
            <a:solidFill>
              <a:srgbClr val="C6D0C9"/>
            </a:solidFill>
            <a:prstDash val="solid"/>
          </a:ln>
        </p:spPr>
      </p:cxnSp>
      <p:sp>
        <p:nvSpPr>
          <p:cNvPr id="4" name="">
            <a:extLst xmlns:a="http://schemas.openxmlformats.org/drawingml/2006/main">
              <a:ext uri="{FF2B5EF4-FFF2-40B4-BE49-F238E27FC236}">
                <a16:creationId xmlns:a16="http://schemas.microsoft.com/office/drawing/2014/main" id="{C0CB13CD-8D9A-4BB0-8DC7-183291CEC6CD}"/>
              </a:ext>
            </a:extLst>
          </p:cNvPr>
          <p:cNvSpPr>
            <a:spLocks xmlns:a="http://schemas.openxmlformats.org/drawingml/2006/main" noGrp="1"/>
          </p:cNvSpPr>
          <p:nvPr/>
        </p:nvSpPr>
        <p:spPr>
          <a:xfrm xmlns:a="http://schemas.openxmlformats.org/drawingml/2006/main">
            <a:off x="11382375" y="64389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a:solidFill>
                  <a:srgbClr val="5D6B63"/>
                </a:solidFill>
                <a:latin typeface="Arial"/>
                <a:ea typeface="Arial"/>
                <a:cs typeface="Arial"/>
              </a:defRPr>
            </a:pPr>
            <a:r>
              <a:rPr sz="900" b="0">
                <a:solidFill>
                  <a:srgbClr val="5D6B63"/>
                </a:solidFill>
                <a:latin typeface="Arial"/>
                <a:ea typeface="Arial"/>
                <a:cs typeface="Arial"/>
              </a:rPr>
              <a:t>14</a:t>
            </a:r>
          </a:p>
        </p:txBody>
      </p:sp>
      <p:cxnSp>
        <p:nvCxnSpPr>
          <p:cNvPr id="48" name=""/>
          <p:cNvCxnSpPr/>
          <p:nvPr/>
        </p:nvCxnSpPr>
        <p:spPr>
          <a:xfrm xmlns:a="http://schemas.openxmlformats.org/drawingml/2006/main">
            <a:off x="666750" y="2047875"/>
            <a:ext cx="10287000" cy="0"/>
          </a:xfrm>
          <a:prstGeom xmlns:a="http://schemas.openxmlformats.org/drawingml/2006/main" prst="straightConnector1">
            <a:avLst/>
          </a:prstGeom>
          <a:ln xmlns:a="http://schemas.openxmlformats.org/drawingml/2006/main" w="9525">
            <a:solidFill>
              <a:srgbClr val="C6D0C9"/>
            </a:solidFill>
            <a:prstDash val="solid"/>
          </a:ln>
        </p:spPr>
      </p:cxnSp>
      <p:sp>
        <p:nvSpPr>
          <p:cNvPr id="6" name="">
            <a:extLst xmlns:a="http://schemas.openxmlformats.org/drawingml/2006/main">
              <a:ext uri="{FF2B5EF4-FFF2-40B4-BE49-F238E27FC236}">
                <a16:creationId xmlns:a16="http://schemas.microsoft.com/office/drawing/2014/main" id="{DBF015B1-8D2A-4C88-81B8-3157A3BE176F}"/>
              </a:ext>
            </a:extLst>
          </p:cNvPr>
          <p:cNvSpPr>
            <a:spLocks xmlns:a="http://schemas.openxmlformats.org/drawingml/2006/main" noGrp="1"/>
          </p:cNvSpPr>
          <p:nvPr/>
        </p:nvSpPr>
        <p:spPr>
          <a:xfrm xmlns:a="http://schemas.openxmlformats.org/drawingml/2006/main">
            <a:off x="742950" y="16764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5D6B63"/>
                </a:solidFill>
                <a:latin typeface="Arial"/>
                <a:ea typeface="Arial"/>
                <a:cs typeface="Arial"/>
              </a:defRPr>
            </a:pPr>
            <a:r>
              <a:rPr sz="1125" b="1">
                <a:solidFill>
                  <a:srgbClr val="5D6B63"/>
                </a:solidFill>
                <a:latin typeface="Arial"/>
                <a:ea typeface="Arial"/>
                <a:cs typeface="Arial"/>
              </a:rPr>
              <a:t>Study area</a:t>
            </a:r>
          </a:p>
        </p:txBody>
      </p:sp>
      <p:sp>
        <p:nvSpPr>
          <p:cNvPr id="7" name="">
            <a:extLst xmlns:a="http://schemas.openxmlformats.org/drawingml/2006/main">
              <a:ext uri="{FF2B5EF4-FFF2-40B4-BE49-F238E27FC236}">
                <a16:creationId xmlns:a16="http://schemas.microsoft.com/office/drawing/2014/main" id="{C79E1102-BEAA-4371-A09F-8C39B9641B51}"/>
              </a:ext>
            </a:extLst>
          </p:cNvPr>
          <p:cNvSpPr>
            <a:spLocks xmlns:a="http://schemas.openxmlformats.org/drawingml/2006/main" noGrp="1"/>
          </p:cNvSpPr>
          <p:nvPr/>
        </p:nvSpPr>
        <p:spPr>
          <a:xfrm xmlns:a="http://schemas.openxmlformats.org/drawingml/2006/main">
            <a:off x="3143250" y="1619250"/>
            <a:ext cx="752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7221B"/>
                </a:solidFill>
                <a:latin typeface="Arial"/>
                <a:ea typeface="Arial"/>
                <a:cs typeface="Arial"/>
              </a:defRPr>
            </a:pPr>
            <a:r>
              <a:rPr sz="1725" b="1">
                <a:solidFill>
                  <a:srgbClr val="17221B"/>
                </a:solidFill>
                <a:latin typeface="Arial"/>
                <a:ea typeface="Arial"/>
                <a:cs typeface="Arial"/>
              </a:rPr>
              <a:t>Berlin PLZ 12357</a:t>
            </a:r>
          </a:p>
        </p:txBody>
      </p:sp>
      <p:cxnSp>
        <p:nvCxnSpPr>
          <p:cNvPr id="51" name=""/>
          <p:cNvCxnSpPr/>
          <p:nvPr/>
        </p:nvCxnSpPr>
        <p:spPr>
          <a:xfrm xmlns:a="http://schemas.openxmlformats.org/drawingml/2006/main">
            <a:off x="666750" y="2714625"/>
            <a:ext cx="10287000" cy="0"/>
          </a:xfrm>
          <a:prstGeom xmlns:a="http://schemas.openxmlformats.org/drawingml/2006/main" prst="straightConnector1">
            <a:avLst/>
          </a:prstGeom>
          <a:ln xmlns:a="http://schemas.openxmlformats.org/drawingml/2006/main" w="9525">
            <a:solidFill>
              <a:srgbClr val="C6D0C9"/>
            </a:solidFill>
            <a:prstDash val="solid"/>
          </a:ln>
        </p:spPr>
      </p:cxnSp>
      <p:sp>
        <p:nvSpPr>
          <p:cNvPr id="9" name="">
            <a:extLst xmlns:a="http://schemas.openxmlformats.org/drawingml/2006/main">
              <a:ext uri="{FF2B5EF4-FFF2-40B4-BE49-F238E27FC236}">
                <a16:creationId xmlns:a16="http://schemas.microsoft.com/office/drawing/2014/main" id="{FEC2A919-7EA2-4DF2-B196-88663E8AF4C7}"/>
              </a:ext>
            </a:extLst>
          </p:cNvPr>
          <p:cNvSpPr>
            <a:spLocks xmlns:a="http://schemas.openxmlformats.org/drawingml/2006/main" noGrp="1"/>
          </p:cNvSpPr>
          <p:nvPr/>
        </p:nvSpPr>
        <p:spPr>
          <a:xfrm xmlns:a="http://schemas.openxmlformats.org/drawingml/2006/main">
            <a:off x="742950" y="23431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5D6B63"/>
                </a:solidFill>
                <a:latin typeface="Arial"/>
                <a:ea typeface="Arial"/>
                <a:cs typeface="Arial"/>
              </a:defRPr>
            </a:pPr>
            <a:r>
              <a:rPr sz="1125" b="1">
                <a:solidFill>
                  <a:srgbClr val="5D6B63"/>
                </a:solidFill>
                <a:latin typeface="Arial"/>
                <a:ea typeface="Arial"/>
                <a:cs typeface="Arial"/>
              </a:rPr>
              <a:t>Imagery</a:t>
            </a:r>
          </a:p>
        </p:txBody>
      </p:sp>
      <p:sp>
        <p:nvSpPr>
          <p:cNvPr id="10" name="">
            <a:extLst xmlns:a="http://schemas.openxmlformats.org/drawingml/2006/main">
              <a:ext uri="{FF2B5EF4-FFF2-40B4-BE49-F238E27FC236}">
                <a16:creationId xmlns:a16="http://schemas.microsoft.com/office/drawing/2014/main" id="{9D079FAE-AA37-40C4-AC12-12F62EC841B8}"/>
              </a:ext>
            </a:extLst>
          </p:cNvPr>
          <p:cNvSpPr>
            <a:spLocks xmlns:a="http://schemas.openxmlformats.org/drawingml/2006/main" noGrp="1"/>
          </p:cNvSpPr>
          <p:nvPr/>
        </p:nvSpPr>
        <p:spPr>
          <a:xfrm xmlns:a="http://schemas.openxmlformats.org/drawingml/2006/main">
            <a:off x="3143250" y="2286000"/>
            <a:ext cx="752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7221B"/>
                </a:solidFill>
                <a:latin typeface="Arial"/>
                <a:ea typeface="Arial"/>
                <a:cs typeface="Arial"/>
              </a:defRPr>
            </a:pPr>
            <a:r>
              <a:rPr sz="1725" b="1">
                <a:solidFill>
                  <a:srgbClr val="17221B"/>
                </a:solidFill>
                <a:latin typeface="Arial"/>
                <a:ea typeface="Arial"/>
                <a:cs typeface="Arial"/>
              </a:rPr>
              <a:t>RGB orthophotos, 2016</a:t>
            </a:r>
          </a:p>
        </p:txBody>
      </p:sp>
      <p:cxnSp>
        <p:nvCxnSpPr>
          <p:cNvPr id="54" name=""/>
          <p:cNvCxnSpPr/>
          <p:nvPr/>
        </p:nvCxnSpPr>
        <p:spPr>
          <a:xfrm xmlns:a="http://schemas.openxmlformats.org/drawingml/2006/main">
            <a:off x="666750" y="3381375"/>
            <a:ext cx="10287000" cy="0"/>
          </a:xfrm>
          <a:prstGeom xmlns:a="http://schemas.openxmlformats.org/drawingml/2006/main" prst="straightConnector1">
            <a:avLst/>
          </a:prstGeom>
          <a:ln xmlns:a="http://schemas.openxmlformats.org/drawingml/2006/main" w="9525">
            <a:solidFill>
              <a:srgbClr val="C6D0C9"/>
            </a:solidFill>
            <a:prstDash val="solid"/>
          </a:ln>
        </p:spPr>
      </p:cxnSp>
      <p:sp>
        <p:nvSpPr>
          <p:cNvPr id="12" name="">
            <a:extLst xmlns:a="http://schemas.openxmlformats.org/drawingml/2006/main">
              <a:ext uri="{FF2B5EF4-FFF2-40B4-BE49-F238E27FC236}">
                <a16:creationId xmlns:a16="http://schemas.microsoft.com/office/drawing/2014/main" id="{233C38C6-AF5B-45ED-AE8E-7A6F030B527F}"/>
              </a:ext>
            </a:extLst>
          </p:cNvPr>
          <p:cNvSpPr>
            <a:spLocks xmlns:a="http://schemas.openxmlformats.org/drawingml/2006/main" noGrp="1"/>
          </p:cNvSpPr>
          <p:nvPr/>
        </p:nvSpPr>
        <p:spPr>
          <a:xfrm xmlns:a="http://schemas.openxmlformats.org/drawingml/2006/main">
            <a:off x="742950" y="30099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5D6B63"/>
                </a:solidFill>
                <a:latin typeface="Arial"/>
                <a:ea typeface="Arial"/>
                <a:cs typeface="Arial"/>
              </a:defRPr>
            </a:pPr>
            <a:r>
              <a:rPr sz="1125" b="1">
                <a:solidFill>
                  <a:srgbClr val="5D6B63"/>
                </a:solidFill>
                <a:latin typeface="Arial"/>
                <a:ea typeface="Arial"/>
                <a:cs typeface="Arial"/>
              </a:rPr>
              <a:t>Tiles</a:t>
            </a:r>
          </a:p>
        </p:txBody>
      </p:sp>
      <p:sp>
        <p:nvSpPr>
          <p:cNvPr id="13" name="">
            <a:extLst xmlns:a="http://schemas.openxmlformats.org/drawingml/2006/main">
              <a:ext uri="{FF2B5EF4-FFF2-40B4-BE49-F238E27FC236}">
                <a16:creationId xmlns:a16="http://schemas.microsoft.com/office/drawing/2014/main" id="{6D03479E-9B3D-42B0-9F7B-F7BFAD32518C}"/>
              </a:ext>
            </a:extLst>
          </p:cNvPr>
          <p:cNvSpPr>
            <a:spLocks xmlns:a="http://schemas.openxmlformats.org/drawingml/2006/main" noGrp="1"/>
          </p:cNvSpPr>
          <p:nvPr/>
        </p:nvSpPr>
        <p:spPr>
          <a:xfrm xmlns:a="http://schemas.openxmlformats.org/drawingml/2006/main">
            <a:off x="3143250" y="2952750"/>
            <a:ext cx="752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7221B"/>
                </a:solidFill>
                <a:latin typeface="Arial"/>
                <a:ea typeface="Arial"/>
                <a:cs typeface="Arial"/>
              </a:defRPr>
            </a:pPr>
            <a:r>
              <a:rPr sz="1725" b="1">
                <a:solidFill>
                  <a:srgbClr val="17221B"/>
                </a:solidFill>
                <a:latin typeface="Arial"/>
                <a:ea typeface="Arial"/>
                <a:cs typeface="Arial"/>
              </a:rPr>
              <a:t>1,635 at z=19, 256 × 256</a:t>
            </a:r>
          </a:p>
        </p:txBody>
      </p:sp>
      <p:cxnSp>
        <p:nvCxnSpPr>
          <p:cNvPr id="57" name=""/>
          <p:cNvCxnSpPr/>
          <p:nvPr/>
        </p:nvCxnSpPr>
        <p:spPr>
          <a:xfrm xmlns:a="http://schemas.openxmlformats.org/drawingml/2006/main">
            <a:off x="666750" y="4048125"/>
            <a:ext cx="10287000" cy="0"/>
          </a:xfrm>
          <a:prstGeom xmlns:a="http://schemas.openxmlformats.org/drawingml/2006/main" prst="straightConnector1">
            <a:avLst/>
          </a:prstGeom>
          <a:ln xmlns:a="http://schemas.openxmlformats.org/drawingml/2006/main" w="9525">
            <a:solidFill>
              <a:srgbClr val="C6D0C9"/>
            </a:solidFill>
            <a:prstDash val="solid"/>
          </a:ln>
        </p:spPr>
      </p:cxnSp>
      <p:sp>
        <p:nvSpPr>
          <p:cNvPr id="15" name="">
            <a:extLst xmlns:a="http://schemas.openxmlformats.org/drawingml/2006/main">
              <a:ext uri="{FF2B5EF4-FFF2-40B4-BE49-F238E27FC236}">
                <a16:creationId xmlns:a16="http://schemas.microsoft.com/office/drawing/2014/main" id="{15C42CEB-FA0D-4B95-B6E4-F7461DC716D3}"/>
              </a:ext>
            </a:extLst>
          </p:cNvPr>
          <p:cNvSpPr>
            <a:spLocks xmlns:a="http://schemas.openxmlformats.org/drawingml/2006/main" noGrp="1"/>
          </p:cNvSpPr>
          <p:nvPr/>
        </p:nvSpPr>
        <p:spPr>
          <a:xfrm xmlns:a="http://schemas.openxmlformats.org/drawingml/2006/main">
            <a:off x="742950" y="36766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5D6B63"/>
                </a:solidFill>
                <a:latin typeface="Arial"/>
                <a:ea typeface="Arial"/>
                <a:cs typeface="Arial"/>
              </a:defRPr>
            </a:pPr>
            <a:r>
              <a:rPr sz="1125" b="1">
                <a:solidFill>
                  <a:srgbClr val="5D6B63"/>
                </a:solidFill>
                <a:latin typeface="Arial"/>
                <a:ea typeface="Arial"/>
                <a:cs typeface="Arial"/>
              </a:rPr>
              <a:t>Labels</a:t>
            </a:r>
          </a:p>
        </p:txBody>
      </p:sp>
      <p:sp>
        <p:nvSpPr>
          <p:cNvPr id="16" name="">
            <a:extLst xmlns:a="http://schemas.openxmlformats.org/drawingml/2006/main">
              <a:ext uri="{FF2B5EF4-FFF2-40B4-BE49-F238E27FC236}">
                <a16:creationId xmlns:a16="http://schemas.microsoft.com/office/drawing/2014/main" id="{989B995F-EE83-4255-B075-A7FB36D68C35}"/>
              </a:ext>
            </a:extLst>
          </p:cNvPr>
          <p:cNvSpPr>
            <a:spLocks xmlns:a="http://schemas.openxmlformats.org/drawingml/2006/main" noGrp="1"/>
          </p:cNvSpPr>
          <p:nvPr/>
        </p:nvSpPr>
        <p:spPr>
          <a:xfrm xmlns:a="http://schemas.openxmlformats.org/drawingml/2006/main">
            <a:off x="3143250" y="3619500"/>
            <a:ext cx="752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7221B"/>
                </a:solidFill>
                <a:latin typeface="Arial"/>
                <a:ea typeface="Arial"/>
                <a:cs typeface="Arial"/>
              </a:defRPr>
            </a:pPr>
            <a:r>
              <a:rPr sz="1725" b="1">
                <a:solidFill>
                  <a:srgbClr val="17221B"/>
                </a:solidFill>
                <a:latin typeface="Arial"/>
                <a:ea typeface="Arial"/>
                <a:cs typeface="Arial"/>
              </a:rPr>
              <a:t>983 source polygons; 969 intersect area</a:t>
            </a:r>
          </a:p>
        </p:txBody>
      </p:sp>
      <p:cxnSp>
        <p:nvCxnSpPr>
          <p:cNvPr id="60" name=""/>
          <p:cNvCxnSpPr/>
          <p:nvPr/>
        </p:nvCxnSpPr>
        <p:spPr>
          <a:xfrm xmlns:a="http://schemas.openxmlformats.org/drawingml/2006/main">
            <a:off x="666750" y="4714875"/>
            <a:ext cx="10287000" cy="0"/>
          </a:xfrm>
          <a:prstGeom xmlns:a="http://schemas.openxmlformats.org/drawingml/2006/main" prst="straightConnector1">
            <a:avLst/>
          </a:prstGeom>
          <a:ln xmlns:a="http://schemas.openxmlformats.org/drawingml/2006/main" w="9525">
            <a:solidFill>
              <a:srgbClr val="C6D0C9"/>
            </a:solidFill>
            <a:prstDash val="solid"/>
          </a:ln>
        </p:spPr>
      </p:cxnSp>
      <p:sp>
        <p:nvSpPr>
          <p:cNvPr id="18" name="">
            <a:extLst xmlns:a="http://schemas.openxmlformats.org/drawingml/2006/main">
              <a:ext uri="{FF2B5EF4-FFF2-40B4-BE49-F238E27FC236}">
                <a16:creationId xmlns:a16="http://schemas.microsoft.com/office/drawing/2014/main" id="{B2567192-5DD1-49E7-9F3C-1B2BCEB2FA63}"/>
              </a:ext>
            </a:extLst>
          </p:cNvPr>
          <p:cNvSpPr>
            <a:spLocks xmlns:a="http://schemas.openxmlformats.org/drawingml/2006/main" noGrp="1"/>
          </p:cNvSpPr>
          <p:nvPr/>
        </p:nvSpPr>
        <p:spPr>
          <a:xfrm xmlns:a="http://schemas.openxmlformats.org/drawingml/2006/main">
            <a:off x="742950" y="434340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5D6B63"/>
                </a:solidFill>
                <a:latin typeface="Arial"/>
                <a:ea typeface="Arial"/>
                <a:cs typeface="Arial"/>
              </a:defRPr>
            </a:pPr>
            <a:r>
              <a:rPr sz="1125" b="1">
                <a:solidFill>
                  <a:srgbClr val="5D6B63"/>
                </a:solidFill>
                <a:latin typeface="Arial"/>
                <a:ea typeface="Arial"/>
                <a:cs typeface="Arial"/>
              </a:rPr>
              <a:t>Split</a:t>
            </a:r>
          </a:p>
        </p:txBody>
      </p:sp>
      <p:sp>
        <p:nvSpPr>
          <p:cNvPr id="19" name="">
            <a:extLst xmlns:a="http://schemas.openxmlformats.org/drawingml/2006/main">
              <a:ext uri="{FF2B5EF4-FFF2-40B4-BE49-F238E27FC236}">
                <a16:creationId xmlns:a16="http://schemas.microsoft.com/office/drawing/2014/main" id="{E77E3FD4-25EB-4B0A-A341-2714E269D1DB}"/>
              </a:ext>
            </a:extLst>
          </p:cNvPr>
          <p:cNvSpPr>
            <a:spLocks xmlns:a="http://schemas.openxmlformats.org/drawingml/2006/main" noGrp="1"/>
          </p:cNvSpPr>
          <p:nvPr/>
        </p:nvSpPr>
        <p:spPr>
          <a:xfrm xmlns:a="http://schemas.openxmlformats.org/drawingml/2006/main">
            <a:off x="3143250" y="4286250"/>
            <a:ext cx="752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7221B"/>
                </a:solidFill>
                <a:latin typeface="Arial"/>
                <a:ea typeface="Arial"/>
                <a:cs typeface="Arial"/>
              </a:defRPr>
            </a:pPr>
            <a:r>
              <a:rPr sz="1725" b="1">
                <a:solidFill>
                  <a:srgbClr val="17221B"/>
                </a:solidFill>
                <a:latin typeface="Arial"/>
                <a:ea typeface="Arial"/>
                <a:cs typeface="Arial"/>
              </a:rPr>
              <a:t>1,180 / 203 / 252</a:t>
            </a:r>
          </a:p>
        </p:txBody>
      </p:sp>
      <p:cxnSp>
        <p:nvCxnSpPr>
          <p:cNvPr id="63" name=""/>
          <p:cNvCxnSpPr/>
          <p:nvPr/>
        </p:nvCxnSpPr>
        <p:spPr>
          <a:xfrm xmlns:a="http://schemas.openxmlformats.org/drawingml/2006/main">
            <a:off x="666750" y="5381625"/>
            <a:ext cx="10287000" cy="0"/>
          </a:xfrm>
          <a:prstGeom xmlns:a="http://schemas.openxmlformats.org/drawingml/2006/main" prst="straightConnector1">
            <a:avLst/>
          </a:prstGeom>
          <a:ln xmlns:a="http://schemas.openxmlformats.org/drawingml/2006/main" w="9525">
            <a:solidFill>
              <a:srgbClr val="C6D0C9"/>
            </a:solidFill>
            <a:prstDash val="solid"/>
          </a:ln>
        </p:spPr>
      </p:cxnSp>
      <p:sp>
        <p:nvSpPr>
          <p:cNvPr id="21" name="">
            <a:extLst xmlns:a="http://schemas.openxmlformats.org/drawingml/2006/main">
              <a:ext uri="{FF2B5EF4-FFF2-40B4-BE49-F238E27FC236}">
                <a16:creationId xmlns:a16="http://schemas.microsoft.com/office/drawing/2014/main" id="{192621C4-1075-48E1-A154-7CBF1BEBC6C7}"/>
              </a:ext>
            </a:extLst>
          </p:cNvPr>
          <p:cNvSpPr>
            <a:spLocks xmlns:a="http://schemas.openxmlformats.org/drawingml/2006/main" noGrp="1"/>
          </p:cNvSpPr>
          <p:nvPr/>
        </p:nvSpPr>
        <p:spPr>
          <a:xfrm xmlns:a="http://schemas.openxmlformats.org/drawingml/2006/main">
            <a:off x="742950" y="5010150"/>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125" b="1">
                <a:solidFill>
                  <a:srgbClr val="5D6B63"/>
                </a:solidFill>
                <a:latin typeface="Arial"/>
                <a:ea typeface="Arial"/>
                <a:cs typeface="Arial"/>
              </a:defRPr>
            </a:pPr>
            <a:r>
              <a:rPr sz="1125" b="1">
                <a:solidFill>
                  <a:srgbClr val="5D6B63"/>
                </a:solidFill>
                <a:latin typeface="Arial"/>
                <a:ea typeface="Arial"/>
                <a:cs typeface="Arial"/>
              </a:rPr>
              <a:t>Blocks</a:t>
            </a:r>
          </a:p>
        </p:txBody>
      </p:sp>
      <p:sp>
        <p:nvSpPr>
          <p:cNvPr id="22" name="">
            <a:extLst xmlns:a="http://schemas.openxmlformats.org/drawingml/2006/main">
              <a:ext uri="{FF2B5EF4-FFF2-40B4-BE49-F238E27FC236}">
                <a16:creationId xmlns:a16="http://schemas.microsoft.com/office/drawing/2014/main" id="{E07A70EC-0E5F-45E2-9A23-7157AD686CDD}"/>
              </a:ext>
            </a:extLst>
          </p:cNvPr>
          <p:cNvSpPr>
            <a:spLocks xmlns:a="http://schemas.openxmlformats.org/drawingml/2006/main" noGrp="1"/>
          </p:cNvSpPr>
          <p:nvPr/>
        </p:nvSpPr>
        <p:spPr>
          <a:xfrm xmlns:a="http://schemas.openxmlformats.org/drawingml/2006/main">
            <a:off x="3143250" y="4953000"/>
            <a:ext cx="7524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725" b="1">
                <a:solidFill>
                  <a:srgbClr val="17221B"/>
                </a:solidFill>
                <a:latin typeface="Arial"/>
                <a:ea typeface="Arial"/>
                <a:cs typeface="Arial"/>
              </a:defRPr>
            </a:pPr>
            <a:r>
              <a:rPr sz="1725" b="1">
                <a:solidFill>
                  <a:srgbClr val="17221B"/>
                </a:solidFill>
                <a:latin typeface="Arial"/>
                <a:ea typeface="Arial"/>
                <a:cs typeface="Arial"/>
              </a:rPr>
              <a:t>28 / 5 / 5; no overlap</a:t>
            </a:r>
          </a:p>
        </p:txBody>
      </p:sp>
      <p:sp>
        <p:nvSpPr>
          <p:cNvPr id="23" name="">
            <a:extLst xmlns:a="http://schemas.openxmlformats.org/drawingml/2006/main">
              <a:ext uri="{FF2B5EF4-FFF2-40B4-BE49-F238E27FC236}">
                <a16:creationId xmlns:a16="http://schemas.microsoft.com/office/drawing/2014/main" id="{FAEE21D6-A227-475C-A4D6-48DDC23A22D0}"/>
              </a:ext>
            </a:extLst>
          </p:cNvPr>
          <p:cNvSpPr>
            <a:spLocks xmlns:a="http://schemas.openxmlformats.org/drawingml/2006/main" noGrp="1"/>
          </p:cNvSpPr>
          <p:nvPr/>
        </p:nvSpPr>
        <p:spPr>
          <a:xfrm xmlns:a="http://schemas.openxmlformats.org/drawingml/2006/main">
            <a:off x="571500" y="6457950"/>
            <a:ext cx="9906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0">
                <a:solidFill>
                  <a:srgbClr val="5D6B63"/>
                </a:solidFill>
                <a:latin typeface="Arial"/>
                <a:ea typeface="Arial"/>
                <a:cs typeface="Arial"/>
              </a:defRPr>
            </a:pPr>
            <a:r>
              <a:rPr sz="750" b="0">
                <a:solidFill>
                  <a:srgbClr val="5D6B63"/>
                </a:solidFill>
                <a:latin typeface="Arial"/>
                <a:ea typeface="Arial"/>
                <a:cs typeface="Arial"/>
              </a:rPr>
              <a:t>Current official postcode boundary; historical 2016 PLZ geometry not verified</a:t>
            </a:r>
          </a:p>
        </p:txBody>
      </p:sp>
    </p:spTree>
    <p:extLst>
      <p:ext uri="{BB962C8B-B14F-4D97-AF65-F5344CB8AC3E}">
        <p14:creationId xmlns:p14="http://schemas.microsoft.com/office/powerpoint/2010/main" val="60797977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417F7FF-7EFC-4328-9301-B79DC398DCBD}"/>
              </a:ext>
            </a:extLst>
          </p:cNvPr>
          <p:cNvSpPr>
            <a:spLocks xmlns:a="http://schemas.openxmlformats.org/drawingml/2006/main" noGrp="1"/>
          </p:cNvSpPr>
          <p:nvPr/>
        </p:nvSpPr>
        <p:spPr>
          <a:xfrm xmlns:a="http://schemas.openxmlformats.org/drawingml/2006/main">
            <a:off x="647700" y="22860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1F7A55"/>
                </a:solidFill>
                <a:latin typeface="Arial"/>
                <a:ea typeface="Arial"/>
                <a:cs typeface="Arial"/>
              </a:defRPr>
            </a:pPr>
            <a:r>
              <a:rPr sz="900" b="1">
                <a:solidFill>
                  <a:srgbClr val="1F7A55"/>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F11EC2F5-DCEA-4B7A-98D7-73EC99D7AFE8}"/>
              </a:ext>
            </a:extLst>
          </p:cNvPr>
          <p:cNvSpPr>
            <a:spLocks xmlns:a="http://schemas.openxmlformats.org/drawingml/2006/main" noGrp="1"/>
          </p:cNvSpPr>
          <p:nvPr/>
        </p:nvSpPr>
        <p:spPr>
          <a:xfrm xmlns:a="http://schemas.openxmlformats.org/drawingml/2006/main">
            <a:off x="647700" y="60960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7221B"/>
                </a:solidFill>
                <a:latin typeface="Arial"/>
                <a:ea typeface="Arial"/>
                <a:cs typeface="Arial"/>
              </a:defRPr>
            </a:pPr>
            <a:r>
              <a:rPr sz="2325" b="1">
                <a:solidFill>
                  <a:srgbClr val="17221B"/>
                </a:solidFill>
                <a:latin typeface="Arial"/>
                <a:ea typeface="Arial"/>
                <a:cs typeface="Arial"/>
              </a:rPr>
              <a:t>Threshold calibration changes the comparison</a:t>
            </a:r>
          </a:p>
        </p:txBody>
      </p:sp>
      <p:cxnSp>
        <p:nvCxnSpPr>
          <p:cNvPr id="30" name=""/>
          <p:cNvCxnSpPr/>
          <p:nvPr/>
        </p:nvCxnSpPr>
        <p:spPr>
          <a:xfrm xmlns:a="http://schemas.openxmlformats.org/drawingml/2006/main">
            <a:off x="647700" y="1257300"/>
            <a:ext cx="10839450" cy="0"/>
          </a:xfrm>
          <a:prstGeom xmlns:a="http://schemas.openxmlformats.org/drawingml/2006/main" prst="straightConnector1">
            <a:avLst/>
          </a:prstGeom>
          <a:ln xmlns:a="http://schemas.openxmlformats.org/drawingml/2006/main" w="9525">
            <a:solidFill>
              <a:srgbClr val="C6D0C9"/>
            </a:solidFill>
            <a:prstDash val="solid"/>
          </a:ln>
        </p:spPr>
      </p:cxnSp>
      <p:sp>
        <p:nvSpPr>
          <p:cNvPr id="4" name="">
            <a:extLst xmlns:a="http://schemas.openxmlformats.org/drawingml/2006/main">
              <a:ext uri="{FF2B5EF4-FFF2-40B4-BE49-F238E27FC236}">
                <a16:creationId xmlns:a16="http://schemas.microsoft.com/office/drawing/2014/main" id="{9D772317-592D-424A-870F-E35CC2124237}"/>
              </a:ext>
            </a:extLst>
          </p:cNvPr>
          <p:cNvSpPr>
            <a:spLocks xmlns:a="http://schemas.openxmlformats.org/drawingml/2006/main" noGrp="1"/>
          </p:cNvSpPr>
          <p:nvPr/>
        </p:nvSpPr>
        <p:spPr>
          <a:xfrm xmlns:a="http://schemas.openxmlformats.org/drawingml/2006/main">
            <a:off x="11382375" y="64389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a:solidFill>
                  <a:srgbClr val="5D6B63"/>
                </a:solidFill>
                <a:latin typeface="Arial"/>
                <a:ea typeface="Arial"/>
                <a:cs typeface="Arial"/>
              </a:defRPr>
            </a:pPr>
            <a:r>
              <a:rPr sz="900" b="0">
                <a:solidFill>
                  <a:srgbClr val="5D6B63"/>
                </a:solidFill>
                <a:latin typeface="Arial"/>
                <a:ea typeface="Arial"/>
                <a:cs typeface="Arial"/>
              </a:rPr>
              <a:t>15</a:t>
            </a:r>
          </a:p>
        </p:txBody>
      </p:sp>
      <p:sp>
        <p:nvSpPr>
          <p:cNvPr id="5" name="">
            <a:extLst xmlns:a="http://schemas.openxmlformats.org/drawingml/2006/main">
              <a:ext uri="{FF2B5EF4-FFF2-40B4-BE49-F238E27FC236}">
                <a16:creationId xmlns:a16="http://schemas.microsoft.com/office/drawing/2014/main" id="{B967F5A7-EE3A-4A4B-AC34-F606D24784DA}"/>
              </a:ext>
            </a:extLst>
          </p:cNvPr>
          <p:cNvSpPr>
            <a:spLocks xmlns:a="http://schemas.openxmlformats.org/drawingml/2006/main" noGrp="1"/>
          </p:cNvSpPr>
          <p:nvPr/>
        </p:nvSpPr>
        <p:spPr>
          <a:xfrm xmlns:a="http://schemas.openxmlformats.org/drawingml/2006/main">
            <a:off x="666750" y="1638300"/>
            <a:ext cx="190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050" b="1">
                <a:solidFill>
                  <a:srgbClr val="5D6B63"/>
                </a:solidFill>
                <a:latin typeface="Arial"/>
                <a:ea typeface="Arial"/>
                <a:cs typeface="Arial"/>
              </a:defRPr>
            </a:pPr>
            <a:r>
              <a:rPr sz="1050" b="1">
                <a:solidFill>
                  <a:srgbClr val="5D6B63"/>
                </a:solidFill>
                <a:latin typeface="Arial"/>
                <a:ea typeface="Arial"/>
                <a:cs typeface="Arial"/>
              </a:rPr>
              <a:t>Training</a:t>
            </a:r>
          </a:p>
        </p:txBody>
      </p:sp>
      <p:sp>
        <p:nvSpPr>
          <p:cNvPr id="6" name="">
            <a:extLst xmlns:a="http://schemas.openxmlformats.org/drawingml/2006/main">
              <a:ext uri="{FF2B5EF4-FFF2-40B4-BE49-F238E27FC236}">
                <a16:creationId xmlns:a16="http://schemas.microsoft.com/office/drawing/2014/main" id="{48513F4F-C393-4DE8-8FCC-E91AEF562F34}"/>
              </a:ext>
            </a:extLst>
          </p:cNvPr>
          <p:cNvSpPr>
            <a:spLocks xmlns:a="http://schemas.openxmlformats.org/drawingml/2006/main" noGrp="1"/>
          </p:cNvSpPr>
          <p:nvPr/>
        </p:nvSpPr>
        <p:spPr>
          <a:xfrm xmlns:a="http://schemas.openxmlformats.org/drawingml/2006/main">
            <a:off x="2743200" y="1638300"/>
            <a:ext cx="190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050" b="1">
                <a:solidFill>
                  <a:srgbClr val="5D6B63"/>
                </a:solidFill>
                <a:latin typeface="Arial"/>
                <a:ea typeface="Arial"/>
                <a:cs typeface="Arial"/>
              </a:defRPr>
            </a:pPr>
            <a:r>
              <a:rPr sz="1050" b="1">
                <a:solidFill>
                  <a:srgbClr val="5D6B63"/>
                </a:solidFill>
                <a:latin typeface="Arial"/>
                <a:ea typeface="Arial"/>
                <a:cs typeface="Arial"/>
              </a:rPr>
              <a:t>Fixed threshold</a:t>
            </a:r>
          </a:p>
        </p:txBody>
      </p:sp>
      <p:sp>
        <p:nvSpPr>
          <p:cNvPr id="7" name="">
            <a:extLst xmlns:a="http://schemas.openxmlformats.org/drawingml/2006/main">
              <a:ext uri="{FF2B5EF4-FFF2-40B4-BE49-F238E27FC236}">
                <a16:creationId xmlns:a16="http://schemas.microsoft.com/office/drawing/2014/main" id="{47326FCA-04FD-4401-A7C9-D280DE407D4E}"/>
              </a:ext>
            </a:extLst>
          </p:cNvPr>
          <p:cNvSpPr>
            <a:spLocks xmlns:a="http://schemas.openxmlformats.org/drawingml/2006/main" noGrp="1"/>
          </p:cNvSpPr>
          <p:nvPr/>
        </p:nvSpPr>
        <p:spPr>
          <a:xfrm xmlns:a="http://schemas.openxmlformats.org/drawingml/2006/main">
            <a:off x="4819650" y="1638300"/>
            <a:ext cx="190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050" b="1">
                <a:solidFill>
                  <a:srgbClr val="5D6B63"/>
                </a:solidFill>
                <a:latin typeface="Arial"/>
                <a:ea typeface="Arial"/>
                <a:cs typeface="Arial"/>
              </a:defRPr>
            </a:pPr>
            <a:r>
              <a:rPr sz="1050" b="1">
                <a:solidFill>
                  <a:srgbClr val="5D6B63"/>
                </a:solidFill>
                <a:latin typeface="Arial"/>
                <a:ea typeface="Arial"/>
                <a:cs typeface="Arial"/>
              </a:rPr>
              <a:t>Fixed Dice</a:t>
            </a:r>
          </a:p>
        </p:txBody>
      </p:sp>
      <p:sp>
        <p:nvSpPr>
          <p:cNvPr id="8" name="">
            <a:extLst xmlns:a="http://schemas.openxmlformats.org/drawingml/2006/main">
              <a:ext uri="{FF2B5EF4-FFF2-40B4-BE49-F238E27FC236}">
                <a16:creationId xmlns:a16="http://schemas.microsoft.com/office/drawing/2014/main" id="{350E1E7D-98B3-45F1-8CB1-1F1D97A24831}"/>
              </a:ext>
            </a:extLst>
          </p:cNvPr>
          <p:cNvSpPr>
            <a:spLocks xmlns:a="http://schemas.openxmlformats.org/drawingml/2006/main" noGrp="1"/>
          </p:cNvSpPr>
          <p:nvPr/>
        </p:nvSpPr>
        <p:spPr>
          <a:xfrm xmlns:a="http://schemas.openxmlformats.org/drawingml/2006/main">
            <a:off x="6896100" y="1638300"/>
            <a:ext cx="190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050" b="1">
                <a:solidFill>
                  <a:srgbClr val="5D6B63"/>
                </a:solidFill>
                <a:latin typeface="Arial"/>
                <a:ea typeface="Arial"/>
                <a:cs typeface="Arial"/>
              </a:defRPr>
            </a:pPr>
            <a:r>
              <a:rPr sz="1050" b="1">
                <a:solidFill>
                  <a:srgbClr val="5D6B63"/>
                </a:solidFill>
                <a:latin typeface="Arial"/>
                <a:ea typeface="Arial"/>
                <a:cs typeface="Arial"/>
              </a:rPr>
              <a:t>Selected threshold</a:t>
            </a:r>
          </a:p>
        </p:txBody>
      </p:sp>
      <p:sp>
        <p:nvSpPr>
          <p:cNvPr id="9" name="">
            <a:extLst xmlns:a="http://schemas.openxmlformats.org/drawingml/2006/main">
              <a:ext uri="{FF2B5EF4-FFF2-40B4-BE49-F238E27FC236}">
                <a16:creationId xmlns:a16="http://schemas.microsoft.com/office/drawing/2014/main" id="{652B9463-82AE-4734-BA76-D00FCB9ECE58}"/>
              </a:ext>
            </a:extLst>
          </p:cNvPr>
          <p:cNvSpPr>
            <a:spLocks xmlns:a="http://schemas.openxmlformats.org/drawingml/2006/main" noGrp="1"/>
          </p:cNvSpPr>
          <p:nvPr/>
        </p:nvSpPr>
        <p:spPr>
          <a:xfrm xmlns:a="http://schemas.openxmlformats.org/drawingml/2006/main">
            <a:off x="8972550" y="1638300"/>
            <a:ext cx="190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050" b="1">
                <a:solidFill>
                  <a:srgbClr val="5D6B63"/>
                </a:solidFill>
                <a:latin typeface="Arial"/>
                <a:ea typeface="Arial"/>
                <a:cs typeface="Arial"/>
              </a:defRPr>
            </a:pPr>
            <a:r>
              <a:rPr sz="1050" b="1">
                <a:solidFill>
                  <a:srgbClr val="5D6B63"/>
                </a:solidFill>
                <a:latin typeface="Arial"/>
                <a:ea typeface="Arial"/>
                <a:cs typeface="Arial"/>
              </a:rPr>
              <a:t>Selected Dice</a:t>
            </a:r>
          </a:p>
        </p:txBody>
      </p:sp>
      <p:sp>
        <p:nvSpPr>
          <p:cNvPr id="10" name="">
            <a:extLst xmlns:a="http://schemas.openxmlformats.org/drawingml/2006/main">
              <a:ext uri="{FF2B5EF4-FFF2-40B4-BE49-F238E27FC236}">
                <a16:creationId xmlns:a16="http://schemas.microsoft.com/office/drawing/2014/main" id="{093D5848-BA97-42AB-A357-C71F7A2315F1}"/>
              </a:ext>
            </a:extLst>
          </p:cNvPr>
          <p:cNvSpPr>
            <a:spLocks xmlns:a="http://schemas.openxmlformats.org/drawingml/2006/main" noGrp="1"/>
          </p:cNvSpPr>
          <p:nvPr/>
        </p:nvSpPr>
        <p:spPr>
          <a:xfrm xmlns:a="http://schemas.openxmlformats.org/drawingml/2006/main">
            <a:off x="609600" y="2209800"/>
            <a:ext cx="10477500" cy="838200"/>
          </a:xfrm>
          <a:prstGeom xmlns:a="http://schemas.openxmlformats.org/drawingml/2006/main" prst="rect">
            <a:avLst/>
          </a:prstGeom>
          <a:solidFill xmlns:a="http://schemas.openxmlformats.org/drawingml/2006/main">
            <a:srgbClr val="E8F3EC"/>
          </a:solidFill>
          <a:ln xmlns:a="http://schemas.openxmlformats.org/drawingml/2006/main" w="0">
            <a:solidFill>
              <a:srgbClr val="E8F3EC"/>
            </a:solidFill>
            <a:prstDash val="solid"/>
          </a:ln>
        </p:spPr>
      </p:sp>
      <p:sp>
        <p:nvSpPr>
          <p:cNvPr id="11" name="">
            <a:extLst xmlns:a="http://schemas.openxmlformats.org/drawingml/2006/main">
              <a:ext uri="{FF2B5EF4-FFF2-40B4-BE49-F238E27FC236}">
                <a16:creationId xmlns:a16="http://schemas.microsoft.com/office/drawing/2014/main" id="{18E7ACFF-8F5F-4DE0-8D5F-FF50EEFAD7BD}"/>
              </a:ext>
            </a:extLst>
          </p:cNvPr>
          <p:cNvSpPr>
            <a:spLocks xmlns:a="http://schemas.openxmlformats.org/drawingml/2006/main" noGrp="1"/>
          </p:cNvSpPr>
          <p:nvPr/>
        </p:nvSpPr>
        <p:spPr>
          <a:xfrm xmlns:a="http://schemas.openxmlformats.org/drawingml/2006/main">
            <a:off x="666750" y="2447925"/>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17221B"/>
                </a:solidFill>
                <a:latin typeface="Arial"/>
                <a:ea typeface="Arial"/>
                <a:cs typeface="Arial"/>
              </a:defRPr>
            </a:pPr>
            <a:r>
              <a:rPr sz="1575" b="1">
                <a:solidFill>
                  <a:srgbClr val="17221B"/>
                </a:solidFill>
                <a:latin typeface="Arial"/>
                <a:ea typeface="Arial"/>
                <a:cs typeface="Arial"/>
              </a:rPr>
              <a:t>All-tile</a:t>
            </a:r>
          </a:p>
        </p:txBody>
      </p:sp>
      <p:sp>
        <p:nvSpPr>
          <p:cNvPr id="12" name="">
            <a:extLst xmlns:a="http://schemas.openxmlformats.org/drawingml/2006/main">
              <a:ext uri="{FF2B5EF4-FFF2-40B4-BE49-F238E27FC236}">
                <a16:creationId xmlns:a16="http://schemas.microsoft.com/office/drawing/2014/main" id="{D3333E70-4725-4D63-BB6E-7FCAE1CC5C6A}"/>
              </a:ext>
            </a:extLst>
          </p:cNvPr>
          <p:cNvSpPr>
            <a:spLocks xmlns:a="http://schemas.openxmlformats.org/drawingml/2006/main" noGrp="1"/>
          </p:cNvSpPr>
          <p:nvPr/>
        </p:nvSpPr>
        <p:spPr>
          <a:xfrm xmlns:a="http://schemas.openxmlformats.org/drawingml/2006/main">
            <a:off x="2743200" y="2447925"/>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800" b="1">
                <a:solidFill>
                  <a:srgbClr val="1F7A55"/>
                </a:solidFill>
                <a:latin typeface="Arial"/>
                <a:ea typeface="Arial"/>
                <a:cs typeface="Arial"/>
              </a:defRPr>
            </a:pPr>
            <a:r>
              <a:rPr sz="1800" b="1">
                <a:solidFill>
                  <a:srgbClr val="1F7A55"/>
                </a:solidFill>
                <a:latin typeface="Arial"/>
                <a:ea typeface="Arial"/>
                <a:cs typeface="Arial"/>
              </a:rPr>
              <a:t>0.50</a:t>
            </a:r>
          </a:p>
        </p:txBody>
      </p:sp>
      <p:sp>
        <p:nvSpPr>
          <p:cNvPr id="13" name="">
            <a:extLst xmlns:a="http://schemas.openxmlformats.org/drawingml/2006/main">
              <a:ext uri="{FF2B5EF4-FFF2-40B4-BE49-F238E27FC236}">
                <a16:creationId xmlns:a16="http://schemas.microsoft.com/office/drawing/2014/main" id="{D0645C3E-8BEF-418D-9B40-2B762D595D56}"/>
              </a:ext>
            </a:extLst>
          </p:cNvPr>
          <p:cNvSpPr>
            <a:spLocks xmlns:a="http://schemas.openxmlformats.org/drawingml/2006/main" noGrp="1"/>
          </p:cNvSpPr>
          <p:nvPr/>
        </p:nvSpPr>
        <p:spPr>
          <a:xfrm xmlns:a="http://schemas.openxmlformats.org/drawingml/2006/main">
            <a:off x="4819650" y="2447925"/>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800" b="1">
                <a:solidFill>
                  <a:srgbClr val="1F7A55"/>
                </a:solidFill>
                <a:latin typeface="Arial"/>
                <a:ea typeface="Arial"/>
                <a:cs typeface="Arial"/>
              </a:defRPr>
            </a:pPr>
            <a:r>
              <a:rPr sz="1800" b="1">
                <a:solidFill>
                  <a:srgbClr val="1F7A55"/>
                </a:solidFill>
                <a:latin typeface="Arial"/>
                <a:ea typeface="Arial"/>
                <a:cs typeface="Arial"/>
              </a:rPr>
              <a:t>44.06%</a:t>
            </a:r>
          </a:p>
        </p:txBody>
      </p:sp>
      <p:sp>
        <p:nvSpPr>
          <p:cNvPr id="14" name="">
            <a:extLst xmlns:a="http://schemas.openxmlformats.org/drawingml/2006/main">
              <a:ext uri="{FF2B5EF4-FFF2-40B4-BE49-F238E27FC236}">
                <a16:creationId xmlns:a16="http://schemas.microsoft.com/office/drawing/2014/main" id="{C864184A-92B6-48DF-9A1D-CD90A7B30BA2}"/>
              </a:ext>
            </a:extLst>
          </p:cNvPr>
          <p:cNvSpPr>
            <a:spLocks xmlns:a="http://schemas.openxmlformats.org/drawingml/2006/main" noGrp="1"/>
          </p:cNvSpPr>
          <p:nvPr/>
        </p:nvSpPr>
        <p:spPr>
          <a:xfrm xmlns:a="http://schemas.openxmlformats.org/drawingml/2006/main">
            <a:off x="6896100" y="2447925"/>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800" b="1">
                <a:solidFill>
                  <a:srgbClr val="1F7A55"/>
                </a:solidFill>
                <a:latin typeface="Arial"/>
                <a:ea typeface="Arial"/>
                <a:cs typeface="Arial"/>
              </a:defRPr>
            </a:pPr>
            <a:r>
              <a:rPr sz="1800" b="1">
                <a:solidFill>
                  <a:srgbClr val="1F7A55"/>
                </a:solidFill>
                <a:latin typeface="Arial"/>
                <a:ea typeface="Arial"/>
                <a:cs typeface="Arial"/>
              </a:rPr>
              <a:t>0.05</a:t>
            </a:r>
          </a:p>
        </p:txBody>
      </p:sp>
      <p:sp>
        <p:nvSpPr>
          <p:cNvPr id="15" name="">
            <a:extLst xmlns:a="http://schemas.openxmlformats.org/drawingml/2006/main">
              <a:ext uri="{FF2B5EF4-FFF2-40B4-BE49-F238E27FC236}">
                <a16:creationId xmlns:a16="http://schemas.microsoft.com/office/drawing/2014/main" id="{DCDB45F2-A888-4293-A94F-DE2BCFC88B5F}"/>
              </a:ext>
            </a:extLst>
          </p:cNvPr>
          <p:cNvSpPr>
            <a:spLocks xmlns:a="http://schemas.openxmlformats.org/drawingml/2006/main" noGrp="1"/>
          </p:cNvSpPr>
          <p:nvPr/>
        </p:nvSpPr>
        <p:spPr>
          <a:xfrm xmlns:a="http://schemas.openxmlformats.org/drawingml/2006/main">
            <a:off x="8972550" y="2447925"/>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800" b="1">
                <a:solidFill>
                  <a:srgbClr val="1F7A55"/>
                </a:solidFill>
                <a:latin typeface="Arial"/>
                <a:ea typeface="Arial"/>
                <a:cs typeface="Arial"/>
              </a:defRPr>
            </a:pPr>
            <a:r>
              <a:rPr sz="1800" b="1">
                <a:solidFill>
                  <a:srgbClr val="1F7A55"/>
                </a:solidFill>
                <a:latin typeface="Arial"/>
                <a:ea typeface="Arial"/>
                <a:cs typeface="Arial"/>
              </a:rPr>
              <a:t>47.54%</a:t>
            </a:r>
          </a:p>
        </p:txBody>
      </p:sp>
      <p:sp>
        <p:nvSpPr>
          <p:cNvPr id="16" name="">
            <a:extLst xmlns:a="http://schemas.openxmlformats.org/drawingml/2006/main">
              <a:ext uri="{FF2B5EF4-FFF2-40B4-BE49-F238E27FC236}">
                <a16:creationId xmlns:a16="http://schemas.microsoft.com/office/drawing/2014/main" id="{2A56A4D7-F921-4956-981A-36AAE0CBB478}"/>
              </a:ext>
            </a:extLst>
          </p:cNvPr>
          <p:cNvSpPr>
            <a:spLocks xmlns:a="http://schemas.openxmlformats.org/drawingml/2006/main" noGrp="1"/>
          </p:cNvSpPr>
          <p:nvPr/>
        </p:nvSpPr>
        <p:spPr>
          <a:xfrm xmlns:a="http://schemas.openxmlformats.org/drawingml/2006/main">
            <a:off x="609600" y="3305175"/>
            <a:ext cx="10477500" cy="838200"/>
          </a:xfrm>
          <a:prstGeom xmlns:a="http://schemas.openxmlformats.org/drawingml/2006/main" prst="rect">
            <a:avLst/>
          </a:prstGeom>
          <a:solidFill xmlns:a="http://schemas.openxmlformats.org/drawingml/2006/main">
            <a:srgbClr val="F7EDED"/>
          </a:solidFill>
          <a:ln xmlns:a="http://schemas.openxmlformats.org/drawingml/2006/main" w="0">
            <a:solidFill>
              <a:srgbClr val="F7EDED"/>
            </a:solidFill>
            <a:prstDash val="solid"/>
          </a:ln>
        </p:spPr>
      </p:sp>
      <p:sp>
        <p:nvSpPr>
          <p:cNvPr id="17" name="">
            <a:extLst xmlns:a="http://schemas.openxmlformats.org/drawingml/2006/main">
              <a:ext uri="{FF2B5EF4-FFF2-40B4-BE49-F238E27FC236}">
                <a16:creationId xmlns:a16="http://schemas.microsoft.com/office/drawing/2014/main" id="{0B521D01-F4F3-4562-81B0-C284B3504967}"/>
              </a:ext>
            </a:extLst>
          </p:cNvPr>
          <p:cNvSpPr>
            <a:spLocks xmlns:a="http://schemas.openxmlformats.org/drawingml/2006/main" noGrp="1"/>
          </p:cNvSpPr>
          <p:nvPr/>
        </p:nvSpPr>
        <p:spPr>
          <a:xfrm xmlns:a="http://schemas.openxmlformats.org/drawingml/2006/main">
            <a:off x="666750" y="35433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17221B"/>
                </a:solidFill>
                <a:latin typeface="Arial"/>
                <a:ea typeface="Arial"/>
                <a:cs typeface="Arial"/>
              </a:defRPr>
            </a:pPr>
            <a:r>
              <a:rPr sz="1575" b="1">
                <a:solidFill>
                  <a:srgbClr val="17221B"/>
                </a:solidFill>
                <a:latin typeface="Arial"/>
                <a:ea typeface="Arial"/>
                <a:cs typeface="Arial"/>
              </a:rPr>
              <a:t>Positive-only</a:t>
            </a:r>
          </a:p>
        </p:txBody>
      </p:sp>
      <p:sp>
        <p:nvSpPr>
          <p:cNvPr id="18" name="">
            <a:extLst xmlns:a="http://schemas.openxmlformats.org/drawingml/2006/main">
              <a:ext uri="{FF2B5EF4-FFF2-40B4-BE49-F238E27FC236}">
                <a16:creationId xmlns:a16="http://schemas.microsoft.com/office/drawing/2014/main" id="{41A85CFD-C455-4581-AE73-F2A86C876045}"/>
              </a:ext>
            </a:extLst>
          </p:cNvPr>
          <p:cNvSpPr>
            <a:spLocks xmlns:a="http://schemas.openxmlformats.org/drawingml/2006/main" noGrp="1"/>
          </p:cNvSpPr>
          <p:nvPr/>
        </p:nvSpPr>
        <p:spPr>
          <a:xfrm xmlns:a="http://schemas.openxmlformats.org/drawingml/2006/main">
            <a:off x="2743200" y="35433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800" b="1">
                <a:solidFill>
                  <a:srgbClr val="C8605A"/>
                </a:solidFill>
                <a:latin typeface="Arial"/>
                <a:ea typeface="Arial"/>
                <a:cs typeface="Arial"/>
              </a:defRPr>
            </a:pPr>
            <a:r>
              <a:rPr sz="1800" b="1">
                <a:solidFill>
                  <a:srgbClr val="C8605A"/>
                </a:solidFill>
                <a:latin typeface="Arial"/>
                <a:ea typeface="Arial"/>
                <a:cs typeface="Arial"/>
              </a:rPr>
              <a:t>0.50</a:t>
            </a:r>
          </a:p>
        </p:txBody>
      </p:sp>
      <p:sp>
        <p:nvSpPr>
          <p:cNvPr id="19" name="">
            <a:extLst xmlns:a="http://schemas.openxmlformats.org/drawingml/2006/main">
              <a:ext uri="{FF2B5EF4-FFF2-40B4-BE49-F238E27FC236}">
                <a16:creationId xmlns:a16="http://schemas.microsoft.com/office/drawing/2014/main" id="{B6B2E53C-AF5E-44D5-9394-4F3A35589A50}"/>
              </a:ext>
            </a:extLst>
          </p:cNvPr>
          <p:cNvSpPr>
            <a:spLocks xmlns:a="http://schemas.openxmlformats.org/drawingml/2006/main" noGrp="1"/>
          </p:cNvSpPr>
          <p:nvPr/>
        </p:nvSpPr>
        <p:spPr>
          <a:xfrm xmlns:a="http://schemas.openxmlformats.org/drawingml/2006/main">
            <a:off x="4819650" y="35433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800" b="1">
                <a:solidFill>
                  <a:srgbClr val="C8605A"/>
                </a:solidFill>
                <a:latin typeface="Arial"/>
                <a:ea typeface="Arial"/>
                <a:cs typeface="Arial"/>
              </a:defRPr>
            </a:pPr>
            <a:r>
              <a:rPr sz="1800" b="1">
                <a:solidFill>
                  <a:srgbClr val="C8605A"/>
                </a:solidFill>
                <a:latin typeface="Arial"/>
                <a:ea typeface="Arial"/>
                <a:cs typeface="Arial"/>
              </a:rPr>
              <a:t>41.59%</a:t>
            </a:r>
          </a:p>
        </p:txBody>
      </p:sp>
      <p:sp>
        <p:nvSpPr>
          <p:cNvPr id="20" name="">
            <a:extLst xmlns:a="http://schemas.openxmlformats.org/drawingml/2006/main">
              <a:ext uri="{FF2B5EF4-FFF2-40B4-BE49-F238E27FC236}">
                <a16:creationId xmlns:a16="http://schemas.microsoft.com/office/drawing/2014/main" id="{A6455522-7BD5-4451-8CA6-E41626D10BFD}"/>
              </a:ext>
            </a:extLst>
          </p:cNvPr>
          <p:cNvSpPr>
            <a:spLocks xmlns:a="http://schemas.openxmlformats.org/drawingml/2006/main" noGrp="1"/>
          </p:cNvSpPr>
          <p:nvPr/>
        </p:nvSpPr>
        <p:spPr>
          <a:xfrm xmlns:a="http://schemas.openxmlformats.org/drawingml/2006/main">
            <a:off x="6896100" y="35433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800" b="1">
                <a:solidFill>
                  <a:srgbClr val="C8605A"/>
                </a:solidFill>
                <a:latin typeface="Arial"/>
                <a:ea typeface="Arial"/>
                <a:cs typeface="Arial"/>
              </a:defRPr>
            </a:pPr>
            <a:r>
              <a:rPr sz="1800" b="1">
                <a:solidFill>
                  <a:srgbClr val="C8605A"/>
                </a:solidFill>
                <a:latin typeface="Arial"/>
                <a:ea typeface="Arial"/>
                <a:cs typeface="Arial"/>
              </a:rPr>
              <a:t>0.95</a:t>
            </a:r>
          </a:p>
        </p:txBody>
      </p:sp>
      <p:sp>
        <p:nvSpPr>
          <p:cNvPr id="21" name="">
            <a:extLst xmlns:a="http://schemas.openxmlformats.org/drawingml/2006/main">
              <a:ext uri="{FF2B5EF4-FFF2-40B4-BE49-F238E27FC236}">
                <a16:creationId xmlns:a16="http://schemas.microsoft.com/office/drawing/2014/main" id="{5557DE9E-6E6C-4166-97B1-63E992C88D55}"/>
              </a:ext>
            </a:extLst>
          </p:cNvPr>
          <p:cNvSpPr>
            <a:spLocks xmlns:a="http://schemas.openxmlformats.org/drawingml/2006/main" noGrp="1"/>
          </p:cNvSpPr>
          <p:nvPr/>
        </p:nvSpPr>
        <p:spPr>
          <a:xfrm xmlns:a="http://schemas.openxmlformats.org/drawingml/2006/main">
            <a:off x="8972550" y="3543300"/>
            <a:ext cx="190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800" b="1">
                <a:solidFill>
                  <a:srgbClr val="C8605A"/>
                </a:solidFill>
                <a:latin typeface="Arial"/>
                <a:ea typeface="Arial"/>
                <a:cs typeface="Arial"/>
              </a:defRPr>
            </a:pPr>
            <a:r>
              <a:rPr sz="1800" b="1">
                <a:solidFill>
                  <a:srgbClr val="C8605A"/>
                </a:solidFill>
                <a:latin typeface="Arial"/>
                <a:ea typeface="Arial"/>
                <a:cs typeface="Arial"/>
              </a:rPr>
              <a:t>42.21%</a:t>
            </a:r>
          </a:p>
        </p:txBody>
      </p:sp>
      <p:sp>
        <p:nvSpPr>
          <p:cNvPr id="22" name="">
            <a:extLst xmlns:a="http://schemas.openxmlformats.org/drawingml/2006/main">
              <a:ext uri="{FF2B5EF4-FFF2-40B4-BE49-F238E27FC236}">
                <a16:creationId xmlns:a16="http://schemas.microsoft.com/office/drawing/2014/main" id="{DA3BD1D8-D135-40D1-8E4F-657DF25D3AB4}"/>
              </a:ext>
            </a:extLst>
          </p:cNvPr>
          <p:cNvSpPr>
            <a:spLocks xmlns:a="http://schemas.openxmlformats.org/drawingml/2006/main" noGrp="1"/>
          </p:cNvSpPr>
          <p:nvPr/>
        </p:nvSpPr>
        <p:spPr>
          <a:xfrm xmlns:a="http://schemas.openxmlformats.org/drawingml/2006/main">
            <a:off x="609600" y="4762500"/>
            <a:ext cx="10477500" cy="762000"/>
          </a:xfrm>
          <a:prstGeom xmlns:a="http://schemas.openxmlformats.org/drawingml/2006/main" prst="roundRect">
            <a:avLst>
              <a:gd name="adj" fmla="val 7500"/>
            </a:avLst>
          </a:prstGeom>
          <a:solidFill xmlns:a="http://schemas.openxmlformats.org/drawingml/2006/main">
            <a:srgbClr val="F4F7F4"/>
          </a:solidFill>
          <a:ln xmlns:a="http://schemas.openxmlformats.org/drawingml/2006/main" w="9525">
            <a:solidFill>
              <a:srgbClr val="F4F7F4"/>
            </a:solidFill>
            <a:prstDash val="solid"/>
          </a:ln>
        </p:spPr>
      </p:sp>
      <p:sp>
        <p:nvSpPr>
          <p:cNvPr id="23" name="">
            <a:extLst xmlns:a="http://schemas.openxmlformats.org/drawingml/2006/main">
              <a:ext uri="{FF2B5EF4-FFF2-40B4-BE49-F238E27FC236}">
                <a16:creationId xmlns:a16="http://schemas.microsoft.com/office/drawing/2014/main" id="{C3282813-0A6B-474F-8633-6C7200B55062}"/>
              </a:ext>
            </a:extLst>
          </p:cNvPr>
          <p:cNvSpPr>
            <a:spLocks xmlns:a="http://schemas.openxmlformats.org/drawingml/2006/main" noGrp="1"/>
          </p:cNvSpPr>
          <p:nvPr/>
        </p:nvSpPr>
        <p:spPr>
          <a:xfrm xmlns:a="http://schemas.openxmlformats.org/drawingml/2006/main">
            <a:off x="838200" y="4962525"/>
            <a:ext cx="1381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5D6B63"/>
                </a:solidFill>
                <a:latin typeface="Arial"/>
                <a:ea typeface="Arial"/>
                <a:cs typeface="Arial"/>
              </a:defRPr>
            </a:pPr>
            <a:r>
              <a:rPr sz="1050" b="1">
                <a:solidFill>
                  <a:srgbClr val="5D6B63"/>
                </a:solidFill>
                <a:latin typeface="Arial"/>
                <a:ea typeface="Arial"/>
                <a:cs typeface="Arial"/>
              </a:rPr>
              <a:t>Interpretation</a:t>
            </a:r>
          </a:p>
        </p:txBody>
      </p:sp>
      <p:sp>
        <p:nvSpPr>
          <p:cNvPr id="24" name="">
            <a:extLst xmlns:a="http://schemas.openxmlformats.org/drawingml/2006/main">
              <a:ext uri="{FF2B5EF4-FFF2-40B4-BE49-F238E27FC236}">
                <a16:creationId xmlns:a16="http://schemas.microsoft.com/office/drawing/2014/main" id="{C90DA434-DC3D-492A-A30C-4C3534ED66D9}"/>
              </a:ext>
            </a:extLst>
          </p:cNvPr>
          <p:cNvSpPr>
            <a:spLocks xmlns:a="http://schemas.openxmlformats.org/drawingml/2006/main" noGrp="1"/>
          </p:cNvSpPr>
          <p:nvPr/>
        </p:nvSpPr>
        <p:spPr>
          <a:xfrm xmlns:a="http://schemas.openxmlformats.org/drawingml/2006/main">
            <a:off x="2286000" y="4876800"/>
            <a:ext cx="847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500"/>
          </a:bodyPr>
          <a:lstStyle xmlns:a="http://schemas.openxmlformats.org/drawingml/2006/main"/>
          <a:p xmlns:a="http://schemas.openxmlformats.org/drawingml/2006/main">
            <a:pPr algn="l">
              <a:buNone/>
              <a:defRPr sz="1500" b="1">
                <a:solidFill>
                  <a:srgbClr val="17221B"/>
                </a:solidFill>
                <a:latin typeface="Arial"/>
                <a:ea typeface="Arial"/>
                <a:cs typeface="Arial"/>
              </a:defRPr>
            </a:pPr>
            <a:r>
              <a:rPr sz="1500" b="1">
                <a:solidFill>
                  <a:srgbClr val="17221B"/>
                </a:solidFill>
                <a:latin typeface="Arial"/>
                <a:ea typeface="Arial"/>
                <a:cs typeface="Arial"/>
              </a:rPr>
              <a:t>The threshold gap suggests different probability calibration; compare models only under a declared threshold protocol.</a:t>
            </a:r>
          </a:p>
        </p:txBody>
      </p:sp>
    </p:spTree>
    <p:extLst>
      <p:ext uri="{BB962C8B-B14F-4D97-AF65-F5344CB8AC3E}">
        <p14:creationId xmlns:p14="http://schemas.microsoft.com/office/powerpoint/2010/main" val="164096915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68EA409-A76C-47BB-8672-CA91DE12C34F}"/>
              </a:ext>
            </a:extLst>
          </p:cNvPr>
          <p:cNvSpPr>
            <a:spLocks xmlns:a="http://schemas.openxmlformats.org/drawingml/2006/main" noGrp="1"/>
          </p:cNvSpPr>
          <p:nvPr/>
        </p:nvSpPr>
        <p:spPr>
          <a:xfrm xmlns:a="http://schemas.openxmlformats.org/drawingml/2006/main">
            <a:off x="647700" y="22860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1F7A55"/>
                </a:solidFill>
                <a:latin typeface="Arial"/>
                <a:ea typeface="Arial"/>
                <a:cs typeface="Arial"/>
              </a:defRPr>
            </a:pPr>
            <a:r>
              <a:rPr sz="900" b="1">
                <a:solidFill>
                  <a:srgbClr val="1F7A55"/>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30F359D5-04C6-4BB5-B917-DDE2A4BB48C4}"/>
              </a:ext>
            </a:extLst>
          </p:cNvPr>
          <p:cNvSpPr>
            <a:spLocks xmlns:a="http://schemas.openxmlformats.org/drawingml/2006/main" noGrp="1"/>
          </p:cNvSpPr>
          <p:nvPr/>
        </p:nvSpPr>
        <p:spPr>
          <a:xfrm xmlns:a="http://schemas.openxmlformats.org/drawingml/2006/main">
            <a:off x="647700" y="60960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7221B"/>
                </a:solidFill>
                <a:latin typeface="Arial"/>
                <a:ea typeface="Arial"/>
                <a:cs typeface="Arial"/>
              </a:defRPr>
            </a:pPr>
            <a:r>
              <a:rPr sz="2325" b="1">
                <a:solidFill>
                  <a:srgbClr val="17221B"/>
                </a:solidFill>
                <a:latin typeface="Arial"/>
                <a:ea typeface="Arial"/>
                <a:cs typeface="Arial"/>
              </a:rPr>
              <a:t>Augmentation preserves image–mask alignment</a:t>
            </a:r>
          </a:p>
        </p:txBody>
      </p:sp>
      <p:cxnSp>
        <p:nvCxnSpPr>
          <p:cNvPr id="34" name=""/>
          <p:cNvCxnSpPr/>
          <p:nvPr/>
        </p:nvCxnSpPr>
        <p:spPr>
          <a:xfrm xmlns:a="http://schemas.openxmlformats.org/drawingml/2006/main">
            <a:off x="647700" y="1257300"/>
            <a:ext cx="10839450" cy="0"/>
          </a:xfrm>
          <a:prstGeom xmlns:a="http://schemas.openxmlformats.org/drawingml/2006/main" prst="straightConnector1">
            <a:avLst/>
          </a:prstGeom>
          <a:ln xmlns:a="http://schemas.openxmlformats.org/drawingml/2006/main" w="9525">
            <a:solidFill>
              <a:srgbClr val="C6D0C9"/>
            </a:solidFill>
            <a:prstDash val="solid"/>
          </a:ln>
        </p:spPr>
      </p:cxnSp>
      <p:sp>
        <p:nvSpPr>
          <p:cNvPr id="4" name="">
            <a:extLst xmlns:a="http://schemas.openxmlformats.org/drawingml/2006/main">
              <a:ext uri="{FF2B5EF4-FFF2-40B4-BE49-F238E27FC236}">
                <a16:creationId xmlns:a16="http://schemas.microsoft.com/office/drawing/2014/main" id="{02FE111C-E692-4FD1-9F13-B9F583CE04EB}"/>
              </a:ext>
            </a:extLst>
          </p:cNvPr>
          <p:cNvSpPr>
            <a:spLocks xmlns:a="http://schemas.openxmlformats.org/drawingml/2006/main" noGrp="1"/>
          </p:cNvSpPr>
          <p:nvPr/>
        </p:nvSpPr>
        <p:spPr>
          <a:xfrm xmlns:a="http://schemas.openxmlformats.org/drawingml/2006/main">
            <a:off x="11382375" y="64389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a:solidFill>
                  <a:srgbClr val="5D6B63"/>
                </a:solidFill>
                <a:latin typeface="Arial"/>
                <a:ea typeface="Arial"/>
                <a:cs typeface="Arial"/>
              </a:defRPr>
            </a:pPr>
            <a:r>
              <a:rPr sz="900" b="0">
                <a:solidFill>
                  <a:srgbClr val="5D6B63"/>
                </a:solidFill>
                <a:latin typeface="Arial"/>
                <a:ea typeface="Arial"/>
                <a:cs typeface="Arial"/>
              </a:rPr>
              <a:t>16</a:t>
            </a:r>
          </a:p>
        </p:txBody>
      </p:sp>
      <p:sp>
        <p:nvSpPr>
          <p:cNvPr id="5" name="">
            <a:extLst xmlns:a="http://schemas.openxmlformats.org/drawingml/2006/main">
              <a:ext uri="{FF2B5EF4-FFF2-40B4-BE49-F238E27FC236}">
                <a16:creationId xmlns:a16="http://schemas.microsoft.com/office/drawing/2014/main" id="{B8F57EFE-7C43-416B-AA8F-7C8FADCA9947}"/>
              </a:ext>
            </a:extLst>
          </p:cNvPr>
          <p:cNvSpPr>
            <a:spLocks xmlns:a="http://schemas.openxmlformats.org/drawingml/2006/main" noGrp="1"/>
          </p:cNvSpPr>
          <p:nvPr/>
        </p:nvSpPr>
        <p:spPr>
          <a:xfrm xmlns:a="http://schemas.openxmlformats.org/drawingml/2006/main">
            <a:off x="723900" y="1809750"/>
            <a:ext cx="3143250" cy="2190750"/>
          </a:xfrm>
          <a:prstGeom xmlns:a="http://schemas.openxmlformats.org/drawingml/2006/main" prst="roundRect">
            <a:avLst>
              <a:gd name="adj" fmla="val 3478"/>
            </a:avLst>
          </a:prstGeom>
          <a:solidFill xmlns:a="http://schemas.openxmlformats.org/drawingml/2006/main">
            <a:srgbClr val="E8F3EC"/>
          </a:solidFill>
          <a:ln xmlns:a="http://schemas.openxmlformats.org/drawingml/2006/main" w="9525">
            <a:solidFill>
              <a:srgbClr val="E8F3EC"/>
            </a:solidFill>
            <a:prstDash val="solid"/>
          </a:ln>
        </p:spPr>
      </p:sp>
      <p:sp>
        <p:nvSpPr>
          <p:cNvPr id="6" name="">
            <a:extLst xmlns:a="http://schemas.openxmlformats.org/drawingml/2006/main">
              <a:ext uri="{FF2B5EF4-FFF2-40B4-BE49-F238E27FC236}">
                <a16:creationId xmlns:a16="http://schemas.microsoft.com/office/drawing/2014/main" id="{6F52E146-E247-42D5-AEED-84962554E9EE}"/>
              </a:ext>
            </a:extLst>
          </p:cNvPr>
          <p:cNvSpPr>
            <a:spLocks xmlns:a="http://schemas.openxmlformats.org/drawingml/2006/main" noGrp="1"/>
          </p:cNvSpPr>
          <p:nvPr/>
        </p:nvSpPr>
        <p:spPr>
          <a:xfrm xmlns:a="http://schemas.openxmlformats.org/drawingml/2006/main">
            <a:off x="952500" y="2190750"/>
            <a:ext cx="2686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3150" b="1">
                <a:solidFill>
                  <a:srgbClr val="1F7A55"/>
                </a:solidFill>
                <a:latin typeface="Arial"/>
                <a:ea typeface="Arial"/>
                <a:cs typeface="Arial"/>
              </a:defRPr>
            </a:pPr>
            <a:r>
              <a:rPr sz="3150" b="1">
                <a:solidFill>
                  <a:srgbClr val="1F7A55"/>
                </a:solidFill>
                <a:latin typeface="Arial"/>
                <a:ea typeface="Arial"/>
                <a:cs typeface="Arial"/>
              </a:rPr>
              <a:t>50%</a:t>
            </a:r>
          </a:p>
        </p:txBody>
      </p:sp>
      <p:sp>
        <p:nvSpPr>
          <p:cNvPr id="7" name="">
            <a:extLst xmlns:a="http://schemas.openxmlformats.org/drawingml/2006/main">
              <a:ext uri="{FF2B5EF4-FFF2-40B4-BE49-F238E27FC236}">
                <a16:creationId xmlns:a16="http://schemas.microsoft.com/office/drawing/2014/main" id="{1780223F-CD47-468F-8E7A-C43F2986D457}"/>
              </a:ext>
            </a:extLst>
          </p:cNvPr>
          <p:cNvSpPr>
            <a:spLocks xmlns:a="http://schemas.openxmlformats.org/drawingml/2006/main" noGrp="1"/>
          </p:cNvSpPr>
          <p:nvPr/>
        </p:nvSpPr>
        <p:spPr>
          <a:xfrm xmlns:a="http://schemas.openxmlformats.org/drawingml/2006/main">
            <a:off x="952500" y="3000375"/>
            <a:ext cx="26860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17221B"/>
                </a:solidFill>
                <a:latin typeface="Arial"/>
                <a:ea typeface="Arial"/>
                <a:cs typeface="Arial"/>
              </a:defRPr>
            </a:pPr>
            <a:r>
              <a:rPr sz="1575" b="1">
                <a:solidFill>
                  <a:srgbClr val="17221B"/>
                </a:solidFill>
                <a:latin typeface="Arial"/>
                <a:ea typeface="Arial"/>
                <a:cs typeface="Arial"/>
              </a:rPr>
              <a:t>horizontal flip</a:t>
            </a:r>
          </a:p>
        </p:txBody>
      </p:sp>
      <p:sp>
        <p:nvSpPr>
          <p:cNvPr id="8" name="">
            <a:extLst xmlns:a="http://schemas.openxmlformats.org/drawingml/2006/main">
              <a:ext uri="{FF2B5EF4-FFF2-40B4-BE49-F238E27FC236}">
                <a16:creationId xmlns:a16="http://schemas.microsoft.com/office/drawing/2014/main" id="{630D7FF8-A405-4D5A-91C3-89267F890BCE}"/>
              </a:ext>
            </a:extLst>
          </p:cNvPr>
          <p:cNvSpPr>
            <a:spLocks xmlns:a="http://schemas.openxmlformats.org/drawingml/2006/main" noGrp="1"/>
          </p:cNvSpPr>
          <p:nvPr/>
        </p:nvSpPr>
        <p:spPr>
          <a:xfrm xmlns:a="http://schemas.openxmlformats.org/drawingml/2006/main">
            <a:off x="4343400" y="1809750"/>
            <a:ext cx="3143250" cy="2190750"/>
          </a:xfrm>
          <a:prstGeom xmlns:a="http://schemas.openxmlformats.org/drawingml/2006/main" prst="roundRect">
            <a:avLst>
              <a:gd name="adj" fmla="val 3478"/>
            </a:avLst>
          </a:prstGeom>
          <a:solidFill xmlns:a="http://schemas.openxmlformats.org/drawingml/2006/main">
            <a:srgbClr val="E8F3EC"/>
          </a:solidFill>
          <a:ln xmlns:a="http://schemas.openxmlformats.org/drawingml/2006/main" w="9525">
            <a:solidFill>
              <a:srgbClr val="E8F3EC"/>
            </a:solidFill>
            <a:prstDash val="solid"/>
          </a:ln>
        </p:spPr>
      </p:sp>
      <p:sp>
        <p:nvSpPr>
          <p:cNvPr id="9" name="">
            <a:extLst xmlns:a="http://schemas.openxmlformats.org/drawingml/2006/main">
              <a:ext uri="{FF2B5EF4-FFF2-40B4-BE49-F238E27FC236}">
                <a16:creationId xmlns:a16="http://schemas.microsoft.com/office/drawing/2014/main" id="{023FBF63-509F-4243-8B16-F4BAC1577C98}"/>
              </a:ext>
            </a:extLst>
          </p:cNvPr>
          <p:cNvSpPr>
            <a:spLocks xmlns:a="http://schemas.openxmlformats.org/drawingml/2006/main" noGrp="1"/>
          </p:cNvSpPr>
          <p:nvPr/>
        </p:nvSpPr>
        <p:spPr>
          <a:xfrm xmlns:a="http://schemas.openxmlformats.org/drawingml/2006/main">
            <a:off x="4572000" y="2190750"/>
            <a:ext cx="2686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3150" b="1">
                <a:solidFill>
                  <a:srgbClr val="1F7A55"/>
                </a:solidFill>
                <a:latin typeface="Arial"/>
                <a:ea typeface="Arial"/>
                <a:cs typeface="Arial"/>
              </a:defRPr>
            </a:pPr>
            <a:r>
              <a:rPr sz="3150" b="1">
                <a:solidFill>
                  <a:srgbClr val="1F7A55"/>
                </a:solidFill>
                <a:latin typeface="Arial"/>
                <a:ea typeface="Arial"/>
                <a:cs typeface="Arial"/>
              </a:rPr>
              <a:t>50%</a:t>
            </a:r>
          </a:p>
        </p:txBody>
      </p:sp>
      <p:sp>
        <p:nvSpPr>
          <p:cNvPr id="10" name="">
            <a:extLst xmlns:a="http://schemas.openxmlformats.org/drawingml/2006/main">
              <a:ext uri="{FF2B5EF4-FFF2-40B4-BE49-F238E27FC236}">
                <a16:creationId xmlns:a16="http://schemas.microsoft.com/office/drawing/2014/main" id="{B867D232-0502-4BEA-B127-BCA14C505438}"/>
              </a:ext>
            </a:extLst>
          </p:cNvPr>
          <p:cNvSpPr>
            <a:spLocks xmlns:a="http://schemas.openxmlformats.org/drawingml/2006/main" noGrp="1"/>
          </p:cNvSpPr>
          <p:nvPr/>
        </p:nvSpPr>
        <p:spPr>
          <a:xfrm xmlns:a="http://schemas.openxmlformats.org/drawingml/2006/main">
            <a:off x="4572000" y="3000375"/>
            <a:ext cx="26860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17221B"/>
                </a:solidFill>
                <a:latin typeface="Arial"/>
                <a:ea typeface="Arial"/>
                <a:cs typeface="Arial"/>
              </a:defRPr>
            </a:pPr>
            <a:r>
              <a:rPr sz="1575" b="1">
                <a:solidFill>
                  <a:srgbClr val="17221B"/>
                </a:solidFill>
                <a:latin typeface="Arial"/>
                <a:ea typeface="Arial"/>
                <a:cs typeface="Arial"/>
              </a:rPr>
              <a:t>vertical flip</a:t>
            </a:r>
          </a:p>
        </p:txBody>
      </p:sp>
      <p:sp>
        <p:nvSpPr>
          <p:cNvPr id="11" name="">
            <a:extLst xmlns:a="http://schemas.openxmlformats.org/drawingml/2006/main">
              <a:ext uri="{FF2B5EF4-FFF2-40B4-BE49-F238E27FC236}">
                <a16:creationId xmlns:a16="http://schemas.microsoft.com/office/drawing/2014/main" id="{C3846082-EB4F-492F-AEAF-6FA88392A426}"/>
              </a:ext>
            </a:extLst>
          </p:cNvPr>
          <p:cNvSpPr>
            <a:spLocks xmlns:a="http://schemas.openxmlformats.org/drawingml/2006/main" noGrp="1"/>
          </p:cNvSpPr>
          <p:nvPr/>
        </p:nvSpPr>
        <p:spPr>
          <a:xfrm xmlns:a="http://schemas.openxmlformats.org/drawingml/2006/main">
            <a:off x="7962900" y="1809750"/>
            <a:ext cx="3143250" cy="2190750"/>
          </a:xfrm>
          <a:prstGeom xmlns:a="http://schemas.openxmlformats.org/drawingml/2006/main" prst="roundRect">
            <a:avLst>
              <a:gd name="adj" fmla="val 3478"/>
            </a:avLst>
          </a:prstGeom>
          <a:solidFill xmlns:a="http://schemas.openxmlformats.org/drawingml/2006/main">
            <a:srgbClr val="E8EFF3"/>
          </a:solidFill>
          <a:ln xmlns:a="http://schemas.openxmlformats.org/drawingml/2006/main" w="9525">
            <a:solidFill>
              <a:srgbClr val="E8EFF3"/>
            </a:solidFill>
            <a:prstDash val="solid"/>
          </a:ln>
        </p:spPr>
      </p:sp>
      <p:sp>
        <p:nvSpPr>
          <p:cNvPr id="12" name="">
            <a:extLst xmlns:a="http://schemas.openxmlformats.org/drawingml/2006/main">
              <a:ext uri="{FF2B5EF4-FFF2-40B4-BE49-F238E27FC236}">
                <a16:creationId xmlns:a16="http://schemas.microsoft.com/office/drawing/2014/main" id="{926773A4-E820-4283-B8E0-DAC0B4D43AFF}"/>
              </a:ext>
            </a:extLst>
          </p:cNvPr>
          <p:cNvSpPr>
            <a:spLocks xmlns:a="http://schemas.openxmlformats.org/drawingml/2006/main" noGrp="1"/>
          </p:cNvSpPr>
          <p:nvPr/>
        </p:nvSpPr>
        <p:spPr>
          <a:xfrm xmlns:a="http://schemas.openxmlformats.org/drawingml/2006/main">
            <a:off x="8191500" y="2190750"/>
            <a:ext cx="26860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2250" b="1">
                <a:solidFill>
                  <a:srgbClr val="4B739B"/>
                </a:solidFill>
                <a:latin typeface="Arial"/>
                <a:ea typeface="Arial"/>
                <a:cs typeface="Arial"/>
              </a:defRPr>
            </a:pPr>
            <a:r>
              <a:rPr sz="2250" b="1">
                <a:solidFill>
                  <a:srgbClr val="4B739B"/>
                </a:solidFill>
                <a:latin typeface="Arial"/>
                <a:ea typeface="Arial"/>
                <a:cs typeface="Arial"/>
              </a:rPr>
              <a:t>0 / 90 / 180 / 270°</a:t>
            </a:r>
          </a:p>
        </p:txBody>
      </p:sp>
      <p:sp>
        <p:nvSpPr>
          <p:cNvPr id="13" name="">
            <a:extLst xmlns:a="http://schemas.openxmlformats.org/drawingml/2006/main">
              <a:ext uri="{FF2B5EF4-FFF2-40B4-BE49-F238E27FC236}">
                <a16:creationId xmlns:a16="http://schemas.microsoft.com/office/drawing/2014/main" id="{B1F3D174-466C-49BB-99C7-A194B23FF193}"/>
              </a:ext>
            </a:extLst>
          </p:cNvPr>
          <p:cNvSpPr>
            <a:spLocks xmlns:a="http://schemas.openxmlformats.org/drawingml/2006/main" noGrp="1"/>
          </p:cNvSpPr>
          <p:nvPr/>
        </p:nvSpPr>
        <p:spPr>
          <a:xfrm xmlns:a="http://schemas.openxmlformats.org/drawingml/2006/main">
            <a:off x="8191500" y="3000375"/>
            <a:ext cx="26860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575" b="1">
                <a:solidFill>
                  <a:srgbClr val="17221B"/>
                </a:solidFill>
                <a:latin typeface="Arial"/>
                <a:ea typeface="Arial"/>
                <a:cs typeface="Arial"/>
              </a:defRPr>
            </a:pPr>
            <a:r>
              <a:rPr sz="1575" b="1">
                <a:solidFill>
                  <a:srgbClr val="17221B"/>
                </a:solidFill>
                <a:latin typeface="Arial"/>
                <a:ea typeface="Arial"/>
                <a:cs typeface="Arial"/>
              </a:rPr>
              <a:t>rotation</a:t>
            </a:r>
          </a:p>
        </p:txBody>
      </p:sp>
      <p:cxnSp>
        <p:nvCxnSpPr>
          <p:cNvPr id="45" name=""/>
          <p:cNvCxnSpPr/>
          <p:nvPr/>
        </p:nvCxnSpPr>
        <p:spPr>
          <a:xfrm xmlns:a="http://schemas.openxmlformats.org/drawingml/2006/main">
            <a:off x="723900" y="4457700"/>
            <a:ext cx="10382250" cy="0"/>
          </a:xfrm>
          <a:prstGeom xmlns:a="http://schemas.openxmlformats.org/drawingml/2006/main" prst="straightConnector1">
            <a:avLst/>
          </a:prstGeom>
          <a:ln xmlns:a="http://schemas.openxmlformats.org/drawingml/2006/main" w="9525">
            <a:solidFill>
              <a:srgbClr val="C6D0C9"/>
            </a:solidFill>
            <a:prstDash val="solid"/>
          </a:ln>
        </p:spPr>
      </p:cxnSp>
      <p:sp>
        <p:nvSpPr>
          <p:cNvPr id="15" name="">
            <a:extLst xmlns:a="http://schemas.openxmlformats.org/drawingml/2006/main">
              <a:ext uri="{FF2B5EF4-FFF2-40B4-BE49-F238E27FC236}">
                <a16:creationId xmlns:a16="http://schemas.microsoft.com/office/drawing/2014/main" id="{A371AE8E-2E3A-45BD-93D1-F817F13ACD2F}"/>
              </a:ext>
            </a:extLst>
          </p:cNvPr>
          <p:cNvSpPr>
            <a:spLocks xmlns:a="http://schemas.openxmlformats.org/drawingml/2006/main" noGrp="1"/>
          </p:cNvSpPr>
          <p:nvPr/>
        </p:nvSpPr>
        <p:spPr>
          <a:xfrm xmlns:a="http://schemas.openxmlformats.org/drawingml/2006/main">
            <a:off x="723900" y="4762500"/>
            <a:ext cx="1714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5D6B63"/>
                </a:solidFill>
                <a:latin typeface="Arial"/>
                <a:ea typeface="Arial"/>
                <a:cs typeface="Arial"/>
              </a:defRPr>
            </a:pPr>
            <a:r>
              <a:rPr sz="1050" b="1">
                <a:solidFill>
                  <a:srgbClr val="5D6B63"/>
                </a:solidFill>
                <a:latin typeface="Arial"/>
                <a:ea typeface="Arial"/>
                <a:cs typeface="Arial"/>
              </a:rPr>
              <a:t>Synchronization</a:t>
            </a:r>
          </a:p>
        </p:txBody>
      </p:sp>
      <p:sp>
        <p:nvSpPr>
          <p:cNvPr id="16" name="">
            <a:extLst xmlns:a="http://schemas.openxmlformats.org/drawingml/2006/main">
              <a:ext uri="{FF2B5EF4-FFF2-40B4-BE49-F238E27FC236}">
                <a16:creationId xmlns:a16="http://schemas.microsoft.com/office/drawing/2014/main" id="{77283F44-989E-483E-8750-0A92E457E32F}"/>
              </a:ext>
            </a:extLst>
          </p:cNvPr>
          <p:cNvSpPr>
            <a:spLocks xmlns:a="http://schemas.openxmlformats.org/drawingml/2006/main" noGrp="1"/>
          </p:cNvSpPr>
          <p:nvPr/>
        </p:nvSpPr>
        <p:spPr>
          <a:xfrm xmlns:a="http://schemas.openxmlformats.org/drawingml/2006/main">
            <a:off x="2524125" y="4676775"/>
            <a:ext cx="8001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646"/>
          </a:bodyPr>
          <a:lstStyle xmlns:a="http://schemas.openxmlformats.org/drawingml/2006/main"/>
          <a:p xmlns:a="http://schemas.openxmlformats.org/drawingml/2006/main">
            <a:pPr algn="l">
              <a:buNone/>
              <a:defRPr sz="1725" b="1">
                <a:solidFill>
                  <a:srgbClr val="17221B"/>
                </a:solidFill>
                <a:latin typeface="Arial"/>
                <a:ea typeface="Arial"/>
                <a:cs typeface="Arial"/>
              </a:defRPr>
            </a:pPr>
            <a:r>
              <a:rPr sz="1725" b="1">
                <a:solidFill>
                  <a:srgbClr val="17221B"/>
                </a:solidFill>
                <a:latin typeface="Arial"/>
                <a:ea typeface="Arial"/>
                <a:cs typeface="Arial"/>
              </a:rPr>
              <a:t>Every geometric transform is applied identically to the RGB tile and its mask.</a:t>
            </a:r>
          </a:p>
        </p:txBody>
      </p:sp>
      <p:sp>
        <p:nvSpPr>
          <p:cNvPr id="17" name="">
            <a:extLst xmlns:a="http://schemas.openxmlformats.org/drawingml/2006/main">
              <a:ext uri="{FF2B5EF4-FFF2-40B4-BE49-F238E27FC236}">
                <a16:creationId xmlns:a16="http://schemas.microsoft.com/office/drawing/2014/main" id="{2CA12695-33B7-4643-B441-B1295F934249}"/>
              </a:ext>
            </a:extLst>
          </p:cNvPr>
          <p:cNvSpPr>
            <a:spLocks xmlns:a="http://schemas.openxmlformats.org/drawingml/2006/main" noGrp="1"/>
          </p:cNvSpPr>
          <p:nvPr/>
        </p:nvSpPr>
        <p:spPr>
          <a:xfrm xmlns:a="http://schemas.openxmlformats.org/drawingml/2006/main">
            <a:off x="723900" y="5572125"/>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C8605A"/>
                </a:solidFill>
                <a:latin typeface="Arial"/>
                <a:ea typeface="Arial"/>
                <a:cs typeface="Arial"/>
              </a:defRPr>
            </a:pPr>
            <a:r>
              <a:rPr sz="1350" b="1">
                <a:solidFill>
                  <a:srgbClr val="C8605A"/>
                </a:solidFill>
                <a:latin typeface="Arial"/>
                <a:ea typeface="Arial"/>
                <a:cs typeface="Arial"/>
              </a:rPr>
              <a:t>Validation: no augmentation</a:t>
            </a:r>
          </a:p>
        </p:txBody>
      </p:sp>
    </p:spTree>
    <p:extLst>
      <p:ext uri="{BB962C8B-B14F-4D97-AF65-F5344CB8AC3E}">
        <p14:creationId xmlns:p14="http://schemas.microsoft.com/office/powerpoint/2010/main" val="153947599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18CEB3F9-FE78-4EDE-BDFC-6952074E013E}"/>
              </a:ext>
            </a:extLst>
          </p:cNvPr>
          <p:cNvSpPr>
            <a:spLocks xmlns:a="http://schemas.openxmlformats.org/drawingml/2006/main" noGrp="1"/>
          </p:cNvSpPr>
          <p:nvPr/>
        </p:nvSpPr>
        <p:spPr>
          <a:xfrm xmlns:a="http://schemas.openxmlformats.org/drawingml/2006/main">
            <a:off x="647700" y="22860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1F7A55"/>
                </a:solidFill>
                <a:latin typeface="Arial"/>
                <a:ea typeface="Arial"/>
                <a:cs typeface="Arial"/>
              </a:defRPr>
            </a:pPr>
            <a:r>
              <a:rPr sz="900" b="1">
                <a:solidFill>
                  <a:srgbClr val="1F7A55"/>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D945EA33-F542-4F18-9C04-A60E4B2358AB}"/>
              </a:ext>
            </a:extLst>
          </p:cNvPr>
          <p:cNvSpPr>
            <a:spLocks xmlns:a="http://schemas.openxmlformats.org/drawingml/2006/main" noGrp="1"/>
          </p:cNvSpPr>
          <p:nvPr/>
        </p:nvSpPr>
        <p:spPr>
          <a:xfrm xmlns:a="http://schemas.openxmlformats.org/drawingml/2006/main">
            <a:off x="647700" y="60960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7221B"/>
                </a:solidFill>
                <a:latin typeface="Arial"/>
                <a:ea typeface="Arial"/>
                <a:cs typeface="Arial"/>
              </a:defRPr>
            </a:pPr>
            <a:r>
              <a:rPr sz="2325" b="1">
                <a:solidFill>
                  <a:srgbClr val="17221B"/>
                </a:solidFill>
                <a:latin typeface="Arial"/>
                <a:ea typeface="Arial"/>
                <a:cs typeface="Arial"/>
              </a:rPr>
              <a:t>All-tile training also wins on positive tiles</a:t>
            </a:r>
          </a:p>
        </p:txBody>
      </p:sp>
      <p:cxnSp>
        <p:nvCxnSpPr>
          <p:cNvPr id="43" name=""/>
          <p:cNvCxnSpPr/>
          <p:nvPr/>
        </p:nvCxnSpPr>
        <p:spPr>
          <a:xfrm xmlns:a="http://schemas.openxmlformats.org/drawingml/2006/main">
            <a:off x="647700" y="1257300"/>
            <a:ext cx="10839450" cy="0"/>
          </a:xfrm>
          <a:prstGeom xmlns:a="http://schemas.openxmlformats.org/drawingml/2006/main" prst="straightConnector1">
            <a:avLst/>
          </a:prstGeom>
          <a:ln xmlns:a="http://schemas.openxmlformats.org/drawingml/2006/main" w="9525">
            <a:solidFill>
              <a:srgbClr val="C6D0C9"/>
            </a:solidFill>
            <a:prstDash val="solid"/>
          </a:ln>
        </p:spPr>
      </p:cxnSp>
      <p:sp>
        <p:nvSpPr>
          <p:cNvPr id="4" name="">
            <a:extLst xmlns:a="http://schemas.openxmlformats.org/drawingml/2006/main">
              <a:ext uri="{FF2B5EF4-FFF2-40B4-BE49-F238E27FC236}">
                <a16:creationId xmlns:a16="http://schemas.microsoft.com/office/drawing/2014/main" id="{25B1DAC2-A299-4336-8EC7-EF16A89FE0B1}"/>
              </a:ext>
            </a:extLst>
          </p:cNvPr>
          <p:cNvSpPr>
            <a:spLocks xmlns:a="http://schemas.openxmlformats.org/drawingml/2006/main" noGrp="1"/>
          </p:cNvSpPr>
          <p:nvPr/>
        </p:nvSpPr>
        <p:spPr>
          <a:xfrm xmlns:a="http://schemas.openxmlformats.org/drawingml/2006/main">
            <a:off x="11382375" y="64389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a:solidFill>
                  <a:srgbClr val="5D6B63"/>
                </a:solidFill>
                <a:latin typeface="Arial"/>
                <a:ea typeface="Arial"/>
                <a:cs typeface="Arial"/>
              </a:defRPr>
            </a:pPr>
            <a:r>
              <a:rPr sz="900" b="0">
                <a:solidFill>
                  <a:srgbClr val="5D6B63"/>
                </a:solidFill>
                <a:latin typeface="Arial"/>
                <a:ea typeface="Arial"/>
                <a:cs typeface="Arial"/>
              </a:rPr>
              <a:t>17</a:t>
            </a:r>
          </a:p>
        </p:txBody>
      </p:sp>
      <p:sp>
        <p:nvSpPr>
          <p:cNvPr id="5" name="">
            <a:extLst xmlns:a="http://schemas.openxmlformats.org/drawingml/2006/main">
              <a:ext uri="{FF2B5EF4-FFF2-40B4-BE49-F238E27FC236}">
                <a16:creationId xmlns:a16="http://schemas.microsoft.com/office/drawing/2014/main" id="{A1B1E18A-856F-4188-AADA-CF6866733805}"/>
              </a:ext>
            </a:extLst>
          </p:cNvPr>
          <p:cNvSpPr>
            <a:spLocks xmlns:a="http://schemas.openxmlformats.org/drawingml/2006/main" noGrp="1"/>
          </p:cNvSpPr>
          <p:nvPr/>
        </p:nvSpPr>
        <p:spPr>
          <a:xfrm xmlns:a="http://schemas.openxmlformats.org/drawingml/2006/main">
            <a:off x="609600" y="1524000"/>
            <a:ext cx="10487025" cy="552450"/>
          </a:xfrm>
          <a:prstGeom xmlns:a="http://schemas.openxmlformats.org/drawingml/2006/main" prst="rect">
            <a:avLst/>
          </a:prstGeom>
          <a:solidFill xmlns:a="http://schemas.openxmlformats.org/drawingml/2006/main">
            <a:srgbClr val="0E2C22"/>
          </a:solidFill>
          <a:ln xmlns:a="http://schemas.openxmlformats.org/drawingml/2006/main" w="0">
            <a:solidFill>
              <a:srgbClr val="0E2C22"/>
            </a:solidFill>
            <a:prstDash val="solid"/>
          </a:ln>
        </p:spPr>
      </p:sp>
      <p:sp>
        <p:nvSpPr>
          <p:cNvPr id="6" name="">
            <a:extLst xmlns:a="http://schemas.openxmlformats.org/drawingml/2006/main">
              <a:ext uri="{FF2B5EF4-FFF2-40B4-BE49-F238E27FC236}">
                <a16:creationId xmlns:a16="http://schemas.microsoft.com/office/drawing/2014/main" id="{4B877827-1022-4DBC-ABF9-FEE9BE26B9BB}"/>
              </a:ext>
            </a:extLst>
          </p:cNvPr>
          <p:cNvSpPr>
            <a:spLocks xmlns:a="http://schemas.openxmlformats.org/drawingml/2006/main" noGrp="1"/>
          </p:cNvSpPr>
          <p:nvPr/>
        </p:nvSpPr>
        <p:spPr>
          <a:xfrm xmlns:a="http://schemas.openxmlformats.org/drawingml/2006/main">
            <a:off x="723900" y="1695450"/>
            <a:ext cx="3105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050" b="1">
                <a:solidFill>
                  <a:srgbClr val="FFFFFF"/>
                </a:solidFill>
                <a:latin typeface="Arial"/>
                <a:ea typeface="Arial"/>
                <a:cs typeface="Arial"/>
              </a:defRPr>
            </a:pPr>
            <a:r>
              <a:rPr sz="1050" b="1">
                <a:solidFill>
                  <a:srgbClr val="FFFFFF"/>
                </a:solidFill>
                <a:latin typeface="Arial"/>
                <a:ea typeface="Arial"/>
                <a:cs typeface="Arial"/>
              </a:rPr>
              <a:t>Metric</a:t>
            </a:r>
          </a:p>
        </p:txBody>
      </p:sp>
      <p:sp>
        <p:nvSpPr>
          <p:cNvPr id="7" name="">
            <a:extLst xmlns:a="http://schemas.openxmlformats.org/drawingml/2006/main">
              <a:ext uri="{FF2B5EF4-FFF2-40B4-BE49-F238E27FC236}">
                <a16:creationId xmlns:a16="http://schemas.microsoft.com/office/drawing/2014/main" id="{22EC0E1B-7A83-4C8B-9FD9-A736BBEF78AB}"/>
              </a:ext>
            </a:extLst>
          </p:cNvPr>
          <p:cNvSpPr>
            <a:spLocks xmlns:a="http://schemas.openxmlformats.org/drawingml/2006/main" noGrp="1"/>
          </p:cNvSpPr>
          <p:nvPr/>
        </p:nvSpPr>
        <p:spPr>
          <a:xfrm xmlns:a="http://schemas.openxmlformats.org/drawingml/2006/main">
            <a:off x="4162425" y="1695450"/>
            <a:ext cx="2057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050" b="1">
                <a:solidFill>
                  <a:srgbClr val="FFFFFF"/>
                </a:solidFill>
                <a:latin typeface="Arial"/>
                <a:ea typeface="Arial"/>
                <a:cs typeface="Arial"/>
              </a:defRPr>
            </a:pPr>
            <a:r>
              <a:rPr sz="1050" b="1">
                <a:solidFill>
                  <a:srgbClr val="FFFFFF"/>
                </a:solidFill>
                <a:latin typeface="Arial"/>
                <a:ea typeface="Arial"/>
                <a:cs typeface="Arial"/>
              </a:rPr>
              <a:t>All-tile</a:t>
            </a:r>
          </a:p>
        </p:txBody>
      </p:sp>
      <p:sp>
        <p:nvSpPr>
          <p:cNvPr id="8" name="">
            <a:extLst xmlns:a="http://schemas.openxmlformats.org/drawingml/2006/main">
              <a:ext uri="{FF2B5EF4-FFF2-40B4-BE49-F238E27FC236}">
                <a16:creationId xmlns:a16="http://schemas.microsoft.com/office/drawing/2014/main" id="{5E484895-7758-445C-BF16-B2D5C36C20DB}"/>
              </a:ext>
            </a:extLst>
          </p:cNvPr>
          <p:cNvSpPr>
            <a:spLocks xmlns:a="http://schemas.openxmlformats.org/drawingml/2006/main" noGrp="1"/>
          </p:cNvSpPr>
          <p:nvPr/>
        </p:nvSpPr>
        <p:spPr>
          <a:xfrm xmlns:a="http://schemas.openxmlformats.org/drawingml/2006/main">
            <a:off x="6543675" y="1695450"/>
            <a:ext cx="2057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050" b="1">
                <a:solidFill>
                  <a:srgbClr val="FFFFFF"/>
                </a:solidFill>
                <a:latin typeface="Arial"/>
                <a:ea typeface="Arial"/>
                <a:cs typeface="Arial"/>
              </a:defRPr>
            </a:pPr>
            <a:r>
              <a:rPr sz="1050" b="1">
                <a:solidFill>
                  <a:srgbClr val="FFFFFF"/>
                </a:solidFill>
                <a:latin typeface="Arial"/>
                <a:ea typeface="Arial"/>
                <a:cs typeface="Arial"/>
              </a:rPr>
              <a:t>Positive-only</a:t>
            </a:r>
          </a:p>
        </p:txBody>
      </p:sp>
      <p:sp>
        <p:nvSpPr>
          <p:cNvPr id="9" name="">
            <a:extLst xmlns:a="http://schemas.openxmlformats.org/drawingml/2006/main">
              <a:ext uri="{FF2B5EF4-FFF2-40B4-BE49-F238E27FC236}">
                <a16:creationId xmlns:a16="http://schemas.microsoft.com/office/drawing/2014/main" id="{F506E6B5-4908-4E2F-93C7-9ED9A577F553}"/>
              </a:ext>
            </a:extLst>
          </p:cNvPr>
          <p:cNvSpPr>
            <a:spLocks xmlns:a="http://schemas.openxmlformats.org/drawingml/2006/main" noGrp="1"/>
          </p:cNvSpPr>
          <p:nvPr/>
        </p:nvSpPr>
        <p:spPr>
          <a:xfrm xmlns:a="http://schemas.openxmlformats.org/drawingml/2006/main">
            <a:off x="8924925" y="1695450"/>
            <a:ext cx="2057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050" b="1">
                <a:solidFill>
                  <a:srgbClr val="FFFFFF"/>
                </a:solidFill>
                <a:latin typeface="Arial"/>
                <a:ea typeface="Arial"/>
                <a:cs typeface="Arial"/>
              </a:defRPr>
            </a:pPr>
            <a:r>
              <a:rPr sz="1050" b="1">
                <a:solidFill>
                  <a:srgbClr val="FFFFFF"/>
                </a:solidFill>
                <a:latin typeface="Arial"/>
                <a:ea typeface="Arial"/>
                <a:cs typeface="Arial"/>
              </a:rPr>
              <a:t>Difference</a:t>
            </a:r>
          </a:p>
        </p:txBody>
      </p:sp>
      <p:sp>
        <p:nvSpPr>
          <p:cNvPr id="10" name="">
            <a:extLst xmlns:a="http://schemas.openxmlformats.org/drawingml/2006/main">
              <a:ext uri="{FF2B5EF4-FFF2-40B4-BE49-F238E27FC236}">
                <a16:creationId xmlns:a16="http://schemas.microsoft.com/office/drawing/2014/main" id="{6790B061-32C6-4F4D-B28F-82575A0DEE47}"/>
              </a:ext>
            </a:extLst>
          </p:cNvPr>
          <p:cNvSpPr>
            <a:spLocks xmlns:a="http://schemas.openxmlformats.org/drawingml/2006/main" noGrp="1"/>
          </p:cNvSpPr>
          <p:nvPr/>
        </p:nvSpPr>
        <p:spPr>
          <a:xfrm xmlns:a="http://schemas.openxmlformats.org/drawingml/2006/main">
            <a:off x="609600" y="2190750"/>
            <a:ext cx="10487025" cy="552450"/>
          </a:xfrm>
          <a:prstGeom xmlns:a="http://schemas.openxmlformats.org/drawingml/2006/main" prst="rect">
            <a:avLst/>
          </a:prstGeom>
          <a:solidFill xmlns:a="http://schemas.openxmlformats.org/drawingml/2006/main">
            <a:srgbClr val="F4F7F4"/>
          </a:solidFill>
          <a:ln xmlns:a="http://schemas.openxmlformats.org/drawingml/2006/main" w="0">
            <a:solidFill>
              <a:srgbClr val="F4F7F4"/>
            </a:solidFill>
            <a:prstDash val="solid"/>
          </a:ln>
        </p:spPr>
      </p:sp>
      <p:sp>
        <p:nvSpPr>
          <p:cNvPr id="11" name="">
            <a:extLst xmlns:a="http://schemas.openxmlformats.org/drawingml/2006/main">
              <a:ext uri="{FF2B5EF4-FFF2-40B4-BE49-F238E27FC236}">
                <a16:creationId xmlns:a16="http://schemas.microsoft.com/office/drawing/2014/main" id="{B0629434-D6E9-4D24-8130-8A281BDD6A12}"/>
              </a:ext>
            </a:extLst>
          </p:cNvPr>
          <p:cNvSpPr>
            <a:spLocks xmlns:a="http://schemas.openxmlformats.org/drawingml/2006/main" noGrp="1"/>
          </p:cNvSpPr>
          <p:nvPr/>
        </p:nvSpPr>
        <p:spPr>
          <a:xfrm xmlns:a="http://schemas.openxmlformats.org/drawingml/2006/main">
            <a:off x="723900" y="2362200"/>
            <a:ext cx="3105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0">
                <a:solidFill>
                  <a:srgbClr val="17221B"/>
                </a:solidFill>
                <a:latin typeface="Arial"/>
                <a:ea typeface="Arial"/>
                <a:cs typeface="Arial"/>
              </a:defRPr>
            </a:pPr>
            <a:r>
              <a:rPr sz="1275" b="0">
                <a:solidFill>
                  <a:srgbClr val="17221B"/>
                </a:solidFill>
                <a:latin typeface="Arial"/>
                <a:ea typeface="Arial"/>
                <a:cs typeface="Arial"/>
              </a:rPr>
              <a:t>Positive-tile Dice</a:t>
            </a:r>
          </a:p>
        </p:txBody>
      </p:sp>
      <p:sp>
        <p:nvSpPr>
          <p:cNvPr id="12" name="">
            <a:extLst xmlns:a="http://schemas.openxmlformats.org/drawingml/2006/main">
              <a:ext uri="{FF2B5EF4-FFF2-40B4-BE49-F238E27FC236}">
                <a16:creationId xmlns:a16="http://schemas.microsoft.com/office/drawing/2014/main" id="{8F3A1422-8CC8-4C69-AC9D-2B959FCA6D7A}"/>
              </a:ext>
            </a:extLst>
          </p:cNvPr>
          <p:cNvSpPr>
            <a:spLocks xmlns:a="http://schemas.openxmlformats.org/drawingml/2006/main" noGrp="1"/>
          </p:cNvSpPr>
          <p:nvPr/>
        </p:nvSpPr>
        <p:spPr>
          <a:xfrm xmlns:a="http://schemas.openxmlformats.org/drawingml/2006/main">
            <a:off x="4162425" y="2362200"/>
            <a:ext cx="2057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1">
                <a:solidFill>
                  <a:srgbClr val="1F7A55"/>
                </a:solidFill>
                <a:latin typeface="Arial"/>
                <a:ea typeface="Arial"/>
                <a:cs typeface="Arial"/>
              </a:defRPr>
            </a:pPr>
            <a:r>
              <a:rPr sz="1275" b="1">
                <a:solidFill>
                  <a:srgbClr val="1F7A55"/>
                </a:solidFill>
                <a:latin typeface="Arial"/>
                <a:ea typeface="Arial"/>
                <a:cs typeface="Arial"/>
              </a:rPr>
              <a:t>56.53%</a:t>
            </a:r>
          </a:p>
        </p:txBody>
      </p:sp>
      <p:sp>
        <p:nvSpPr>
          <p:cNvPr id="13" name="">
            <a:extLst xmlns:a="http://schemas.openxmlformats.org/drawingml/2006/main">
              <a:ext uri="{FF2B5EF4-FFF2-40B4-BE49-F238E27FC236}">
                <a16:creationId xmlns:a16="http://schemas.microsoft.com/office/drawing/2014/main" id="{1F0009BB-A9F0-468F-AB78-9AA495DE1B58}"/>
              </a:ext>
            </a:extLst>
          </p:cNvPr>
          <p:cNvSpPr>
            <a:spLocks xmlns:a="http://schemas.openxmlformats.org/drawingml/2006/main" noGrp="1"/>
          </p:cNvSpPr>
          <p:nvPr/>
        </p:nvSpPr>
        <p:spPr>
          <a:xfrm xmlns:a="http://schemas.openxmlformats.org/drawingml/2006/main">
            <a:off x="6543675" y="2362200"/>
            <a:ext cx="2057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1">
                <a:solidFill>
                  <a:srgbClr val="C8605A"/>
                </a:solidFill>
                <a:latin typeface="Arial"/>
                <a:ea typeface="Arial"/>
                <a:cs typeface="Arial"/>
              </a:defRPr>
            </a:pPr>
            <a:r>
              <a:rPr sz="1275" b="1">
                <a:solidFill>
                  <a:srgbClr val="C8605A"/>
                </a:solidFill>
                <a:latin typeface="Arial"/>
                <a:ea typeface="Arial"/>
                <a:cs typeface="Arial"/>
              </a:rPr>
              <a:t>50.01%</a:t>
            </a:r>
          </a:p>
        </p:txBody>
      </p:sp>
      <p:sp>
        <p:nvSpPr>
          <p:cNvPr id="14" name="">
            <a:extLst xmlns:a="http://schemas.openxmlformats.org/drawingml/2006/main">
              <a:ext uri="{FF2B5EF4-FFF2-40B4-BE49-F238E27FC236}">
                <a16:creationId xmlns:a16="http://schemas.microsoft.com/office/drawing/2014/main" id="{969B8AAB-2C90-43C7-B526-0B3196872045}"/>
              </a:ext>
            </a:extLst>
          </p:cNvPr>
          <p:cNvSpPr>
            <a:spLocks xmlns:a="http://schemas.openxmlformats.org/drawingml/2006/main" noGrp="1"/>
          </p:cNvSpPr>
          <p:nvPr/>
        </p:nvSpPr>
        <p:spPr>
          <a:xfrm xmlns:a="http://schemas.openxmlformats.org/drawingml/2006/main">
            <a:off x="8924925" y="2362200"/>
            <a:ext cx="2057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1">
                <a:solidFill>
                  <a:srgbClr val="17221B"/>
                </a:solidFill>
                <a:latin typeface="Arial"/>
                <a:ea typeface="Arial"/>
                <a:cs typeface="Arial"/>
              </a:defRPr>
            </a:pPr>
            <a:r>
              <a:rPr sz="1275" b="1">
                <a:solidFill>
                  <a:srgbClr val="17221B"/>
                </a:solidFill>
                <a:latin typeface="Arial"/>
                <a:ea typeface="Arial"/>
                <a:cs typeface="Arial"/>
              </a:rPr>
              <a:t>+6.51 pp</a:t>
            </a:r>
          </a:p>
        </p:txBody>
      </p:sp>
      <p:sp>
        <p:nvSpPr>
          <p:cNvPr id="15" name="">
            <a:extLst xmlns:a="http://schemas.openxmlformats.org/drawingml/2006/main">
              <a:ext uri="{FF2B5EF4-FFF2-40B4-BE49-F238E27FC236}">
                <a16:creationId xmlns:a16="http://schemas.microsoft.com/office/drawing/2014/main" id="{2FDA9E8A-F1B0-4DFB-9AC7-85407E8B76D6}"/>
              </a:ext>
            </a:extLst>
          </p:cNvPr>
          <p:cNvSpPr>
            <a:spLocks xmlns:a="http://schemas.openxmlformats.org/drawingml/2006/main" noGrp="1"/>
          </p:cNvSpPr>
          <p:nvPr/>
        </p:nvSpPr>
        <p:spPr>
          <a:xfrm xmlns:a="http://schemas.openxmlformats.org/drawingml/2006/main">
            <a:off x="609600" y="2857500"/>
            <a:ext cx="10487025"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16" name="">
            <a:extLst xmlns:a="http://schemas.openxmlformats.org/drawingml/2006/main">
              <a:ext uri="{FF2B5EF4-FFF2-40B4-BE49-F238E27FC236}">
                <a16:creationId xmlns:a16="http://schemas.microsoft.com/office/drawing/2014/main" id="{EA4D81D7-A352-4F1B-908E-116A6B13E03C}"/>
              </a:ext>
            </a:extLst>
          </p:cNvPr>
          <p:cNvSpPr>
            <a:spLocks xmlns:a="http://schemas.openxmlformats.org/drawingml/2006/main" noGrp="1"/>
          </p:cNvSpPr>
          <p:nvPr/>
        </p:nvSpPr>
        <p:spPr>
          <a:xfrm xmlns:a="http://schemas.openxmlformats.org/drawingml/2006/main">
            <a:off x="723900" y="3028950"/>
            <a:ext cx="3105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0">
                <a:solidFill>
                  <a:srgbClr val="17221B"/>
                </a:solidFill>
                <a:latin typeface="Arial"/>
                <a:ea typeface="Arial"/>
                <a:cs typeface="Arial"/>
              </a:defRPr>
            </a:pPr>
            <a:r>
              <a:rPr sz="1275" b="0">
                <a:solidFill>
                  <a:srgbClr val="17221B"/>
                </a:solidFill>
                <a:latin typeface="Arial"/>
                <a:ea typeface="Arial"/>
                <a:cs typeface="Arial"/>
              </a:rPr>
              <a:t>Positive-tile IoU</a:t>
            </a:r>
          </a:p>
        </p:txBody>
      </p:sp>
      <p:sp>
        <p:nvSpPr>
          <p:cNvPr id="17" name="">
            <a:extLst xmlns:a="http://schemas.openxmlformats.org/drawingml/2006/main">
              <a:ext uri="{FF2B5EF4-FFF2-40B4-BE49-F238E27FC236}">
                <a16:creationId xmlns:a16="http://schemas.microsoft.com/office/drawing/2014/main" id="{64480532-9631-4A98-9EB0-AECC34753AF4}"/>
              </a:ext>
            </a:extLst>
          </p:cNvPr>
          <p:cNvSpPr>
            <a:spLocks xmlns:a="http://schemas.openxmlformats.org/drawingml/2006/main" noGrp="1"/>
          </p:cNvSpPr>
          <p:nvPr/>
        </p:nvSpPr>
        <p:spPr>
          <a:xfrm xmlns:a="http://schemas.openxmlformats.org/drawingml/2006/main">
            <a:off x="4162425" y="3028950"/>
            <a:ext cx="2057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1">
                <a:solidFill>
                  <a:srgbClr val="1F7A55"/>
                </a:solidFill>
                <a:latin typeface="Arial"/>
                <a:ea typeface="Arial"/>
                <a:cs typeface="Arial"/>
              </a:defRPr>
            </a:pPr>
            <a:r>
              <a:rPr sz="1275" b="1">
                <a:solidFill>
                  <a:srgbClr val="1F7A55"/>
                </a:solidFill>
                <a:latin typeface="Arial"/>
                <a:ea typeface="Arial"/>
                <a:cs typeface="Arial"/>
              </a:rPr>
              <a:t>39.40%</a:t>
            </a:r>
          </a:p>
        </p:txBody>
      </p:sp>
      <p:sp>
        <p:nvSpPr>
          <p:cNvPr id="18" name="">
            <a:extLst xmlns:a="http://schemas.openxmlformats.org/drawingml/2006/main">
              <a:ext uri="{FF2B5EF4-FFF2-40B4-BE49-F238E27FC236}">
                <a16:creationId xmlns:a16="http://schemas.microsoft.com/office/drawing/2014/main" id="{73FCF678-93BE-4E02-BADB-54C7E543F74B}"/>
              </a:ext>
            </a:extLst>
          </p:cNvPr>
          <p:cNvSpPr>
            <a:spLocks xmlns:a="http://schemas.openxmlformats.org/drawingml/2006/main" noGrp="1"/>
          </p:cNvSpPr>
          <p:nvPr/>
        </p:nvSpPr>
        <p:spPr>
          <a:xfrm xmlns:a="http://schemas.openxmlformats.org/drawingml/2006/main">
            <a:off x="6543675" y="3028950"/>
            <a:ext cx="2057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1">
                <a:solidFill>
                  <a:srgbClr val="C8605A"/>
                </a:solidFill>
                <a:latin typeface="Arial"/>
                <a:ea typeface="Arial"/>
                <a:cs typeface="Arial"/>
              </a:defRPr>
            </a:pPr>
            <a:r>
              <a:rPr sz="1275" b="1">
                <a:solidFill>
                  <a:srgbClr val="C8605A"/>
                </a:solidFill>
                <a:latin typeface="Arial"/>
                <a:ea typeface="Arial"/>
                <a:cs typeface="Arial"/>
              </a:rPr>
              <a:t>33.35%</a:t>
            </a:r>
          </a:p>
        </p:txBody>
      </p:sp>
      <p:sp>
        <p:nvSpPr>
          <p:cNvPr id="19" name="">
            <a:extLst xmlns:a="http://schemas.openxmlformats.org/drawingml/2006/main">
              <a:ext uri="{FF2B5EF4-FFF2-40B4-BE49-F238E27FC236}">
                <a16:creationId xmlns:a16="http://schemas.microsoft.com/office/drawing/2014/main" id="{8925C7CE-10EE-4EF5-A229-23CA70335F4B}"/>
              </a:ext>
            </a:extLst>
          </p:cNvPr>
          <p:cNvSpPr>
            <a:spLocks xmlns:a="http://schemas.openxmlformats.org/drawingml/2006/main" noGrp="1"/>
          </p:cNvSpPr>
          <p:nvPr/>
        </p:nvSpPr>
        <p:spPr>
          <a:xfrm xmlns:a="http://schemas.openxmlformats.org/drawingml/2006/main">
            <a:off x="8924925" y="3028950"/>
            <a:ext cx="2057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1">
                <a:solidFill>
                  <a:srgbClr val="17221B"/>
                </a:solidFill>
                <a:latin typeface="Arial"/>
                <a:ea typeface="Arial"/>
                <a:cs typeface="Arial"/>
              </a:defRPr>
            </a:pPr>
            <a:r>
              <a:rPr sz="1275" b="1">
                <a:solidFill>
                  <a:srgbClr val="17221B"/>
                </a:solidFill>
                <a:latin typeface="Arial"/>
                <a:ea typeface="Arial"/>
                <a:cs typeface="Arial"/>
              </a:rPr>
              <a:t>+6.05 pp</a:t>
            </a:r>
          </a:p>
        </p:txBody>
      </p:sp>
      <p:sp>
        <p:nvSpPr>
          <p:cNvPr id="20" name="">
            <a:extLst xmlns:a="http://schemas.openxmlformats.org/drawingml/2006/main">
              <a:ext uri="{FF2B5EF4-FFF2-40B4-BE49-F238E27FC236}">
                <a16:creationId xmlns:a16="http://schemas.microsoft.com/office/drawing/2014/main" id="{C90E34F4-7E1B-4AF1-A007-26D4294ADCAD}"/>
              </a:ext>
            </a:extLst>
          </p:cNvPr>
          <p:cNvSpPr>
            <a:spLocks xmlns:a="http://schemas.openxmlformats.org/drawingml/2006/main" noGrp="1"/>
          </p:cNvSpPr>
          <p:nvPr/>
        </p:nvSpPr>
        <p:spPr>
          <a:xfrm xmlns:a="http://schemas.openxmlformats.org/drawingml/2006/main">
            <a:off x="609600" y="3524250"/>
            <a:ext cx="10487025" cy="552450"/>
          </a:xfrm>
          <a:prstGeom xmlns:a="http://schemas.openxmlformats.org/drawingml/2006/main" prst="rect">
            <a:avLst/>
          </a:prstGeom>
          <a:solidFill xmlns:a="http://schemas.openxmlformats.org/drawingml/2006/main">
            <a:srgbClr val="F4F7F4"/>
          </a:solidFill>
          <a:ln xmlns:a="http://schemas.openxmlformats.org/drawingml/2006/main" w="0">
            <a:solidFill>
              <a:srgbClr val="F4F7F4"/>
            </a:solidFill>
            <a:prstDash val="solid"/>
          </a:ln>
        </p:spPr>
      </p:sp>
      <p:sp>
        <p:nvSpPr>
          <p:cNvPr id="21" name="">
            <a:extLst xmlns:a="http://schemas.openxmlformats.org/drawingml/2006/main">
              <a:ext uri="{FF2B5EF4-FFF2-40B4-BE49-F238E27FC236}">
                <a16:creationId xmlns:a16="http://schemas.microsoft.com/office/drawing/2014/main" id="{D013EE54-BCA0-422E-A856-0558C7FAAF80}"/>
              </a:ext>
            </a:extLst>
          </p:cNvPr>
          <p:cNvSpPr>
            <a:spLocks xmlns:a="http://schemas.openxmlformats.org/drawingml/2006/main" noGrp="1"/>
          </p:cNvSpPr>
          <p:nvPr/>
        </p:nvSpPr>
        <p:spPr>
          <a:xfrm xmlns:a="http://schemas.openxmlformats.org/drawingml/2006/main">
            <a:off x="723900" y="3695700"/>
            <a:ext cx="3105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0">
                <a:solidFill>
                  <a:srgbClr val="17221B"/>
                </a:solidFill>
                <a:latin typeface="Arial"/>
                <a:ea typeface="Arial"/>
                <a:cs typeface="Arial"/>
              </a:defRPr>
            </a:pPr>
            <a:r>
              <a:rPr sz="1275" b="0">
                <a:solidFill>
                  <a:srgbClr val="17221B"/>
                </a:solidFill>
                <a:latin typeface="Arial"/>
                <a:ea typeface="Arial"/>
                <a:cs typeface="Arial"/>
              </a:rPr>
              <a:t>Positive-tile precision</a:t>
            </a:r>
          </a:p>
        </p:txBody>
      </p:sp>
      <p:sp>
        <p:nvSpPr>
          <p:cNvPr id="22" name="">
            <a:extLst xmlns:a="http://schemas.openxmlformats.org/drawingml/2006/main">
              <a:ext uri="{FF2B5EF4-FFF2-40B4-BE49-F238E27FC236}">
                <a16:creationId xmlns:a16="http://schemas.microsoft.com/office/drawing/2014/main" id="{797DFD8F-4992-4EEB-80CF-E854DFDBE99F}"/>
              </a:ext>
            </a:extLst>
          </p:cNvPr>
          <p:cNvSpPr>
            <a:spLocks xmlns:a="http://schemas.openxmlformats.org/drawingml/2006/main" noGrp="1"/>
          </p:cNvSpPr>
          <p:nvPr/>
        </p:nvSpPr>
        <p:spPr>
          <a:xfrm xmlns:a="http://schemas.openxmlformats.org/drawingml/2006/main">
            <a:off x="4162425" y="3695700"/>
            <a:ext cx="2057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1">
                <a:solidFill>
                  <a:srgbClr val="1F7A55"/>
                </a:solidFill>
                <a:latin typeface="Arial"/>
                <a:ea typeface="Arial"/>
                <a:cs typeface="Arial"/>
              </a:defRPr>
            </a:pPr>
            <a:r>
              <a:rPr sz="1275" b="1">
                <a:solidFill>
                  <a:srgbClr val="1F7A55"/>
                </a:solidFill>
                <a:latin typeface="Arial"/>
                <a:ea typeface="Arial"/>
                <a:cs typeface="Arial"/>
              </a:rPr>
              <a:t>74.68%</a:t>
            </a:r>
          </a:p>
        </p:txBody>
      </p:sp>
      <p:sp>
        <p:nvSpPr>
          <p:cNvPr id="23" name="">
            <a:extLst xmlns:a="http://schemas.openxmlformats.org/drawingml/2006/main">
              <a:ext uri="{FF2B5EF4-FFF2-40B4-BE49-F238E27FC236}">
                <a16:creationId xmlns:a16="http://schemas.microsoft.com/office/drawing/2014/main" id="{674E4F8B-8838-4897-82DF-7CCF3307BD44}"/>
              </a:ext>
            </a:extLst>
          </p:cNvPr>
          <p:cNvSpPr>
            <a:spLocks xmlns:a="http://schemas.openxmlformats.org/drawingml/2006/main" noGrp="1"/>
          </p:cNvSpPr>
          <p:nvPr/>
        </p:nvSpPr>
        <p:spPr>
          <a:xfrm xmlns:a="http://schemas.openxmlformats.org/drawingml/2006/main">
            <a:off x="6543675" y="3695700"/>
            <a:ext cx="2057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1">
                <a:solidFill>
                  <a:srgbClr val="C8605A"/>
                </a:solidFill>
                <a:latin typeface="Arial"/>
                <a:ea typeface="Arial"/>
                <a:cs typeface="Arial"/>
              </a:defRPr>
            </a:pPr>
            <a:r>
              <a:rPr sz="1275" b="1">
                <a:solidFill>
                  <a:srgbClr val="C8605A"/>
                </a:solidFill>
                <a:latin typeface="Arial"/>
                <a:ea typeface="Arial"/>
                <a:cs typeface="Arial"/>
              </a:rPr>
              <a:t>71.74%</a:t>
            </a:r>
          </a:p>
        </p:txBody>
      </p:sp>
      <p:sp>
        <p:nvSpPr>
          <p:cNvPr id="24" name="">
            <a:extLst xmlns:a="http://schemas.openxmlformats.org/drawingml/2006/main">
              <a:ext uri="{FF2B5EF4-FFF2-40B4-BE49-F238E27FC236}">
                <a16:creationId xmlns:a16="http://schemas.microsoft.com/office/drawing/2014/main" id="{240464E4-9E00-4D34-B1C8-9A10123D0CD5}"/>
              </a:ext>
            </a:extLst>
          </p:cNvPr>
          <p:cNvSpPr>
            <a:spLocks xmlns:a="http://schemas.openxmlformats.org/drawingml/2006/main" noGrp="1"/>
          </p:cNvSpPr>
          <p:nvPr/>
        </p:nvSpPr>
        <p:spPr>
          <a:xfrm xmlns:a="http://schemas.openxmlformats.org/drawingml/2006/main">
            <a:off x="8924925" y="3695700"/>
            <a:ext cx="2057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1">
                <a:solidFill>
                  <a:srgbClr val="17221B"/>
                </a:solidFill>
                <a:latin typeface="Arial"/>
                <a:ea typeface="Arial"/>
                <a:cs typeface="Arial"/>
              </a:defRPr>
            </a:pPr>
            <a:r>
              <a:rPr sz="1275" b="1">
                <a:solidFill>
                  <a:srgbClr val="17221B"/>
                </a:solidFill>
                <a:latin typeface="Arial"/>
                <a:ea typeface="Arial"/>
                <a:cs typeface="Arial"/>
              </a:rPr>
              <a:t>+2.94 pp</a:t>
            </a:r>
          </a:p>
        </p:txBody>
      </p:sp>
      <p:sp>
        <p:nvSpPr>
          <p:cNvPr id="25" name="">
            <a:extLst xmlns:a="http://schemas.openxmlformats.org/drawingml/2006/main">
              <a:ext uri="{FF2B5EF4-FFF2-40B4-BE49-F238E27FC236}">
                <a16:creationId xmlns:a16="http://schemas.microsoft.com/office/drawing/2014/main" id="{92203D41-0368-4264-86F3-92414D6AC132}"/>
              </a:ext>
            </a:extLst>
          </p:cNvPr>
          <p:cNvSpPr>
            <a:spLocks xmlns:a="http://schemas.openxmlformats.org/drawingml/2006/main" noGrp="1"/>
          </p:cNvSpPr>
          <p:nvPr/>
        </p:nvSpPr>
        <p:spPr>
          <a:xfrm xmlns:a="http://schemas.openxmlformats.org/drawingml/2006/main">
            <a:off x="609600" y="4191000"/>
            <a:ext cx="10487025" cy="552450"/>
          </a:xfrm>
          <a:prstGeom xmlns:a="http://schemas.openxmlformats.org/drawingml/2006/main" prst="rect">
            <a:avLst/>
          </a:prstGeom>
          <a:solidFill xmlns:a="http://schemas.openxmlformats.org/drawingml/2006/main">
            <a:srgbClr val="FFFFFF"/>
          </a:solidFill>
          <a:ln xmlns:a="http://schemas.openxmlformats.org/drawingml/2006/main" w="0">
            <a:solidFill>
              <a:srgbClr val="FFFFFF"/>
            </a:solidFill>
            <a:prstDash val="solid"/>
          </a:ln>
        </p:spPr>
      </p:sp>
      <p:sp>
        <p:nvSpPr>
          <p:cNvPr id="26" name="">
            <a:extLst xmlns:a="http://schemas.openxmlformats.org/drawingml/2006/main">
              <a:ext uri="{FF2B5EF4-FFF2-40B4-BE49-F238E27FC236}">
                <a16:creationId xmlns:a16="http://schemas.microsoft.com/office/drawing/2014/main" id="{1CA5E56B-9F92-4451-B37D-D6FFEC633350}"/>
              </a:ext>
            </a:extLst>
          </p:cNvPr>
          <p:cNvSpPr>
            <a:spLocks xmlns:a="http://schemas.openxmlformats.org/drawingml/2006/main" noGrp="1"/>
          </p:cNvSpPr>
          <p:nvPr/>
        </p:nvSpPr>
        <p:spPr>
          <a:xfrm xmlns:a="http://schemas.openxmlformats.org/drawingml/2006/main">
            <a:off x="723900" y="4362450"/>
            <a:ext cx="3105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0">
                <a:solidFill>
                  <a:srgbClr val="17221B"/>
                </a:solidFill>
                <a:latin typeface="Arial"/>
                <a:ea typeface="Arial"/>
                <a:cs typeface="Arial"/>
              </a:defRPr>
            </a:pPr>
            <a:r>
              <a:rPr sz="1275" b="0">
                <a:solidFill>
                  <a:srgbClr val="17221B"/>
                </a:solidFill>
                <a:latin typeface="Arial"/>
                <a:ea typeface="Arial"/>
                <a:cs typeface="Arial"/>
              </a:rPr>
              <a:t>Positive-tile recall</a:t>
            </a:r>
          </a:p>
        </p:txBody>
      </p:sp>
      <p:sp>
        <p:nvSpPr>
          <p:cNvPr id="27" name="">
            <a:extLst xmlns:a="http://schemas.openxmlformats.org/drawingml/2006/main">
              <a:ext uri="{FF2B5EF4-FFF2-40B4-BE49-F238E27FC236}">
                <a16:creationId xmlns:a16="http://schemas.microsoft.com/office/drawing/2014/main" id="{44E0C041-799C-4B17-ABAD-0415BF6EF011}"/>
              </a:ext>
            </a:extLst>
          </p:cNvPr>
          <p:cNvSpPr>
            <a:spLocks xmlns:a="http://schemas.openxmlformats.org/drawingml/2006/main" noGrp="1"/>
          </p:cNvSpPr>
          <p:nvPr/>
        </p:nvSpPr>
        <p:spPr>
          <a:xfrm xmlns:a="http://schemas.openxmlformats.org/drawingml/2006/main">
            <a:off x="4162425" y="4362450"/>
            <a:ext cx="2057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1">
                <a:solidFill>
                  <a:srgbClr val="1F7A55"/>
                </a:solidFill>
                <a:latin typeface="Arial"/>
                <a:ea typeface="Arial"/>
                <a:cs typeface="Arial"/>
              </a:defRPr>
            </a:pPr>
            <a:r>
              <a:rPr sz="1275" b="1">
                <a:solidFill>
                  <a:srgbClr val="1F7A55"/>
                </a:solidFill>
                <a:latin typeface="Arial"/>
                <a:ea typeface="Arial"/>
                <a:cs typeface="Arial"/>
              </a:rPr>
              <a:t>45.47%</a:t>
            </a:r>
          </a:p>
        </p:txBody>
      </p:sp>
      <p:sp>
        <p:nvSpPr>
          <p:cNvPr id="28" name="">
            <a:extLst xmlns:a="http://schemas.openxmlformats.org/drawingml/2006/main">
              <a:ext uri="{FF2B5EF4-FFF2-40B4-BE49-F238E27FC236}">
                <a16:creationId xmlns:a16="http://schemas.microsoft.com/office/drawing/2014/main" id="{575FF76B-07FC-4322-AAD5-D80603B76E1D}"/>
              </a:ext>
            </a:extLst>
          </p:cNvPr>
          <p:cNvSpPr>
            <a:spLocks xmlns:a="http://schemas.openxmlformats.org/drawingml/2006/main" noGrp="1"/>
          </p:cNvSpPr>
          <p:nvPr/>
        </p:nvSpPr>
        <p:spPr>
          <a:xfrm xmlns:a="http://schemas.openxmlformats.org/drawingml/2006/main">
            <a:off x="6543675" y="4362450"/>
            <a:ext cx="2057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1">
                <a:solidFill>
                  <a:srgbClr val="C8605A"/>
                </a:solidFill>
                <a:latin typeface="Arial"/>
                <a:ea typeface="Arial"/>
                <a:cs typeface="Arial"/>
              </a:defRPr>
            </a:pPr>
            <a:r>
              <a:rPr sz="1275" b="1">
                <a:solidFill>
                  <a:srgbClr val="C8605A"/>
                </a:solidFill>
                <a:latin typeface="Arial"/>
                <a:ea typeface="Arial"/>
                <a:cs typeface="Arial"/>
              </a:rPr>
              <a:t>38.39%</a:t>
            </a:r>
          </a:p>
        </p:txBody>
      </p:sp>
      <p:sp>
        <p:nvSpPr>
          <p:cNvPr id="29" name="">
            <a:extLst xmlns:a="http://schemas.openxmlformats.org/drawingml/2006/main">
              <a:ext uri="{FF2B5EF4-FFF2-40B4-BE49-F238E27FC236}">
                <a16:creationId xmlns:a16="http://schemas.microsoft.com/office/drawing/2014/main" id="{358C0D35-60AE-427C-A7F0-7502359BF853}"/>
              </a:ext>
            </a:extLst>
          </p:cNvPr>
          <p:cNvSpPr>
            <a:spLocks xmlns:a="http://schemas.openxmlformats.org/drawingml/2006/main" noGrp="1"/>
          </p:cNvSpPr>
          <p:nvPr/>
        </p:nvSpPr>
        <p:spPr>
          <a:xfrm xmlns:a="http://schemas.openxmlformats.org/drawingml/2006/main">
            <a:off x="8924925" y="4362450"/>
            <a:ext cx="2057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1">
                <a:solidFill>
                  <a:srgbClr val="17221B"/>
                </a:solidFill>
                <a:latin typeface="Arial"/>
                <a:ea typeface="Arial"/>
                <a:cs typeface="Arial"/>
              </a:defRPr>
            </a:pPr>
            <a:r>
              <a:rPr sz="1275" b="1">
                <a:solidFill>
                  <a:srgbClr val="17221B"/>
                </a:solidFill>
                <a:latin typeface="Arial"/>
                <a:ea typeface="Arial"/>
                <a:cs typeface="Arial"/>
              </a:rPr>
              <a:t>+7.09 pp</a:t>
            </a:r>
          </a:p>
        </p:txBody>
      </p:sp>
      <p:sp>
        <p:nvSpPr>
          <p:cNvPr id="30" name="">
            <a:extLst xmlns:a="http://schemas.openxmlformats.org/drawingml/2006/main">
              <a:ext uri="{FF2B5EF4-FFF2-40B4-BE49-F238E27FC236}">
                <a16:creationId xmlns:a16="http://schemas.microsoft.com/office/drawing/2014/main" id="{4A41F1DF-9896-4165-BD5F-B2B80AC7B8E9}"/>
              </a:ext>
            </a:extLst>
          </p:cNvPr>
          <p:cNvSpPr>
            <a:spLocks xmlns:a="http://schemas.openxmlformats.org/drawingml/2006/main" noGrp="1"/>
          </p:cNvSpPr>
          <p:nvPr/>
        </p:nvSpPr>
        <p:spPr>
          <a:xfrm xmlns:a="http://schemas.openxmlformats.org/drawingml/2006/main">
            <a:off x="609600" y="4857750"/>
            <a:ext cx="10487025" cy="552450"/>
          </a:xfrm>
          <a:prstGeom xmlns:a="http://schemas.openxmlformats.org/drawingml/2006/main" prst="rect">
            <a:avLst/>
          </a:prstGeom>
          <a:solidFill xmlns:a="http://schemas.openxmlformats.org/drawingml/2006/main">
            <a:srgbClr val="F4F7F4"/>
          </a:solidFill>
          <a:ln xmlns:a="http://schemas.openxmlformats.org/drawingml/2006/main" w="0">
            <a:solidFill>
              <a:srgbClr val="F4F7F4"/>
            </a:solidFill>
            <a:prstDash val="solid"/>
          </a:ln>
        </p:spPr>
      </p:sp>
      <p:sp>
        <p:nvSpPr>
          <p:cNvPr id="31" name="">
            <a:extLst xmlns:a="http://schemas.openxmlformats.org/drawingml/2006/main">
              <a:ext uri="{FF2B5EF4-FFF2-40B4-BE49-F238E27FC236}">
                <a16:creationId xmlns:a16="http://schemas.microsoft.com/office/drawing/2014/main" id="{F977CD38-F519-41C9-87E9-85913ED45C24}"/>
              </a:ext>
            </a:extLst>
          </p:cNvPr>
          <p:cNvSpPr>
            <a:spLocks xmlns:a="http://schemas.openxmlformats.org/drawingml/2006/main" noGrp="1"/>
          </p:cNvSpPr>
          <p:nvPr/>
        </p:nvSpPr>
        <p:spPr>
          <a:xfrm xmlns:a="http://schemas.openxmlformats.org/drawingml/2006/main">
            <a:off x="723900" y="5029200"/>
            <a:ext cx="3105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75" b="0">
                <a:solidFill>
                  <a:srgbClr val="17221B"/>
                </a:solidFill>
                <a:latin typeface="Arial"/>
                <a:ea typeface="Arial"/>
                <a:cs typeface="Arial"/>
              </a:defRPr>
            </a:pPr>
            <a:r>
              <a:rPr sz="1275" b="0">
                <a:solidFill>
                  <a:srgbClr val="17221B"/>
                </a:solidFill>
                <a:latin typeface="Arial"/>
                <a:ea typeface="Arial"/>
                <a:cs typeface="Arial"/>
              </a:rPr>
              <a:t>Negative scenes with FP</a:t>
            </a:r>
          </a:p>
        </p:txBody>
      </p:sp>
      <p:sp>
        <p:nvSpPr>
          <p:cNvPr id="32" name="">
            <a:extLst xmlns:a="http://schemas.openxmlformats.org/drawingml/2006/main">
              <a:ext uri="{FF2B5EF4-FFF2-40B4-BE49-F238E27FC236}">
                <a16:creationId xmlns:a16="http://schemas.microsoft.com/office/drawing/2014/main" id="{87C46B29-8141-4AEA-B38E-AD79967D3C90}"/>
              </a:ext>
            </a:extLst>
          </p:cNvPr>
          <p:cNvSpPr>
            <a:spLocks xmlns:a="http://schemas.openxmlformats.org/drawingml/2006/main" noGrp="1"/>
          </p:cNvSpPr>
          <p:nvPr/>
        </p:nvSpPr>
        <p:spPr>
          <a:xfrm xmlns:a="http://schemas.openxmlformats.org/drawingml/2006/main">
            <a:off x="4162425" y="5029200"/>
            <a:ext cx="2057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1">
                <a:solidFill>
                  <a:srgbClr val="1F7A55"/>
                </a:solidFill>
                <a:latin typeface="Arial"/>
                <a:ea typeface="Arial"/>
                <a:cs typeface="Arial"/>
              </a:defRPr>
            </a:pPr>
            <a:r>
              <a:rPr sz="1275" b="1">
                <a:solidFill>
                  <a:srgbClr val="1F7A55"/>
                </a:solidFill>
                <a:latin typeface="Arial"/>
                <a:ea typeface="Arial"/>
                <a:cs typeface="Arial"/>
              </a:rPr>
              <a:t>10 / 181</a:t>
            </a:r>
          </a:p>
        </p:txBody>
      </p:sp>
      <p:sp>
        <p:nvSpPr>
          <p:cNvPr id="33" name="">
            <a:extLst xmlns:a="http://schemas.openxmlformats.org/drawingml/2006/main">
              <a:ext uri="{FF2B5EF4-FFF2-40B4-BE49-F238E27FC236}">
                <a16:creationId xmlns:a16="http://schemas.microsoft.com/office/drawing/2014/main" id="{4DA4ED2B-8B5C-4903-B304-3441BC92E81D}"/>
              </a:ext>
            </a:extLst>
          </p:cNvPr>
          <p:cNvSpPr>
            <a:spLocks xmlns:a="http://schemas.openxmlformats.org/drawingml/2006/main" noGrp="1"/>
          </p:cNvSpPr>
          <p:nvPr/>
        </p:nvSpPr>
        <p:spPr>
          <a:xfrm xmlns:a="http://schemas.openxmlformats.org/drawingml/2006/main">
            <a:off x="6543675" y="5029200"/>
            <a:ext cx="2057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1">
                <a:solidFill>
                  <a:srgbClr val="C8605A"/>
                </a:solidFill>
                <a:latin typeface="Arial"/>
                <a:ea typeface="Arial"/>
                <a:cs typeface="Arial"/>
              </a:defRPr>
            </a:pPr>
            <a:r>
              <a:rPr sz="1275" b="1">
                <a:solidFill>
                  <a:srgbClr val="C8605A"/>
                </a:solidFill>
                <a:latin typeface="Arial"/>
                <a:ea typeface="Arial"/>
                <a:cs typeface="Arial"/>
              </a:rPr>
              <a:t>65 / 181</a:t>
            </a:r>
          </a:p>
        </p:txBody>
      </p:sp>
      <p:sp>
        <p:nvSpPr>
          <p:cNvPr id="34" name="">
            <a:extLst xmlns:a="http://schemas.openxmlformats.org/drawingml/2006/main">
              <a:ext uri="{FF2B5EF4-FFF2-40B4-BE49-F238E27FC236}">
                <a16:creationId xmlns:a16="http://schemas.microsoft.com/office/drawing/2014/main" id="{759A2D26-297D-493D-913A-C39D626EBAB7}"/>
              </a:ext>
            </a:extLst>
          </p:cNvPr>
          <p:cNvSpPr>
            <a:spLocks xmlns:a="http://schemas.openxmlformats.org/drawingml/2006/main" noGrp="1"/>
          </p:cNvSpPr>
          <p:nvPr/>
        </p:nvSpPr>
        <p:spPr>
          <a:xfrm xmlns:a="http://schemas.openxmlformats.org/drawingml/2006/main">
            <a:off x="8924925" y="5029200"/>
            <a:ext cx="2057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275" b="1">
                <a:solidFill>
                  <a:srgbClr val="17221B"/>
                </a:solidFill>
                <a:latin typeface="Arial"/>
                <a:ea typeface="Arial"/>
                <a:cs typeface="Arial"/>
              </a:defRPr>
            </a:pPr>
            <a:r>
              <a:rPr sz="1275" b="1">
                <a:solidFill>
                  <a:srgbClr val="17221B"/>
                </a:solidFill>
                <a:latin typeface="Arial"/>
                <a:ea typeface="Arial"/>
                <a:cs typeface="Arial"/>
              </a:rPr>
              <a:t>−55 scenes</a:t>
            </a:r>
          </a:p>
        </p:txBody>
      </p:sp>
      <p:sp>
        <p:nvSpPr>
          <p:cNvPr id="35" name="">
            <a:extLst xmlns:a="http://schemas.openxmlformats.org/drawingml/2006/main">
              <a:ext uri="{FF2B5EF4-FFF2-40B4-BE49-F238E27FC236}">
                <a16:creationId xmlns:a16="http://schemas.microsoft.com/office/drawing/2014/main" id="{0E6D806C-FED0-4CAF-B662-6F01D31A8CF6}"/>
              </a:ext>
            </a:extLst>
          </p:cNvPr>
          <p:cNvSpPr>
            <a:spLocks xmlns:a="http://schemas.openxmlformats.org/drawingml/2006/main" noGrp="1"/>
          </p:cNvSpPr>
          <p:nvPr/>
        </p:nvSpPr>
        <p:spPr>
          <a:xfrm xmlns:a="http://schemas.openxmlformats.org/drawingml/2006/main">
            <a:off x="647700" y="22860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1F7A55"/>
                </a:solidFill>
                <a:latin typeface="Arial"/>
                <a:ea typeface="Arial"/>
                <a:cs typeface="Arial"/>
              </a:defRPr>
            </a:pPr>
            <a:r>
              <a:rPr sz="900" b="1">
                <a:solidFill>
                  <a:srgbClr val="1F7A55"/>
                </a:solidFill>
                <a:latin typeface="Arial"/>
                <a:ea typeface="Arial"/>
                <a:cs typeface="Arial"/>
              </a:rPr>
              <a:t>APPENDIX</a:t>
            </a:r>
          </a:p>
        </p:txBody>
      </p:sp>
      <p:sp>
        <p:nvSpPr>
          <p:cNvPr id="36" name="">
            <a:extLst xmlns:a="http://schemas.openxmlformats.org/drawingml/2006/main">
              <a:ext uri="{FF2B5EF4-FFF2-40B4-BE49-F238E27FC236}">
                <a16:creationId xmlns:a16="http://schemas.microsoft.com/office/drawing/2014/main" id="{8899E0AB-4FF9-438D-8F8A-E6CCED7F9845}"/>
              </a:ext>
            </a:extLst>
          </p:cNvPr>
          <p:cNvSpPr>
            <a:spLocks xmlns:a="http://schemas.openxmlformats.org/drawingml/2006/main" noGrp="1"/>
          </p:cNvSpPr>
          <p:nvPr/>
        </p:nvSpPr>
        <p:spPr>
          <a:xfrm xmlns:a="http://schemas.openxmlformats.org/drawingml/2006/main">
            <a:off x="647700" y="1257300"/>
            <a:ext cx="10839450" cy="9525"/>
          </a:xfrm>
          <a:prstGeom xmlns:a="http://schemas.openxmlformats.org/drawingml/2006/main" prst="rect">
            <a:avLst/>
          </a:prstGeom>
          <a:solidFill xmlns:a="http://schemas.openxmlformats.org/drawingml/2006/main">
            <a:srgbClr val="C6D0C9"/>
          </a:solidFill>
          <a:ln xmlns:a="http://schemas.openxmlformats.org/drawingml/2006/main" w="0">
            <a:solidFill>
              <a:srgbClr val="C6D0C9"/>
            </a:solidFill>
            <a:prstDash val="solid"/>
          </a:ln>
        </p:spPr>
      </p:sp>
      <p:sp>
        <p:nvSpPr>
          <p:cNvPr id="37" name="">
            <a:extLst xmlns:a="http://schemas.openxmlformats.org/drawingml/2006/main">
              <a:ext uri="{FF2B5EF4-FFF2-40B4-BE49-F238E27FC236}">
                <a16:creationId xmlns:a16="http://schemas.microsoft.com/office/drawing/2014/main" id="{52AED146-4CAC-477B-9838-13A95CE231FE}"/>
              </a:ext>
            </a:extLst>
          </p:cNvPr>
          <p:cNvSpPr>
            <a:spLocks xmlns:a="http://schemas.openxmlformats.org/drawingml/2006/main" noGrp="1"/>
          </p:cNvSpPr>
          <p:nvPr/>
        </p:nvSpPr>
        <p:spPr>
          <a:xfrm xmlns:a="http://schemas.openxmlformats.org/drawingml/2006/main">
            <a:off x="571500" y="6457950"/>
            <a:ext cx="990600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750" b="0">
                <a:solidFill>
                  <a:srgbClr val="5D6B63"/>
                </a:solidFill>
                <a:latin typeface="Arial"/>
                <a:ea typeface="Arial"/>
                <a:cs typeface="Arial"/>
              </a:defRPr>
            </a:pPr>
            <a:r>
              <a:rPr sz="750" b="0">
                <a:solidFill>
                  <a:srgbClr val="5D6B63"/>
                </a:solidFill>
                <a:latin typeface="Arial"/>
                <a:ea typeface="Arial"/>
                <a:cs typeface="Arial"/>
              </a:rPr>
              <a:t>Validation subgroup analysis; selected thresholds 0.05 and 0.95</a:t>
            </a:r>
          </a:p>
        </p:txBody>
      </p:sp>
    </p:spTree>
    <p:extLst>
      <p:ext uri="{BB962C8B-B14F-4D97-AF65-F5344CB8AC3E}">
        <p14:creationId xmlns:p14="http://schemas.microsoft.com/office/powerpoint/2010/main" val="58480919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ABAD6AD-0A58-4651-9F7B-1973CB78F800}"/>
              </a:ext>
            </a:extLst>
          </p:cNvPr>
          <p:cNvSpPr>
            <a:spLocks xmlns:a="http://schemas.openxmlformats.org/drawingml/2006/main" noGrp="1"/>
          </p:cNvSpPr>
          <p:nvPr/>
        </p:nvSpPr>
        <p:spPr>
          <a:xfrm xmlns:a="http://schemas.openxmlformats.org/drawingml/2006/main">
            <a:off x="647700" y="22860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1F7A55"/>
                </a:solidFill>
                <a:latin typeface="Arial"/>
                <a:ea typeface="Arial"/>
                <a:cs typeface="Arial"/>
              </a:defRPr>
            </a:pPr>
            <a:r>
              <a:rPr sz="900" b="1">
                <a:solidFill>
                  <a:srgbClr val="1F7A55"/>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DABAF5F1-F30B-4AF4-8113-36472A8E5896}"/>
              </a:ext>
            </a:extLst>
          </p:cNvPr>
          <p:cNvSpPr>
            <a:spLocks xmlns:a="http://schemas.openxmlformats.org/drawingml/2006/main" noGrp="1"/>
          </p:cNvSpPr>
          <p:nvPr/>
        </p:nvSpPr>
        <p:spPr>
          <a:xfrm xmlns:a="http://schemas.openxmlformats.org/drawingml/2006/main">
            <a:off x="647700" y="60960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7221B"/>
                </a:solidFill>
                <a:latin typeface="Arial"/>
                <a:ea typeface="Arial"/>
                <a:cs typeface="Arial"/>
              </a:defRPr>
            </a:pPr>
            <a:r>
              <a:rPr sz="2325" b="1">
                <a:solidFill>
                  <a:srgbClr val="17221B"/>
                </a:solidFill>
                <a:latin typeface="Arial"/>
                <a:ea typeface="Arial"/>
                <a:cs typeface="Arial"/>
              </a:rPr>
              <a:t>Spatial separation is measurable but still local</a:t>
            </a:r>
          </a:p>
        </p:txBody>
      </p:sp>
      <p:cxnSp>
        <p:nvCxnSpPr>
          <p:cNvPr id="20" name=""/>
          <p:cNvCxnSpPr/>
          <p:nvPr/>
        </p:nvCxnSpPr>
        <p:spPr>
          <a:xfrm xmlns:a="http://schemas.openxmlformats.org/drawingml/2006/main">
            <a:off x="647700" y="1257300"/>
            <a:ext cx="10839450" cy="0"/>
          </a:xfrm>
          <a:prstGeom xmlns:a="http://schemas.openxmlformats.org/drawingml/2006/main" prst="straightConnector1">
            <a:avLst/>
          </a:prstGeom>
          <a:ln xmlns:a="http://schemas.openxmlformats.org/drawingml/2006/main" w="9525">
            <a:solidFill>
              <a:srgbClr val="C6D0C9"/>
            </a:solidFill>
            <a:prstDash val="solid"/>
          </a:ln>
        </p:spPr>
      </p:cxnSp>
      <p:sp>
        <p:nvSpPr>
          <p:cNvPr id="4" name="">
            <a:extLst xmlns:a="http://schemas.openxmlformats.org/drawingml/2006/main">
              <a:ext uri="{FF2B5EF4-FFF2-40B4-BE49-F238E27FC236}">
                <a16:creationId xmlns:a16="http://schemas.microsoft.com/office/drawing/2014/main" id="{7C3DE732-1021-4008-B1C8-59E061C99BDA}"/>
              </a:ext>
            </a:extLst>
          </p:cNvPr>
          <p:cNvSpPr>
            <a:spLocks xmlns:a="http://schemas.openxmlformats.org/drawingml/2006/main" noGrp="1"/>
          </p:cNvSpPr>
          <p:nvPr/>
        </p:nvSpPr>
        <p:spPr>
          <a:xfrm xmlns:a="http://schemas.openxmlformats.org/drawingml/2006/main">
            <a:off x="11382375" y="64389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a:solidFill>
                  <a:srgbClr val="5D6B63"/>
                </a:solidFill>
                <a:latin typeface="Arial"/>
                <a:ea typeface="Arial"/>
                <a:cs typeface="Arial"/>
              </a:defRPr>
            </a:pPr>
            <a:r>
              <a:rPr sz="900" b="0">
                <a:solidFill>
                  <a:srgbClr val="5D6B63"/>
                </a:solidFill>
                <a:latin typeface="Arial"/>
                <a:ea typeface="Arial"/>
                <a:cs typeface="Arial"/>
              </a:rPr>
              <a:t>18</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2c1a9405e7f14d51"/>
          <a:stretch xmlns:a="http://schemas.openxmlformats.org/drawingml/2006/main"/>
        </p:blipFill>
        <p:spPr>
          <a:xfrm xmlns:a="http://schemas.openxmlformats.org/drawingml/2006/main">
            <a:off x="552450" y="1526075"/>
            <a:ext cx="7620000" cy="35677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F4E1A3D-44E3-4C17-9DED-DABAC9689775}"/>
              </a:ext>
            </a:extLst>
          </p:cNvPr>
          <p:cNvSpPr>
            <a:spLocks xmlns:a="http://schemas.openxmlformats.org/drawingml/2006/main" noGrp="1"/>
          </p:cNvSpPr>
          <p:nvPr/>
        </p:nvSpPr>
        <p:spPr>
          <a:xfrm xmlns:a="http://schemas.openxmlformats.org/drawingml/2006/main">
            <a:off x="8572500" y="1666875"/>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450" b="1">
                <a:solidFill>
                  <a:srgbClr val="D98999"/>
                </a:solidFill>
                <a:latin typeface="Arial"/>
                <a:ea typeface="Arial"/>
                <a:cs typeface="Arial"/>
              </a:defRPr>
            </a:pPr>
            <a:r>
              <a:rPr sz="3450" b="1">
                <a:solidFill>
                  <a:srgbClr val="D98999"/>
                </a:solidFill>
                <a:latin typeface="Arial"/>
                <a:ea typeface="Arial"/>
                <a:cs typeface="Arial"/>
              </a:rPr>
              <a:t>47 m</a:t>
            </a:r>
          </a:p>
        </p:txBody>
      </p:sp>
      <p:sp>
        <p:nvSpPr>
          <p:cNvPr id="7" name="">
            <a:extLst xmlns:a="http://schemas.openxmlformats.org/drawingml/2006/main">
              <a:ext uri="{FF2B5EF4-FFF2-40B4-BE49-F238E27FC236}">
                <a16:creationId xmlns:a16="http://schemas.microsoft.com/office/drawing/2014/main" id="{A228D65B-B83F-4C91-AF20-586CB5B16EF8}"/>
              </a:ext>
            </a:extLst>
          </p:cNvPr>
          <p:cNvSpPr>
            <a:spLocks xmlns:a="http://schemas.openxmlformats.org/drawingml/2006/main" noGrp="1"/>
          </p:cNvSpPr>
          <p:nvPr/>
        </p:nvSpPr>
        <p:spPr>
          <a:xfrm xmlns:a="http://schemas.openxmlformats.org/drawingml/2006/main">
            <a:off x="8572500" y="2295525"/>
            <a:ext cx="257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D6B63"/>
                </a:solidFill>
                <a:latin typeface="Arial"/>
                <a:ea typeface="Arial"/>
                <a:cs typeface="Arial"/>
              </a:defRPr>
            </a:pPr>
            <a:r>
              <a:rPr sz="1200" b="0">
                <a:solidFill>
                  <a:srgbClr val="5D6B63"/>
                </a:solidFill>
                <a:latin typeface="Arial"/>
                <a:ea typeface="Arial"/>
                <a:cs typeface="Arial"/>
              </a:rPr>
              <a:t>train-to-train median</a:t>
            </a:r>
          </a:p>
        </p:txBody>
      </p:sp>
      <p:sp>
        <p:nvSpPr>
          <p:cNvPr id="8" name="">
            <a:extLst xmlns:a="http://schemas.openxmlformats.org/drawingml/2006/main">
              <a:ext uri="{FF2B5EF4-FFF2-40B4-BE49-F238E27FC236}">
                <a16:creationId xmlns:a16="http://schemas.microsoft.com/office/drawing/2014/main" id="{5448CBBD-D55E-4FBA-98D9-2B504E1ECF0E}"/>
              </a:ext>
            </a:extLst>
          </p:cNvPr>
          <p:cNvSpPr>
            <a:spLocks xmlns:a="http://schemas.openxmlformats.org/drawingml/2006/main" noGrp="1"/>
          </p:cNvSpPr>
          <p:nvPr/>
        </p:nvSpPr>
        <p:spPr>
          <a:xfrm xmlns:a="http://schemas.openxmlformats.org/drawingml/2006/main">
            <a:off x="8572500" y="2905125"/>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450" b="1">
                <a:solidFill>
                  <a:srgbClr val="188F91"/>
                </a:solidFill>
                <a:latin typeface="Arial"/>
                <a:ea typeface="Arial"/>
                <a:cs typeface="Arial"/>
              </a:defRPr>
            </a:pPr>
            <a:r>
              <a:rPr sz="3450" b="1">
                <a:solidFill>
                  <a:srgbClr val="188F91"/>
                </a:solidFill>
                <a:latin typeface="Arial"/>
                <a:ea typeface="Arial"/>
                <a:cs typeface="Arial"/>
              </a:rPr>
              <a:t>93 m</a:t>
            </a:r>
          </a:p>
        </p:txBody>
      </p:sp>
      <p:sp>
        <p:nvSpPr>
          <p:cNvPr id="9" name="">
            <a:extLst xmlns:a="http://schemas.openxmlformats.org/drawingml/2006/main">
              <a:ext uri="{FF2B5EF4-FFF2-40B4-BE49-F238E27FC236}">
                <a16:creationId xmlns:a16="http://schemas.microsoft.com/office/drawing/2014/main" id="{1FBBAF87-3F75-4D26-9D73-6E5070CF1DB2}"/>
              </a:ext>
            </a:extLst>
          </p:cNvPr>
          <p:cNvSpPr>
            <a:spLocks xmlns:a="http://schemas.openxmlformats.org/drawingml/2006/main" noGrp="1"/>
          </p:cNvSpPr>
          <p:nvPr/>
        </p:nvSpPr>
        <p:spPr>
          <a:xfrm xmlns:a="http://schemas.openxmlformats.org/drawingml/2006/main">
            <a:off x="8572500" y="3533775"/>
            <a:ext cx="257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D6B63"/>
                </a:solidFill>
                <a:latin typeface="Arial"/>
                <a:ea typeface="Arial"/>
                <a:cs typeface="Arial"/>
              </a:defRPr>
            </a:pPr>
            <a:r>
              <a:rPr sz="1200" b="0">
                <a:solidFill>
                  <a:srgbClr val="5D6B63"/>
                </a:solidFill>
                <a:latin typeface="Arial"/>
                <a:ea typeface="Arial"/>
                <a:cs typeface="Arial"/>
              </a:rPr>
              <a:t>held-out-to-train median</a:t>
            </a:r>
          </a:p>
        </p:txBody>
      </p:sp>
      <p:sp>
        <p:nvSpPr>
          <p:cNvPr id="10" name="">
            <a:extLst xmlns:a="http://schemas.openxmlformats.org/drawingml/2006/main">
              <a:ext uri="{FF2B5EF4-FFF2-40B4-BE49-F238E27FC236}">
                <a16:creationId xmlns:a16="http://schemas.microsoft.com/office/drawing/2014/main" id="{099AD34B-DCCC-40D1-8F88-8DD485B70358}"/>
              </a:ext>
            </a:extLst>
          </p:cNvPr>
          <p:cNvSpPr>
            <a:spLocks xmlns:a="http://schemas.openxmlformats.org/drawingml/2006/main" noGrp="1"/>
          </p:cNvSpPr>
          <p:nvPr/>
        </p:nvSpPr>
        <p:spPr>
          <a:xfrm xmlns:a="http://schemas.openxmlformats.org/drawingml/2006/main">
            <a:off x="8572500" y="4143375"/>
            <a:ext cx="2571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3450" b="1">
                <a:solidFill>
                  <a:srgbClr val="4B739B"/>
                </a:solidFill>
                <a:latin typeface="Arial"/>
                <a:ea typeface="Arial"/>
                <a:cs typeface="Arial"/>
              </a:defRPr>
            </a:pPr>
            <a:r>
              <a:rPr sz="3450" b="1">
                <a:solidFill>
                  <a:srgbClr val="4B739B"/>
                </a:solidFill>
                <a:latin typeface="Arial"/>
                <a:ea typeface="Arial"/>
                <a:cs typeface="Arial"/>
              </a:rPr>
              <a:t>336 m</a:t>
            </a:r>
          </a:p>
        </p:txBody>
      </p:sp>
      <p:sp>
        <p:nvSpPr>
          <p:cNvPr id="11" name="">
            <a:extLst xmlns:a="http://schemas.openxmlformats.org/drawingml/2006/main">
              <a:ext uri="{FF2B5EF4-FFF2-40B4-BE49-F238E27FC236}">
                <a16:creationId xmlns:a16="http://schemas.microsoft.com/office/drawing/2014/main" id="{DF17BF08-ACED-46CF-A144-3BD3C3A4988A}"/>
              </a:ext>
            </a:extLst>
          </p:cNvPr>
          <p:cNvSpPr>
            <a:spLocks xmlns:a="http://schemas.openxmlformats.org/drawingml/2006/main" noGrp="1"/>
          </p:cNvSpPr>
          <p:nvPr/>
        </p:nvSpPr>
        <p:spPr>
          <a:xfrm xmlns:a="http://schemas.openxmlformats.org/drawingml/2006/main">
            <a:off x="8572500" y="4772025"/>
            <a:ext cx="257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D6B63"/>
                </a:solidFill>
                <a:latin typeface="Arial"/>
                <a:ea typeface="Arial"/>
                <a:cs typeface="Arial"/>
              </a:defRPr>
            </a:pPr>
            <a:r>
              <a:rPr sz="1200" b="0">
                <a:solidFill>
                  <a:srgbClr val="5D6B63"/>
                </a:solidFill>
                <a:latin typeface="Arial"/>
                <a:ea typeface="Arial"/>
                <a:cs typeface="Arial"/>
              </a:rPr>
              <a:t>maximum held-out distance</a:t>
            </a:r>
          </a:p>
        </p:txBody>
      </p:sp>
      <p:sp>
        <p:nvSpPr>
          <p:cNvPr id="12" name="">
            <a:extLst xmlns:a="http://schemas.openxmlformats.org/drawingml/2006/main">
              <a:ext uri="{FF2B5EF4-FFF2-40B4-BE49-F238E27FC236}">
                <a16:creationId xmlns:a16="http://schemas.microsoft.com/office/drawing/2014/main" id="{6918D8B2-F390-47EC-B7F4-34853E6E9AD9}"/>
              </a:ext>
            </a:extLst>
          </p:cNvPr>
          <p:cNvSpPr>
            <a:spLocks xmlns:a="http://schemas.openxmlformats.org/drawingml/2006/main" noGrp="1"/>
          </p:cNvSpPr>
          <p:nvPr/>
        </p:nvSpPr>
        <p:spPr>
          <a:xfrm xmlns:a="http://schemas.openxmlformats.org/drawingml/2006/main">
            <a:off x="552450" y="5476875"/>
            <a:ext cx="10591800" cy="523875"/>
          </a:xfrm>
          <a:prstGeom xmlns:a="http://schemas.openxmlformats.org/drawingml/2006/main" prst="roundRect">
            <a:avLst>
              <a:gd name="adj" fmla="val 9091"/>
            </a:avLst>
          </a:prstGeom>
          <a:solidFill xmlns:a="http://schemas.openxmlformats.org/drawingml/2006/main">
            <a:srgbClr val="F4F7F4"/>
          </a:solidFill>
          <a:ln xmlns:a="http://schemas.openxmlformats.org/drawingml/2006/main" w="9525">
            <a:solidFill>
              <a:srgbClr val="F4F7F4"/>
            </a:solidFill>
            <a:prstDash val="solid"/>
          </a:ln>
        </p:spPr>
      </p:sp>
      <p:sp>
        <p:nvSpPr>
          <p:cNvPr id="13" name="">
            <a:extLst xmlns:a="http://schemas.openxmlformats.org/drawingml/2006/main">
              <a:ext uri="{FF2B5EF4-FFF2-40B4-BE49-F238E27FC236}">
                <a16:creationId xmlns:a16="http://schemas.microsoft.com/office/drawing/2014/main" id="{B1290F6A-3FAC-4E63-994D-C1D064B11B53}"/>
              </a:ext>
            </a:extLst>
          </p:cNvPr>
          <p:cNvSpPr>
            <a:spLocks xmlns:a="http://schemas.openxmlformats.org/drawingml/2006/main" noGrp="1"/>
          </p:cNvSpPr>
          <p:nvPr/>
        </p:nvSpPr>
        <p:spPr>
          <a:xfrm xmlns:a="http://schemas.openxmlformats.org/drawingml/2006/main">
            <a:off x="742950" y="5600700"/>
            <a:ext cx="10239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1">
                <a:solidFill>
                  <a:srgbClr val="17221B"/>
                </a:solidFill>
                <a:latin typeface="Arial"/>
                <a:ea typeface="Arial"/>
                <a:cs typeface="Arial"/>
              </a:defRPr>
            </a:pPr>
            <a:r>
              <a:rPr sz="1350" b="1">
                <a:solidFill>
                  <a:srgbClr val="17221B"/>
                </a:solidFill>
                <a:latin typeface="Arial"/>
                <a:ea typeface="Arial"/>
                <a:cs typeface="Arial"/>
              </a:rPr>
              <a:t>Boundary: this diagnoses the frozen PLZ split; it does not prove transfer across Berlin or across years.</a:t>
            </a:r>
          </a:p>
        </p:txBody>
      </p:sp>
    </p:spTree>
    <p:extLst>
      <p:ext uri="{BB962C8B-B14F-4D97-AF65-F5344CB8AC3E}">
        <p14:creationId xmlns:p14="http://schemas.microsoft.com/office/powerpoint/2010/main" val="853617047"/>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B4D83B4B-6617-412A-ACE4-C47D2CBE29D2}"/>
              </a:ext>
            </a:extLst>
          </p:cNvPr>
          <p:cNvSpPr>
            <a:spLocks xmlns:a="http://schemas.openxmlformats.org/drawingml/2006/main" noGrp="1"/>
          </p:cNvSpPr>
          <p:nvPr/>
        </p:nvSpPr>
        <p:spPr>
          <a:xfrm xmlns:a="http://schemas.openxmlformats.org/drawingml/2006/main">
            <a:off x="647700" y="22860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1F7A55"/>
                </a:solidFill>
                <a:latin typeface="Arial"/>
                <a:ea typeface="Arial"/>
                <a:cs typeface="Arial"/>
              </a:defRPr>
            </a:pPr>
            <a:r>
              <a:rPr sz="900" b="1">
                <a:solidFill>
                  <a:srgbClr val="1F7A55"/>
                </a:solidFill>
                <a:latin typeface="Arial"/>
                <a:ea typeface="Arial"/>
                <a:cs typeface="Arial"/>
              </a:rPr>
              <a:t>APPENDIX</a:t>
            </a:r>
          </a:p>
        </p:txBody>
      </p:sp>
      <p:sp>
        <p:nvSpPr>
          <p:cNvPr id="2" name="">
            <a:extLst xmlns:a="http://schemas.openxmlformats.org/drawingml/2006/main">
              <a:ext uri="{FF2B5EF4-FFF2-40B4-BE49-F238E27FC236}">
                <a16:creationId xmlns:a16="http://schemas.microsoft.com/office/drawing/2014/main" id="{8999CC59-D21A-47E7-AEC0-D0EEAC46D8F5}"/>
              </a:ext>
            </a:extLst>
          </p:cNvPr>
          <p:cNvSpPr>
            <a:spLocks xmlns:a="http://schemas.openxmlformats.org/drawingml/2006/main" noGrp="1"/>
          </p:cNvSpPr>
          <p:nvPr/>
        </p:nvSpPr>
        <p:spPr>
          <a:xfrm xmlns:a="http://schemas.openxmlformats.org/drawingml/2006/main">
            <a:off x="647700" y="609600"/>
            <a:ext cx="10839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325" b="1">
                <a:solidFill>
                  <a:srgbClr val="17221B"/>
                </a:solidFill>
                <a:latin typeface="Arial"/>
                <a:ea typeface="Arial"/>
                <a:cs typeface="Arial"/>
              </a:defRPr>
            </a:pPr>
            <a:r>
              <a:rPr sz="2325" b="1">
                <a:solidFill>
                  <a:srgbClr val="17221B"/>
                </a:solidFill>
                <a:latin typeface="Arial"/>
                <a:ea typeface="Arial"/>
                <a:cs typeface="Arial"/>
              </a:rPr>
              <a:t>Main limitations define the next experiments</a:t>
            </a:r>
          </a:p>
        </p:txBody>
      </p:sp>
      <p:cxnSp>
        <p:nvCxnSpPr>
          <p:cNvPr id="32" name=""/>
          <p:cNvCxnSpPr/>
          <p:nvPr/>
        </p:nvCxnSpPr>
        <p:spPr>
          <a:xfrm xmlns:a="http://schemas.openxmlformats.org/drawingml/2006/main">
            <a:off x="647700" y="1257300"/>
            <a:ext cx="10839450" cy="0"/>
          </a:xfrm>
          <a:prstGeom xmlns:a="http://schemas.openxmlformats.org/drawingml/2006/main" prst="straightConnector1">
            <a:avLst/>
          </a:prstGeom>
          <a:ln xmlns:a="http://schemas.openxmlformats.org/drawingml/2006/main" w="9525">
            <a:solidFill>
              <a:srgbClr val="C6D0C9"/>
            </a:solidFill>
            <a:prstDash val="solid"/>
          </a:ln>
        </p:spPr>
      </p:cxnSp>
      <p:sp>
        <p:nvSpPr>
          <p:cNvPr id="4" name="">
            <a:extLst xmlns:a="http://schemas.openxmlformats.org/drawingml/2006/main">
              <a:ext uri="{FF2B5EF4-FFF2-40B4-BE49-F238E27FC236}">
                <a16:creationId xmlns:a16="http://schemas.microsoft.com/office/drawing/2014/main" id="{D7335D99-000B-4F01-9887-040A205C4A9D}"/>
              </a:ext>
            </a:extLst>
          </p:cNvPr>
          <p:cNvSpPr>
            <a:spLocks xmlns:a="http://schemas.openxmlformats.org/drawingml/2006/main" noGrp="1"/>
          </p:cNvSpPr>
          <p:nvPr/>
        </p:nvSpPr>
        <p:spPr>
          <a:xfrm xmlns:a="http://schemas.openxmlformats.org/drawingml/2006/main">
            <a:off x="11382375" y="6438900"/>
            <a:ext cx="285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0">
                <a:solidFill>
                  <a:srgbClr val="5D6B63"/>
                </a:solidFill>
                <a:latin typeface="Arial"/>
                <a:ea typeface="Arial"/>
                <a:cs typeface="Arial"/>
              </a:defRPr>
            </a:pPr>
            <a:r>
              <a:rPr sz="900" b="0">
                <a:solidFill>
                  <a:srgbClr val="5D6B63"/>
                </a:solidFill>
                <a:latin typeface="Arial"/>
                <a:ea typeface="Arial"/>
                <a:cs typeface="Arial"/>
              </a:rPr>
              <a:t>19</a:t>
            </a:r>
          </a:p>
        </p:txBody>
      </p:sp>
      <p:sp>
        <p:nvSpPr>
          <p:cNvPr id="5" name="">
            <a:extLst xmlns:a="http://schemas.openxmlformats.org/drawingml/2006/main">
              <a:ext uri="{FF2B5EF4-FFF2-40B4-BE49-F238E27FC236}">
                <a16:creationId xmlns:a16="http://schemas.microsoft.com/office/drawing/2014/main" id="{615BD9EE-0FC0-4B87-9617-4DD909FC8841}"/>
              </a:ext>
            </a:extLst>
          </p:cNvPr>
          <p:cNvSpPr>
            <a:spLocks xmlns:a="http://schemas.openxmlformats.org/drawingml/2006/main" noGrp="1"/>
          </p:cNvSpPr>
          <p:nvPr/>
        </p:nvSpPr>
        <p:spPr>
          <a:xfrm xmlns:a="http://schemas.openxmlformats.org/drawingml/2006/main">
            <a:off x="619125" y="1571625"/>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1F7A55"/>
                </a:solidFill>
                <a:latin typeface="Arial"/>
                <a:ea typeface="Arial"/>
                <a:cs typeface="Arial"/>
              </a:defRPr>
            </a:pPr>
            <a:r>
              <a:rPr sz="1350" b="1">
                <a:solidFill>
                  <a:srgbClr val="1F7A55"/>
                </a:solidFill>
                <a:latin typeface="Arial"/>
                <a:ea typeface="Arial"/>
                <a:cs typeface="Arial"/>
              </a:rPr>
              <a:t>01</a:t>
            </a:r>
          </a:p>
        </p:txBody>
      </p:sp>
      <p:sp>
        <p:nvSpPr>
          <p:cNvPr id="6" name="">
            <a:extLst xmlns:a="http://schemas.openxmlformats.org/drawingml/2006/main">
              <a:ext uri="{FF2B5EF4-FFF2-40B4-BE49-F238E27FC236}">
                <a16:creationId xmlns:a16="http://schemas.microsoft.com/office/drawing/2014/main" id="{D8EB34DF-970F-4A72-B5B2-7850EED2FA55}"/>
              </a:ext>
            </a:extLst>
          </p:cNvPr>
          <p:cNvSpPr>
            <a:spLocks xmlns:a="http://schemas.openxmlformats.org/drawingml/2006/main" noGrp="1"/>
          </p:cNvSpPr>
          <p:nvPr/>
        </p:nvSpPr>
        <p:spPr>
          <a:xfrm xmlns:a="http://schemas.openxmlformats.org/drawingml/2006/main">
            <a:off x="1171575" y="1571625"/>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17221B"/>
                </a:solidFill>
                <a:latin typeface="Arial"/>
                <a:ea typeface="Arial"/>
                <a:cs typeface="Arial"/>
              </a:defRPr>
            </a:pPr>
            <a:r>
              <a:rPr sz="1650" b="1">
                <a:solidFill>
                  <a:srgbClr val="17221B"/>
                </a:solidFill>
                <a:latin typeface="Arial"/>
                <a:ea typeface="Arial"/>
                <a:cs typeface="Arial"/>
              </a:rPr>
              <a:t>Small geography</a:t>
            </a:r>
          </a:p>
        </p:txBody>
      </p:sp>
      <p:sp>
        <p:nvSpPr>
          <p:cNvPr id="7" name="">
            <a:extLst xmlns:a="http://schemas.openxmlformats.org/drawingml/2006/main">
              <a:ext uri="{FF2B5EF4-FFF2-40B4-BE49-F238E27FC236}">
                <a16:creationId xmlns:a16="http://schemas.microsoft.com/office/drawing/2014/main" id="{35DD3C82-9FD5-49DC-801D-184259855AAC}"/>
              </a:ext>
            </a:extLst>
          </p:cNvPr>
          <p:cNvSpPr>
            <a:spLocks xmlns:a="http://schemas.openxmlformats.org/drawingml/2006/main" noGrp="1"/>
          </p:cNvSpPr>
          <p:nvPr/>
        </p:nvSpPr>
        <p:spPr>
          <a:xfrm xmlns:a="http://schemas.openxmlformats.org/drawingml/2006/main">
            <a:off x="1171575" y="1933575"/>
            <a:ext cx="4286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D6B63"/>
                </a:solidFill>
                <a:latin typeface="Arial"/>
                <a:ea typeface="Arial"/>
                <a:cs typeface="Arial"/>
              </a:defRPr>
            </a:pPr>
            <a:r>
              <a:rPr sz="1200" b="0">
                <a:solidFill>
                  <a:srgbClr val="5D6B63"/>
                </a:solidFill>
                <a:latin typeface="Arial"/>
                <a:ea typeface="Arial"/>
                <a:cs typeface="Arial"/>
              </a:rPr>
              <a:t>One Berlin postcode; limited roof and vegetation diversity.</a:t>
            </a:r>
          </a:p>
        </p:txBody>
      </p:sp>
      <p:sp>
        <p:nvSpPr>
          <p:cNvPr id="8" name="">
            <a:extLst xmlns:a="http://schemas.openxmlformats.org/drawingml/2006/main">
              <a:ext uri="{FF2B5EF4-FFF2-40B4-BE49-F238E27FC236}">
                <a16:creationId xmlns:a16="http://schemas.microsoft.com/office/drawing/2014/main" id="{5DB46E47-49FA-4D25-879A-540842A60C12}"/>
              </a:ext>
            </a:extLst>
          </p:cNvPr>
          <p:cNvSpPr>
            <a:spLocks xmlns:a="http://schemas.openxmlformats.org/drawingml/2006/main" noGrp="1"/>
          </p:cNvSpPr>
          <p:nvPr/>
        </p:nvSpPr>
        <p:spPr>
          <a:xfrm xmlns:a="http://schemas.openxmlformats.org/drawingml/2006/main">
            <a:off x="6000750" y="1571625"/>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C8605A"/>
                </a:solidFill>
                <a:latin typeface="Arial"/>
                <a:ea typeface="Arial"/>
                <a:cs typeface="Arial"/>
              </a:defRPr>
            </a:pPr>
            <a:r>
              <a:rPr sz="1350" b="1">
                <a:solidFill>
                  <a:srgbClr val="C8605A"/>
                </a:solidFill>
                <a:latin typeface="Arial"/>
                <a:ea typeface="Arial"/>
                <a:cs typeface="Arial"/>
              </a:rPr>
              <a:t>02</a:t>
            </a:r>
          </a:p>
        </p:txBody>
      </p:sp>
      <p:sp>
        <p:nvSpPr>
          <p:cNvPr id="9" name="">
            <a:extLst xmlns:a="http://schemas.openxmlformats.org/drawingml/2006/main">
              <a:ext uri="{FF2B5EF4-FFF2-40B4-BE49-F238E27FC236}">
                <a16:creationId xmlns:a16="http://schemas.microsoft.com/office/drawing/2014/main" id="{34D46439-1A1D-4FF5-8872-4A7DEF937889}"/>
              </a:ext>
            </a:extLst>
          </p:cNvPr>
          <p:cNvSpPr>
            <a:spLocks xmlns:a="http://schemas.openxmlformats.org/drawingml/2006/main" noGrp="1"/>
          </p:cNvSpPr>
          <p:nvPr/>
        </p:nvSpPr>
        <p:spPr>
          <a:xfrm xmlns:a="http://schemas.openxmlformats.org/drawingml/2006/main">
            <a:off x="6553200" y="1571625"/>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17221B"/>
                </a:solidFill>
                <a:latin typeface="Arial"/>
                <a:ea typeface="Arial"/>
                <a:cs typeface="Arial"/>
              </a:defRPr>
            </a:pPr>
            <a:r>
              <a:rPr sz="1650" b="1">
                <a:solidFill>
                  <a:srgbClr val="17221B"/>
                </a:solidFill>
                <a:latin typeface="Arial"/>
                <a:ea typeface="Arial"/>
                <a:cs typeface="Arial"/>
              </a:rPr>
              <a:t>Temporal mismatch</a:t>
            </a:r>
          </a:p>
        </p:txBody>
      </p:sp>
      <p:sp>
        <p:nvSpPr>
          <p:cNvPr id="10" name="">
            <a:extLst xmlns:a="http://schemas.openxmlformats.org/drawingml/2006/main">
              <a:ext uri="{FF2B5EF4-FFF2-40B4-BE49-F238E27FC236}">
                <a16:creationId xmlns:a16="http://schemas.microsoft.com/office/drawing/2014/main" id="{AB1C973A-4F64-4874-B824-E6004C7BCFB7}"/>
              </a:ext>
            </a:extLst>
          </p:cNvPr>
          <p:cNvSpPr>
            <a:spLocks xmlns:a="http://schemas.openxmlformats.org/drawingml/2006/main" noGrp="1"/>
          </p:cNvSpPr>
          <p:nvPr/>
        </p:nvSpPr>
        <p:spPr>
          <a:xfrm xmlns:a="http://schemas.openxmlformats.org/drawingml/2006/main">
            <a:off x="6553200" y="1933575"/>
            <a:ext cx="4286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D6B63"/>
                </a:solidFill>
                <a:latin typeface="Arial"/>
                <a:ea typeface="Arial"/>
                <a:cs typeface="Arial"/>
              </a:defRPr>
            </a:pPr>
            <a:r>
              <a:rPr sz="1200" b="0">
                <a:solidFill>
                  <a:srgbClr val="5D6B63"/>
                </a:solidFill>
                <a:latin typeface="Arial"/>
                <a:ea typeface="Arial"/>
                <a:cs typeface="Arial"/>
              </a:rPr>
              <a:t>Current PLZ boundary applied to 2016 imagery and labels.</a:t>
            </a:r>
          </a:p>
        </p:txBody>
      </p:sp>
      <p:sp>
        <p:nvSpPr>
          <p:cNvPr id="11" name="">
            <a:extLst xmlns:a="http://schemas.openxmlformats.org/drawingml/2006/main">
              <a:ext uri="{FF2B5EF4-FFF2-40B4-BE49-F238E27FC236}">
                <a16:creationId xmlns:a16="http://schemas.microsoft.com/office/drawing/2014/main" id="{D914182B-0149-4AC0-8668-9C6AE304311D}"/>
              </a:ext>
            </a:extLst>
          </p:cNvPr>
          <p:cNvSpPr>
            <a:spLocks xmlns:a="http://schemas.openxmlformats.org/drawingml/2006/main" noGrp="1"/>
          </p:cNvSpPr>
          <p:nvPr/>
        </p:nvSpPr>
        <p:spPr>
          <a:xfrm xmlns:a="http://schemas.openxmlformats.org/drawingml/2006/main">
            <a:off x="619125" y="2857500"/>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1F7A55"/>
                </a:solidFill>
                <a:latin typeface="Arial"/>
                <a:ea typeface="Arial"/>
                <a:cs typeface="Arial"/>
              </a:defRPr>
            </a:pPr>
            <a:r>
              <a:rPr sz="1350" b="1">
                <a:solidFill>
                  <a:srgbClr val="1F7A55"/>
                </a:solidFill>
                <a:latin typeface="Arial"/>
                <a:ea typeface="Arial"/>
                <a:cs typeface="Arial"/>
              </a:rPr>
              <a:t>03</a:t>
            </a:r>
          </a:p>
        </p:txBody>
      </p:sp>
      <p:sp>
        <p:nvSpPr>
          <p:cNvPr id="12" name="">
            <a:extLst xmlns:a="http://schemas.openxmlformats.org/drawingml/2006/main">
              <a:ext uri="{FF2B5EF4-FFF2-40B4-BE49-F238E27FC236}">
                <a16:creationId xmlns:a16="http://schemas.microsoft.com/office/drawing/2014/main" id="{757529A9-6DDE-42A3-B2A2-F2D251386CD6}"/>
              </a:ext>
            </a:extLst>
          </p:cNvPr>
          <p:cNvSpPr>
            <a:spLocks xmlns:a="http://schemas.openxmlformats.org/drawingml/2006/main" noGrp="1"/>
          </p:cNvSpPr>
          <p:nvPr/>
        </p:nvSpPr>
        <p:spPr>
          <a:xfrm xmlns:a="http://schemas.openxmlformats.org/drawingml/2006/main">
            <a:off x="1171575" y="285750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17221B"/>
                </a:solidFill>
                <a:latin typeface="Arial"/>
                <a:ea typeface="Arial"/>
                <a:cs typeface="Arial"/>
              </a:defRPr>
            </a:pPr>
            <a:r>
              <a:rPr sz="1650" b="1">
                <a:solidFill>
                  <a:srgbClr val="17221B"/>
                </a:solidFill>
                <a:latin typeface="Arial"/>
                <a:ea typeface="Arial"/>
                <a:cs typeface="Arial"/>
              </a:rPr>
              <a:t>Calibration</a:t>
            </a:r>
          </a:p>
        </p:txBody>
      </p:sp>
      <p:sp>
        <p:nvSpPr>
          <p:cNvPr id="13" name="">
            <a:extLst xmlns:a="http://schemas.openxmlformats.org/drawingml/2006/main">
              <a:ext uri="{FF2B5EF4-FFF2-40B4-BE49-F238E27FC236}">
                <a16:creationId xmlns:a16="http://schemas.microsoft.com/office/drawing/2014/main" id="{99350067-D2D7-4659-9FBB-D2AA25E52A01}"/>
              </a:ext>
            </a:extLst>
          </p:cNvPr>
          <p:cNvSpPr>
            <a:spLocks xmlns:a="http://schemas.openxmlformats.org/drawingml/2006/main" noGrp="1"/>
          </p:cNvSpPr>
          <p:nvPr/>
        </p:nvSpPr>
        <p:spPr>
          <a:xfrm xmlns:a="http://schemas.openxmlformats.org/drawingml/2006/main">
            <a:off x="1171575" y="3219450"/>
            <a:ext cx="4286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D6B63"/>
                </a:solidFill>
                <a:latin typeface="Arial"/>
                <a:ea typeface="Arial"/>
                <a:cs typeface="Arial"/>
              </a:defRPr>
            </a:pPr>
            <a:r>
              <a:rPr sz="1200" b="0">
                <a:solidFill>
                  <a:srgbClr val="5D6B63"/>
                </a:solidFill>
                <a:latin typeface="Arial"/>
                <a:ea typeface="Arial"/>
                <a:cs typeface="Arial"/>
              </a:rPr>
              <a:t>Optimal validation thresholds differ strongly between runs.</a:t>
            </a:r>
          </a:p>
        </p:txBody>
      </p:sp>
      <p:sp>
        <p:nvSpPr>
          <p:cNvPr id="14" name="">
            <a:extLst xmlns:a="http://schemas.openxmlformats.org/drawingml/2006/main">
              <a:ext uri="{FF2B5EF4-FFF2-40B4-BE49-F238E27FC236}">
                <a16:creationId xmlns:a16="http://schemas.microsoft.com/office/drawing/2014/main" id="{E65991EB-AD90-4984-BFC9-53895E7D3DCE}"/>
              </a:ext>
            </a:extLst>
          </p:cNvPr>
          <p:cNvSpPr>
            <a:spLocks xmlns:a="http://schemas.openxmlformats.org/drawingml/2006/main" noGrp="1"/>
          </p:cNvSpPr>
          <p:nvPr/>
        </p:nvSpPr>
        <p:spPr>
          <a:xfrm xmlns:a="http://schemas.openxmlformats.org/drawingml/2006/main">
            <a:off x="6000750" y="2857500"/>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C8605A"/>
                </a:solidFill>
                <a:latin typeface="Arial"/>
                <a:ea typeface="Arial"/>
                <a:cs typeface="Arial"/>
              </a:defRPr>
            </a:pPr>
            <a:r>
              <a:rPr sz="1350" b="1">
                <a:solidFill>
                  <a:srgbClr val="C8605A"/>
                </a:solidFill>
                <a:latin typeface="Arial"/>
                <a:ea typeface="Arial"/>
                <a:cs typeface="Arial"/>
              </a:rPr>
              <a:t>04</a:t>
            </a:r>
          </a:p>
        </p:txBody>
      </p:sp>
      <p:sp>
        <p:nvSpPr>
          <p:cNvPr id="15" name="">
            <a:extLst xmlns:a="http://schemas.openxmlformats.org/drawingml/2006/main">
              <a:ext uri="{FF2B5EF4-FFF2-40B4-BE49-F238E27FC236}">
                <a16:creationId xmlns:a16="http://schemas.microsoft.com/office/drawing/2014/main" id="{71C71BAB-A03C-4E06-A4E2-E7AA11942AB4}"/>
              </a:ext>
            </a:extLst>
          </p:cNvPr>
          <p:cNvSpPr>
            <a:spLocks xmlns:a="http://schemas.openxmlformats.org/drawingml/2006/main" noGrp="1"/>
          </p:cNvSpPr>
          <p:nvPr/>
        </p:nvSpPr>
        <p:spPr>
          <a:xfrm xmlns:a="http://schemas.openxmlformats.org/drawingml/2006/main">
            <a:off x="6553200" y="2857500"/>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17221B"/>
                </a:solidFill>
                <a:latin typeface="Arial"/>
                <a:ea typeface="Arial"/>
                <a:cs typeface="Arial"/>
              </a:defRPr>
            </a:pPr>
            <a:r>
              <a:rPr sz="1650" b="1">
                <a:solidFill>
                  <a:srgbClr val="17221B"/>
                </a:solidFill>
                <a:latin typeface="Arial"/>
                <a:ea typeface="Arial"/>
                <a:cs typeface="Arial"/>
              </a:rPr>
              <a:t>Sampling design</a:t>
            </a:r>
          </a:p>
        </p:txBody>
      </p:sp>
      <p:sp>
        <p:nvSpPr>
          <p:cNvPr id="16" name="">
            <a:extLst xmlns:a="http://schemas.openxmlformats.org/drawingml/2006/main">
              <a:ext uri="{FF2B5EF4-FFF2-40B4-BE49-F238E27FC236}">
                <a16:creationId xmlns:a16="http://schemas.microsoft.com/office/drawing/2014/main" id="{D29D9864-8858-4ADD-B691-38C8F37AAF60}"/>
              </a:ext>
            </a:extLst>
          </p:cNvPr>
          <p:cNvSpPr>
            <a:spLocks xmlns:a="http://schemas.openxmlformats.org/drawingml/2006/main" noGrp="1"/>
          </p:cNvSpPr>
          <p:nvPr/>
        </p:nvSpPr>
        <p:spPr>
          <a:xfrm xmlns:a="http://schemas.openxmlformats.org/drawingml/2006/main">
            <a:off x="6553200" y="3219450"/>
            <a:ext cx="4286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D6B63"/>
                </a:solidFill>
                <a:latin typeface="Arial"/>
                <a:ea typeface="Arial"/>
                <a:cs typeface="Arial"/>
              </a:defRPr>
            </a:pPr>
            <a:r>
              <a:rPr sz="1200" b="0">
                <a:solidFill>
                  <a:srgbClr val="5D6B63"/>
                </a:solidFill>
                <a:latin typeface="Arial"/>
                <a:ea typeface="Arial"/>
                <a:cs typeface="Arial"/>
              </a:rPr>
              <a:t>All-tile batches are balanced, not prevalence-matched.</a:t>
            </a:r>
          </a:p>
        </p:txBody>
      </p:sp>
      <p:sp>
        <p:nvSpPr>
          <p:cNvPr id="17" name="">
            <a:extLst xmlns:a="http://schemas.openxmlformats.org/drawingml/2006/main">
              <a:ext uri="{FF2B5EF4-FFF2-40B4-BE49-F238E27FC236}">
                <a16:creationId xmlns:a16="http://schemas.microsoft.com/office/drawing/2014/main" id="{8E67C549-A65D-4658-8260-38299296C7E2}"/>
              </a:ext>
            </a:extLst>
          </p:cNvPr>
          <p:cNvSpPr>
            <a:spLocks xmlns:a="http://schemas.openxmlformats.org/drawingml/2006/main" noGrp="1"/>
          </p:cNvSpPr>
          <p:nvPr/>
        </p:nvSpPr>
        <p:spPr>
          <a:xfrm xmlns:a="http://schemas.openxmlformats.org/drawingml/2006/main">
            <a:off x="619125" y="4143375"/>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1F7A55"/>
                </a:solidFill>
                <a:latin typeface="Arial"/>
                <a:ea typeface="Arial"/>
                <a:cs typeface="Arial"/>
              </a:defRPr>
            </a:pPr>
            <a:r>
              <a:rPr sz="1350" b="1">
                <a:solidFill>
                  <a:srgbClr val="1F7A55"/>
                </a:solidFill>
                <a:latin typeface="Arial"/>
                <a:ea typeface="Arial"/>
                <a:cs typeface="Arial"/>
              </a:rPr>
              <a:t>05</a:t>
            </a:r>
          </a:p>
        </p:txBody>
      </p:sp>
      <p:sp>
        <p:nvSpPr>
          <p:cNvPr id="18" name="">
            <a:extLst xmlns:a="http://schemas.openxmlformats.org/drawingml/2006/main">
              <a:ext uri="{FF2B5EF4-FFF2-40B4-BE49-F238E27FC236}">
                <a16:creationId xmlns:a16="http://schemas.microsoft.com/office/drawing/2014/main" id="{7782F7DF-BA60-425A-BCD0-4002F9A30400}"/>
              </a:ext>
            </a:extLst>
          </p:cNvPr>
          <p:cNvSpPr>
            <a:spLocks xmlns:a="http://schemas.openxmlformats.org/drawingml/2006/main" noGrp="1"/>
          </p:cNvSpPr>
          <p:nvPr/>
        </p:nvSpPr>
        <p:spPr>
          <a:xfrm xmlns:a="http://schemas.openxmlformats.org/drawingml/2006/main">
            <a:off x="1171575" y="4143375"/>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17221B"/>
                </a:solidFill>
                <a:latin typeface="Arial"/>
                <a:ea typeface="Arial"/>
                <a:cs typeface="Arial"/>
              </a:defRPr>
            </a:pPr>
            <a:r>
              <a:rPr sz="1650" b="1">
                <a:solidFill>
                  <a:srgbClr val="17221B"/>
                </a:solidFill>
                <a:latin typeface="Arial"/>
                <a:ea typeface="Arial"/>
                <a:cs typeface="Arial"/>
              </a:rPr>
              <a:t>Model scope</a:t>
            </a:r>
          </a:p>
        </p:txBody>
      </p:sp>
      <p:sp>
        <p:nvSpPr>
          <p:cNvPr id="19" name="">
            <a:extLst xmlns:a="http://schemas.openxmlformats.org/drawingml/2006/main">
              <a:ext uri="{FF2B5EF4-FFF2-40B4-BE49-F238E27FC236}">
                <a16:creationId xmlns:a16="http://schemas.microsoft.com/office/drawing/2014/main" id="{DA5669EC-B01E-4994-A9E5-AC3AE1D01E05}"/>
              </a:ext>
            </a:extLst>
          </p:cNvPr>
          <p:cNvSpPr>
            <a:spLocks xmlns:a="http://schemas.openxmlformats.org/drawingml/2006/main" noGrp="1"/>
          </p:cNvSpPr>
          <p:nvPr/>
        </p:nvSpPr>
        <p:spPr>
          <a:xfrm xmlns:a="http://schemas.openxmlformats.org/drawingml/2006/main">
            <a:off x="1171575" y="4505325"/>
            <a:ext cx="4286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D6B63"/>
                </a:solidFill>
                <a:latin typeface="Arial"/>
                <a:ea typeface="Arial"/>
                <a:cs typeface="Arial"/>
              </a:defRPr>
            </a:pPr>
            <a:r>
              <a:rPr sz="1200" b="0">
                <a:solidFill>
                  <a:srgbClr val="5D6B63"/>
                </a:solidFill>
                <a:latin typeface="Arial"/>
                <a:ea typeface="Arial"/>
                <a:cs typeface="Arial"/>
              </a:rPr>
              <a:t>Only one architecture family has been trained so far.</a:t>
            </a:r>
          </a:p>
        </p:txBody>
      </p:sp>
      <p:sp>
        <p:nvSpPr>
          <p:cNvPr id="20" name="">
            <a:extLst xmlns:a="http://schemas.openxmlformats.org/drawingml/2006/main">
              <a:ext uri="{FF2B5EF4-FFF2-40B4-BE49-F238E27FC236}">
                <a16:creationId xmlns:a16="http://schemas.microsoft.com/office/drawing/2014/main" id="{7368BCAE-8477-4776-A555-A57443769EAE}"/>
              </a:ext>
            </a:extLst>
          </p:cNvPr>
          <p:cNvSpPr>
            <a:spLocks xmlns:a="http://schemas.openxmlformats.org/drawingml/2006/main" noGrp="1"/>
          </p:cNvSpPr>
          <p:nvPr/>
        </p:nvSpPr>
        <p:spPr>
          <a:xfrm xmlns:a="http://schemas.openxmlformats.org/drawingml/2006/main">
            <a:off x="6000750" y="4143375"/>
            <a:ext cx="428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350" b="1">
                <a:solidFill>
                  <a:srgbClr val="C8605A"/>
                </a:solidFill>
                <a:latin typeface="Arial"/>
                <a:ea typeface="Arial"/>
                <a:cs typeface="Arial"/>
              </a:defRPr>
            </a:pPr>
            <a:r>
              <a:rPr sz="1350" b="1">
                <a:solidFill>
                  <a:srgbClr val="C8605A"/>
                </a:solidFill>
                <a:latin typeface="Arial"/>
                <a:ea typeface="Arial"/>
                <a:cs typeface="Arial"/>
              </a:rPr>
              <a:t>06</a:t>
            </a:r>
          </a:p>
        </p:txBody>
      </p:sp>
      <p:sp>
        <p:nvSpPr>
          <p:cNvPr id="21" name="">
            <a:extLst xmlns:a="http://schemas.openxmlformats.org/drawingml/2006/main">
              <a:ext uri="{FF2B5EF4-FFF2-40B4-BE49-F238E27FC236}">
                <a16:creationId xmlns:a16="http://schemas.microsoft.com/office/drawing/2014/main" id="{44E1939E-15B4-4420-AB02-933705CE393E}"/>
              </a:ext>
            </a:extLst>
          </p:cNvPr>
          <p:cNvSpPr>
            <a:spLocks xmlns:a="http://schemas.openxmlformats.org/drawingml/2006/main" noGrp="1"/>
          </p:cNvSpPr>
          <p:nvPr/>
        </p:nvSpPr>
        <p:spPr>
          <a:xfrm xmlns:a="http://schemas.openxmlformats.org/drawingml/2006/main">
            <a:off x="6553200" y="4143375"/>
            <a:ext cx="428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650" b="1">
                <a:solidFill>
                  <a:srgbClr val="17221B"/>
                </a:solidFill>
                <a:latin typeface="Arial"/>
                <a:ea typeface="Arial"/>
                <a:cs typeface="Arial"/>
              </a:defRPr>
            </a:pPr>
            <a:r>
              <a:rPr sz="1650" b="1">
                <a:solidFill>
                  <a:srgbClr val="17221B"/>
                </a:solidFill>
                <a:latin typeface="Arial"/>
                <a:ea typeface="Arial"/>
                <a:cs typeface="Arial"/>
              </a:rPr>
              <a:t>External validity</a:t>
            </a:r>
          </a:p>
        </p:txBody>
      </p:sp>
      <p:sp>
        <p:nvSpPr>
          <p:cNvPr id="22" name="">
            <a:extLst xmlns:a="http://schemas.openxmlformats.org/drawingml/2006/main">
              <a:ext uri="{FF2B5EF4-FFF2-40B4-BE49-F238E27FC236}">
                <a16:creationId xmlns:a16="http://schemas.microsoft.com/office/drawing/2014/main" id="{36851DC7-7E1E-4B93-B1F4-3B4D710E58DE}"/>
              </a:ext>
            </a:extLst>
          </p:cNvPr>
          <p:cNvSpPr>
            <a:spLocks xmlns:a="http://schemas.openxmlformats.org/drawingml/2006/main" noGrp="1"/>
          </p:cNvSpPr>
          <p:nvPr/>
        </p:nvSpPr>
        <p:spPr>
          <a:xfrm xmlns:a="http://schemas.openxmlformats.org/drawingml/2006/main">
            <a:off x="6553200" y="4505325"/>
            <a:ext cx="4286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1200" b="0">
                <a:solidFill>
                  <a:srgbClr val="5D6B63"/>
                </a:solidFill>
                <a:latin typeface="Arial"/>
                <a:ea typeface="Arial"/>
                <a:cs typeface="Arial"/>
              </a:defRPr>
            </a:pPr>
            <a:r>
              <a:rPr sz="1200" b="0">
                <a:solidFill>
                  <a:srgbClr val="5D6B63"/>
                </a:solidFill>
                <a:latin typeface="Arial"/>
                <a:ea typeface="Arial"/>
                <a:cs typeface="Arial"/>
              </a:rPr>
              <a:t>No cross-year or full-Berlin evaluation yet.</a:t>
            </a:r>
          </a:p>
        </p:txBody>
      </p:sp>
      <p:sp>
        <p:nvSpPr>
          <p:cNvPr id="23" name="">
            <a:extLst xmlns:a="http://schemas.openxmlformats.org/drawingml/2006/main">
              <a:ext uri="{FF2B5EF4-FFF2-40B4-BE49-F238E27FC236}">
                <a16:creationId xmlns:a16="http://schemas.microsoft.com/office/drawing/2014/main" id="{EB20425C-BDA7-4633-B1E3-0C9A6FD40049}"/>
              </a:ext>
            </a:extLst>
          </p:cNvPr>
          <p:cNvSpPr>
            <a:spLocks xmlns:a="http://schemas.openxmlformats.org/drawingml/2006/main" noGrp="1"/>
          </p:cNvSpPr>
          <p:nvPr/>
        </p:nvSpPr>
        <p:spPr>
          <a:xfrm xmlns:a="http://schemas.openxmlformats.org/drawingml/2006/main">
            <a:off x="619125" y="5619750"/>
            <a:ext cx="10429875" cy="419100"/>
          </a:xfrm>
          <a:prstGeom xmlns:a="http://schemas.openxmlformats.org/drawingml/2006/main" prst="roundRect">
            <a:avLst>
              <a:gd name="adj" fmla="val 11364"/>
            </a:avLst>
          </a:prstGeom>
          <a:solidFill xmlns:a="http://schemas.openxmlformats.org/drawingml/2006/main">
            <a:srgbClr val="0E2C22"/>
          </a:solidFill>
          <a:ln xmlns:a="http://schemas.openxmlformats.org/drawingml/2006/main" w="9525">
            <a:solidFill>
              <a:srgbClr val="0E2C22"/>
            </a:solidFill>
            <a:prstDash val="solid"/>
          </a:ln>
        </p:spPr>
      </p:sp>
      <p:sp>
        <p:nvSpPr>
          <p:cNvPr id="24" name="">
            <a:extLst xmlns:a="http://schemas.openxmlformats.org/drawingml/2006/main">
              <a:ext uri="{FF2B5EF4-FFF2-40B4-BE49-F238E27FC236}">
                <a16:creationId xmlns:a16="http://schemas.microsoft.com/office/drawing/2014/main" id="{A9321AD3-D4A3-4235-ACC7-39317C589818}"/>
              </a:ext>
            </a:extLst>
          </p:cNvPr>
          <p:cNvSpPr>
            <a:spLocks xmlns:a="http://schemas.openxmlformats.org/drawingml/2006/main" noGrp="1"/>
          </p:cNvSpPr>
          <p:nvPr/>
        </p:nvSpPr>
        <p:spPr>
          <a:xfrm xmlns:a="http://schemas.openxmlformats.org/drawingml/2006/main">
            <a:off x="781050" y="5724525"/>
            <a:ext cx="10096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buNone/>
              <a:defRPr sz="1350" b="1">
                <a:solidFill>
                  <a:srgbClr val="FFFFFF"/>
                </a:solidFill>
                <a:latin typeface="Arial"/>
                <a:ea typeface="Arial"/>
                <a:cs typeface="Arial"/>
              </a:defRPr>
            </a:pPr>
            <a:r>
              <a:rPr sz="1350" b="1">
                <a:solidFill>
                  <a:srgbClr val="FFFFFF"/>
                </a:solidFill>
                <a:latin typeface="Arial"/>
                <a:ea typeface="Arial"/>
                <a:cs typeface="Arial"/>
              </a:rPr>
              <a:t>Recommended sequence: freeze threshold → test once → add DeepLabv3+ → expand geography / year.</a:t>
            </a:r>
          </a:p>
        </p:txBody>
      </p:sp>
      <p:sp>
        <p:nvSpPr>
          <p:cNvPr id="25" name="">
            <a:extLst xmlns:a="http://schemas.openxmlformats.org/drawingml/2006/main">
              <a:ext uri="{FF2B5EF4-FFF2-40B4-BE49-F238E27FC236}">
                <a16:creationId xmlns:a16="http://schemas.microsoft.com/office/drawing/2014/main" id="{B89C44A7-46C3-4C72-9845-F55C6A4FF14D}"/>
              </a:ext>
            </a:extLst>
          </p:cNvPr>
          <p:cNvSpPr>
            <a:spLocks xmlns:a="http://schemas.openxmlformats.org/drawingml/2006/main" noGrp="1"/>
          </p:cNvSpPr>
          <p:nvPr/>
        </p:nvSpPr>
        <p:spPr>
          <a:xfrm xmlns:a="http://schemas.openxmlformats.org/drawingml/2006/main">
            <a:off x="647700" y="228600"/>
            <a:ext cx="342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buNone/>
              <a:defRPr sz="900" b="1">
                <a:solidFill>
                  <a:srgbClr val="1F7A55"/>
                </a:solidFill>
                <a:latin typeface="Arial"/>
                <a:ea typeface="Arial"/>
                <a:cs typeface="Arial"/>
              </a:defRPr>
            </a:pPr>
            <a:r>
              <a:rPr sz="900" b="1">
                <a:solidFill>
                  <a:srgbClr val="1F7A55"/>
                </a:solidFill>
                <a:latin typeface="Arial"/>
                <a:ea typeface="Arial"/>
                <a:cs typeface="Arial"/>
              </a:rPr>
              <a:t>APPENDIX</a:t>
            </a:r>
          </a:p>
        </p:txBody>
      </p:sp>
      <p:sp>
        <p:nvSpPr>
          <p:cNvPr id="26" name="">
            <a:extLst xmlns:a="http://schemas.openxmlformats.org/drawingml/2006/main">
              <a:ext uri="{FF2B5EF4-FFF2-40B4-BE49-F238E27FC236}">
                <a16:creationId xmlns:a16="http://schemas.microsoft.com/office/drawing/2014/main" id="{C5488771-0CA9-44EC-AC61-23BBC6797F0F}"/>
              </a:ext>
            </a:extLst>
          </p:cNvPr>
          <p:cNvSpPr>
            <a:spLocks xmlns:a="http://schemas.openxmlformats.org/drawingml/2006/main" noGrp="1"/>
          </p:cNvSpPr>
          <p:nvPr/>
        </p:nvSpPr>
        <p:spPr>
          <a:xfrm xmlns:a="http://schemas.openxmlformats.org/drawingml/2006/main">
            <a:off x="647700" y="1257300"/>
            <a:ext cx="10839450" cy="9525"/>
          </a:xfrm>
          <a:prstGeom xmlns:a="http://schemas.openxmlformats.org/drawingml/2006/main" prst="rect">
            <a:avLst/>
          </a:prstGeom>
          <a:solidFill xmlns:a="http://schemas.openxmlformats.org/drawingml/2006/main">
            <a:srgbClr val="C6D0C9"/>
          </a:solidFill>
          <a:ln xmlns:a="http://schemas.openxmlformats.org/drawingml/2006/main" w="0">
            <a:solidFill>
              <a:srgbClr val="C6D0C9"/>
            </a:solidFill>
            <a:prstDash val="solid"/>
          </a:ln>
        </p:spPr>
      </p:sp>
    </p:spTree>
    <p:extLst>
      <p:ext uri="{BB962C8B-B14F-4D97-AF65-F5344CB8AC3E}">
        <p14:creationId xmlns:p14="http://schemas.microsoft.com/office/powerpoint/2010/main" val="20770738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2026-08-27T08:42:48.9430000Z</dcterms:created>
  <dcterms:modified xsi:type="dcterms:W3CDTF">2026-08-27T08:42:48.9430000Z</dcterms:modified>
</coreProperties>
</file>