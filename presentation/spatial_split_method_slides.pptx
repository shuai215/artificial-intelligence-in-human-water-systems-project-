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8" d="100"/>
          <a:sy n="28" d="100"/>
        </p:scale>
        <p:origin x="56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notes</a:t>
            </a:r>
          </a:p>
          <a:p>
            <a:r>
              <a:t>Each XYZ tile is mapped to a block using integer division of its x/y offset by eight. The block—not the tile—is the atomic split unit. A full interior block contains at most 64 tiles; blocks clipped by the PLZ boundary may contain fewer. Assigning the entire block to exactly one dataset split gives the hard guarantee: no block ID can occur in train, validation and test simultaneously.</a:t>
            </a:r>
          </a:p>
          <a:p>
            <a:endParaRPr/>
          </a:p>
          <a:p>
            <a:r>
              <a:t>[Sources]</a:t>
            </a:r>
          </a:p>
          <a:p>
            <a:r>
              <a:t>- E:/Artificial_Intelligence_in_water/project/code/src/green_roofs/spatial_split.py</a:t>
            </a:r>
          </a:p>
          <a:p>
            <a:r>
              <a:t>- E:/Artificial_Intelligence_in_water/project/data/processed/green_roofs_2016_plz12357/dataset_summary.json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notes</a:t>
            </a:r>
          </a:p>
          <a:p>
            <a:r>
              <a:t>The values 0.35 and 0.65 are scoring weights, not train/validation/test ratios. For each candidate split s, the code computes a normalized tile-count deficit and a normalized foreground-pixel deficit: Δtiles,s = (target tiles − assigned tiles) / target tiles; Δpixels,s = (target foreground pixels − assigned foreground pixels) / target foreground pixels. Their weighted sum favors foreground-pixel balance. The whole block goes to the split with the highest score.</a:t>
            </a:r>
          </a:p>
          <a:p>
            <a:endParaRPr/>
          </a:p>
          <a:p>
            <a:r>
              <a:t>[Sources]</a:t>
            </a:r>
          </a:p>
          <a:p>
            <a:r>
              <a:t>- E:/Artificial_Intelligence_in_water/project/code/src/green_roofs/spatial_split.py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notes</a:t>
            </a:r>
          </a:p>
          <a:p>
            <a:r>
              <a:t>The implementation first shuffles blocks with a fixed seed, then performs a stable descending sort by foreground-pixel count. The shuffle therefore provides reproducible tie-breaking for blocks with equal foreground mass. Blocks with many green-roof pixels are placed early, while the three target deficits are still large. Negative-only blocks arrive later and are governed mainly by the tile-count deficit. This is a sequential greedy heuristic; it does not solve a global optimization problem.</a:t>
            </a:r>
          </a:p>
          <a:p>
            <a:endParaRPr/>
          </a:p>
          <a:p>
            <a:r>
              <a:t>[Sources]</a:t>
            </a:r>
          </a:p>
          <a:p>
            <a:r>
              <a:t>- E:/Artificial_Intelligence_in_water/project/code/src/green_roofs/spatial_split.py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notes</a:t>
            </a:r>
          </a:p>
          <a:p>
            <a:r>
              <a:t>The hard constraint is satisfied: 38 spatial blocks are assigned exactly once, with 28 train, 5 validation and 5 test blocks and no overlap. The observed tile, positive-tile and foreground-pixel shares are close to 70/15/15, but only tile count and foreground-pixel mass occur in the score. Positive-tile balance emerged indirectly. Counts are: train 1,180 tiles, 130 positive and 1,050 negative, 439,881 foreground pixels; validation 203, 22, 181 and 105,125; test 252, 30, 222 and 98,032. A future integer-programming formulation could explicitly minimize all three deviations while preserving atomic blocks.</a:t>
            </a:r>
          </a:p>
          <a:p>
            <a:endParaRPr/>
          </a:p>
          <a:p>
            <a:r>
              <a:t>[Sources]</a:t>
            </a:r>
          </a:p>
          <a:p>
            <a:r>
              <a:t>- E:/Artificial_Intelligence_in_water/project/code/src/green_roofs/spatial_split.py</a:t>
            </a:r>
          </a:p>
          <a:p>
            <a:r>
              <a:t>- E:/Artificial_Intelligence_in_water/project/data/processed/green_roofs_2016_plz12357/dataset_summary.json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20941010-D24A-4498-B240-A704E3C8B09B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SPATIAL SPLIT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2A6103E-542A-45B8-9C26-D41E7B793A7B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An 8 × 8 block is the indivisible split unit</a:t>
            </a:r>
          </a:p>
        </p:txBody>
      </p:sp>
      <p:cxnSp>
        <p:nvCxnSpPr>
          <p:cNvPr id="65" name="直接箭头连接符 64"/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67D27282-AC98-4E9F-9DC9-CEFDDD4AAC11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660B49-AB66-4F6A-9C0C-EC2C52F23733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cxnSp>
        <p:nvCxnSpPr>
          <p:cNvPr id="68" name="直接箭头连接符 67"/>
          <p:cNvCxnSpPr/>
          <p:nvPr/>
        </p:nvCxnSpPr>
        <p:spPr>
          <a:xfrm>
            <a:off x="666750" y="2171700"/>
            <a:ext cx="2857500" cy="0"/>
          </a:xfrm>
          <a:prstGeom prst="straightConnector1">
            <a:avLst/>
          </a:prstGeom>
          <a:ln w="19050">
            <a:solidFill>
              <a:srgbClr val="C6D0C9"/>
            </a:solidFill>
            <a:prstDash val="solid"/>
          </a:ln>
        </p:spPr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39BD6243-6EA0-46B5-B44A-AA0DE02C8D8D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Tile coordinates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05D497-3304-42CB-BFD5-A5DEA73C0FC5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28575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block_x = (x − min_x) // 8
block_y = (y − min_y) // 8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819946-1F6F-4B81-A7CF-71D8995708C3}"/>
              </a:ext>
            </a:extLst>
          </p:cNvPr>
          <p:cNvSpPr>
            <a:spLocks noGrp="1"/>
          </p:cNvSpPr>
          <p:nvPr/>
        </p:nvSpPr>
        <p:spPr>
          <a:xfrm>
            <a:off x="4248150" y="1638300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188F9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8F9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cxnSp>
        <p:nvCxnSpPr>
          <p:cNvPr id="72" name="直接箭头连接符 71"/>
          <p:cNvCxnSpPr/>
          <p:nvPr/>
        </p:nvCxnSpPr>
        <p:spPr>
          <a:xfrm>
            <a:off x="4248150" y="2171700"/>
            <a:ext cx="2857500" cy="0"/>
          </a:xfrm>
          <a:prstGeom prst="straightConnector1">
            <a:avLst/>
          </a:prstGeom>
          <a:ln w="19050">
            <a:solidFill>
              <a:srgbClr val="C6D0C9"/>
            </a:solidFill>
            <a:prstDash val="solid"/>
          </a:ln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BA6623A7-DF50-4341-9B36-5A58D3925396}"/>
              </a:ext>
            </a:extLst>
          </p:cNvPr>
          <p:cNvSpPr>
            <a:spLocks noGrp="1"/>
          </p:cNvSpPr>
          <p:nvPr/>
        </p:nvSpPr>
        <p:spPr>
          <a:xfrm>
            <a:off x="4248150" y="24574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Spatial block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F441C4-BED6-41D7-BE66-338495841A07}"/>
              </a:ext>
            </a:extLst>
          </p:cNvPr>
          <p:cNvSpPr>
            <a:spLocks noGrp="1"/>
          </p:cNvSpPr>
          <p:nvPr/>
        </p:nvSpPr>
        <p:spPr>
          <a:xfrm>
            <a:off x="4248150" y="3067050"/>
            <a:ext cx="28575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Neighbouring XYZ tiles share one block ID; boundary blocks may contain fewer than 64 tiles.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E8B139-E560-4B15-B95F-1B33FD2DBFEA}"/>
              </a:ext>
            </a:extLst>
          </p:cNvPr>
          <p:cNvSpPr>
            <a:spLocks noGrp="1"/>
          </p:cNvSpPr>
          <p:nvPr/>
        </p:nvSpPr>
        <p:spPr>
          <a:xfrm>
            <a:off x="7829550" y="1638300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76" name="直接箭头连接符 75"/>
          <p:cNvCxnSpPr/>
          <p:nvPr/>
        </p:nvCxnSpPr>
        <p:spPr>
          <a:xfrm>
            <a:off x="7829550" y="2171700"/>
            <a:ext cx="2857500" cy="0"/>
          </a:xfrm>
          <a:prstGeom prst="straightConnector1">
            <a:avLst/>
          </a:prstGeom>
          <a:ln w="19050">
            <a:solidFill>
              <a:srgbClr val="C6D0C9"/>
            </a:solidFill>
            <a:prstDash val="soli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BE2A3E6C-25BA-4DDB-AEC1-13068CB0A9DC}"/>
              </a:ext>
            </a:extLst>
          </p:cNvPr>
          <p:cNvSpPr>
            <a:spLocks noGrp="1"/>
          </p:cNvSpPr>
          <p:nvPr/>
        </p:nvSpPr>
        <p:spPr>
          <a:xfrm>
            <a:off x="7829550" y="24574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Atomic assignment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3D8AD7-0A86-4533-9C13-D4A1EACE5A3C}"/>
              </a:ext>
            </a:extLst>
          </p:cNvPr>
          <p:cNvSpPr>
            <a:spLocks noGrp="1"/>
          </p:cNvSpPr>
          <p:nvPr/>
        </p:nvSpPr>
        <p:spPr>
          <a:xfrm>
            <a:off x="7829550" y="3067050"/>
            <a:ext cx="28575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Every block enters train, validation or test as a whole.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6C9DC11-E787-42D5-808C-366E1088E0C0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10020300" cy="714375"/>
          </a:xfrm>
          <a:prstGeom prst="roundRect">
            <a:avLst>
              <a:gd name="adj" fmla="val 10667"/>
            </a:avLst>
          </a:prstGeom>
          <a:solidFill>
            <a:srgbClr val="EDF5F0"/>
          </a:solidFill>
          <a:ln w="9525">
            <a:solidFill>
              <a:srgbClr val="EDF5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ECC340-1B42-4904-AF64-75FC4B935C4B}"/>
              </a:ext>
            </a:extLst>
          </p:cNvPr>
          <p:cNvSpPr>
            <a:spLocks noGrp="1"/>
          </p:cNvSpPr>
          <p:nvPr/>
        </p:nvSpPr>
        <p:spPr>
          <a:xfrm>
            <a:off x="876300" y="515302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Hard constraint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23ECFD7-7BC9-48F1-8E74-9344147357A7}"/>
              </a:ext>
            </a:extLst>
          </p:cNvPr>
          <p:cNvSpPr>
            <a:spLocks noGrp="1"/>
          </p:cNvSpPr>
          <p:nvPr/>
        </p:nvSpPr>
        <p:spPr>
          <a:xfrm>
            <a:off x="2381250" y="5105400"/>
            <a:ext cx="7953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No block ID appears in more than one split.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503F859-BAD8-4BBE-B98B-3284DC494CD8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9906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Source: spatial_split.py · 8 × 8 XYZ-tile blocks</a:t>
            </a:r>
          </a:p>
        </p:txBody>
      </p:sp>
    </p:spTree>
    <p:extLst>
      <p:ext uri="{BB962C8B-B14F-4D97-AF65-F5344CB8AC3E}">
        <p14:creationId xmlns:p14="http://schemas.microsoft.com/office/powerpoint/2010/main" val="1153848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B9EFFA45-EE4F-4A2D-BD60-C3B23DC66390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SPATIAL SPLIT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F7C60B-999C-4082-BD66-2583BDBF8594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The split score prioritizes foreground balance</a:t>
            </a:r>
          </a:p>
        </p:txBody>
      </p:sp>
      <p:cxnSp>
        <p:nvCxnSpPr>
          <p:cNvPr id="44" name="直接箭头连接符 43"/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9762C9E3-BAD6-4A48-8645-807E3A91D16A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309417-43F0-4744-8BBF-089F95900BEC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Target ratios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EE1EF7-1EC4-4D6C-82EA-143518154FDA}"/>
              </a:ext>
            </a:extLst>
          </p:cNvPr>
          <p:cNvSpPr>
            <a:spLocks noGrp="1"/>
          </p:cNvSpPr>
          <p:nvPr/>
        </p:nvSpPr>
        <p:spPr>
          <a:xfrm>
            <a:off x="2305050" y="1504950"/>
            <a:ext cx="857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Train 70% · Validation 15% · Test 15%</a:t>
            </a:r>
          </a:p>
        </p:txBody>
      </p:sp>
      <p:cxnSp>
        <p:nvCxnSpPr>
          <p:cNvPr id="48" name="直接箭头连接符 47"/>
          <p:cNvCxnSpPr/>
          <p:nvPr/>
        </p:nvCxnSpPr>
        <p:spPr>
          <a:xfrm>
            <a:off x="609600" y="2114550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845C914-10F8-4AE3-B849-6E059CF3090F}"/>
              </a:ext>
            </a:extLst>
          </p:cNvPr>
          <p:cNvSpPr>
            <a:spLocks noGrp="1"/>
          </p:cNvSpPr>
          <p:nvPr/>
        </p:nvSpPr>
        <p:spPr>
          <a:xfrm>
            <a:off x="904875" y="2571750"/>
            <a:ext cx="4429125" cy="2333625"/>
          </a:xfrm>
          <a:prstGeom prst="roundRect">
            <a:avLst>
              <a:gd name="adj" fmla="val 3265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42EBCDB-F109-4C36-8032-7099534AB140}"/>
              </a:ext>
            </a:extLst>
          </p:cNvPr>
          <p:cNvSpPr>
            <a:spLocks noGrp="1"/>
          </p:cNvSpPr>
          <p:nvPr/>
        </p:nvSpPr>
        <p:spPr>
          <a:xfrm>
            <a:off x="1143000" y="2800350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CDE8D6"/>
          </a:solidFill>
          <a:ln w="9525">
            <a:solidFill>
              <a:srgbClr val="CDE8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496A10-2C07-40B1-A1CD-B64E8EF9D7AB}"/>
              </a:ext>
            </a:extLst>
          </p:cNvPr>
          <p:cNvSpPr>
            <a:spLocks noGrp="1"/>
          </p:cNvSpPr>
          <p:nvPr/>
        </p:nvSpPr>
        <p:spPr>
          <a:xfrm>
            <a:off x="1257300" y="2867025"/>
            <a:ext cx="819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TILE COUNT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CBE6419-CDC9-482B-8ABC-01D04BFE0A2D}"/>
              </a:ext>
            </a:extLst>
          </p:cNvPr>
          <p:cNvSpPr>
            <a:spLocks noGrp="1"/>
          </p:cNvSpPr>
          <p:nvPr/>
        </p:nvSpPr>
        <p:spPr>
          <a:xfrm>
            <a:off x="1143000" y="33718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0.35 × tile deficit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B14078-9BD8-4F80-B570-83FB88460A52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Normalized shortfall from the target number of tiles.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19F7B39-0CE7-4B3C-9AF3-1389FF2AD4DF}"/>
              </a:ext>
            </a:extLst>
          </p:cNvPr>
          <p:cNvSpPr>
            <a:spLocks noGrp="1"/>
          </p:cNvSpPr>
          <p:nvPr/>
        </p:nvSpPr>
        <p:spPr>
          <a:xfrm>
            <a:off x="6858000" y="2571750"/>
            <a:ext cx="4429125" cy="2333625"/>
          </a:xfrm>
          <a:prstGeom prst="roundRect">
            <a:avLst>
              <a:gd name="adj" fmla="val 3265"/>
            </a:avLst>
          </a:prstGeom>
          <a:solidFill>
            <a:srgbClr val="F7EDED"/>
          </a:solidFill>
          <a:ln w="9525">
            <a:solidFill>
              <a:srgbClr val="F7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306202F-5EFF-49D5-80E4-7B473075A716}"/>
              </a:ext>
            </a:extLst>
          </p:cNvPr>
          <p:cNvSpPr>
            <a:spLocks noGrp="1"/>
          </p:cNvSpPr>
          <p:nvPr/>
        </p:nvSpPr>
        <p:spPr>
          <a:xfrm>
            <a:off x="7096125" y="2800350"/>
            <a:ext cx="1679660" cy="285750"/>
          </a:xfrm>
          <a:prstGeom prst="roundRect">
            <a:avLst>
              <a:gd name="adj" fmla="val 50000"/>
            </a:avLst>
          </a:prstGeom>
          <a:solidFill>
            <a:srgbClr val="F0D6D3"/>
          </a:solidFill>
          <a:ln w="9525">
            <a:solidFill>
              <a:srgbClr val="F0D6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B28B7B-C7E6-4516-AEE0-B4698A271254}"/>
              </a:ext>
            </a:extLst>
          </p:cNvPr>
          <p:cNvSpPr>
            <a:spLocks noGrp="1"/>
          </p:cNvSpPr>
          <p:nvPr/>
        </p:nvSpPr>
        <p:spPr>
          <a:xfrm>
            <a:off x="7153275" y="2862263"/>
            <a:ext cx="156536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112"/>
          </a:bodyPr>
          <a:lstStyle/>
          <a:p>
            <a:pPr algn="ctr">
              <a:buNone/>
              <a:defRPr sz="900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900" b="1" dirty="0">
                <a:solidFill>
                  <a:srgbClr val="C8605A"/>
                </a:solidFill>
                <a:latin typeface="Arial"/>
                <a:ea typeface="Arial"/>
                <a:cs typeface="Arial"/>
              </a:rPr>
              <a:t>FOREGROUND PIXELS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5B834A4-C9AE-43E6-95C5-76DE1041956B}"/>
              </a:ext>
            </a:extLst>
          </p:cNvPr>
          <p:cNvSpPr>
            <a:spLocks noGrp="1"/>
          </p:cNvSpPr>
          <p:nvPr/>
        </p:nvSpPr>
        <p:spPr>
          <a:xfrm>
            <a:off x="7096125" y="33718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0.65 × pixel deficit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A730A49-54B5-4A30-965E-CA215A01D145}"/>
              </a:ext>
            </a:extLst>
          </p:cNvPr>
          <p:cNvSpPr>
            <a:spLocks noGrp="1"/>
          </p:cNvSpPr>
          <p:nvPr/>
        </p:nvSpPr>
        <p:spPr>
          <a:xfrm>
            <a:off x="7096125" y="3848100"/>
            <a:ext cx="371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Normalized shortfall from the target green-roof pixel mass.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B5101C0-15C9-49FD-B565-2853EF3028C2}"/>
              </a:ext>
            </a:extLst>
          </p:cNvPr>
          <p:cNvSpPr>
            <a:spLocks noGrp="1"/>
          </p:cNvSpPr>
          <p:nvPr/>
        </p:nvSpPr>
        <p:spPr>
          <a:xfrm>
            <a:off x="5791200" y="3333750"/>
            <a:ext cx="609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CC37275-A665-4E57-85C5-C91D8ECBDF41}"/>
              </a:ext>
            </a:extLst>
          </p:cNvPr>
          <p:cNvSpPr>
            <a:spLocks noGrp="1"/>
          </p:cNvSpPr>
          <p:nvPr/>
        </p:nvSpPr>
        <p:spPr>
          <a:xfrm>
            <a:off x="904875" y="5257800"/>
            <a:ext cx="10382250" cy="514350"/>
          </a:xfrm>
          <a:prstGeom prst="roundRect">
            <a:avLst>
              <a:gd name="adj" fmla="val 9259"/>
            </a:avLst>
          </a:prstGeom>
          <a:solidFill>
            <a:srgbClr val="0E2C22"/>
          </a:solidFill>
          <a:ln w="9525">
            <a:solidFill>
              <a:srgbClr val="0E2C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C14171-65D7-45F6-9FAC-54228BFD5E34}"/>
              </a:ext>
            </a:extLst>
          </p:cNvPr>
          <p:cNvSpPr>
            <a:spLocks noGrp="1"/>
          </p:cNvSpPr>
          <p:nvPr/>
        </p:nvSpPr>
        <p:spPr>
          <a:xfrm>
            <a:off x="1143000" y="5381625"/>
            <a:ext cx="990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scoreₛ = 0.35 Δtiles,s + 0.65 Δpixels,s · highest score receives the whole block</a:t>
            </a:r>
          </a:p>
        </p:txBody>
      </p:sp>
    </p:spTree>
    <p:extLst>
      <p:ext uri="{BB962C8B-B14F-4D97-AF65-F5344CB8AC3E}">
        <p14:creationId xmlns:p14="http://schemas.microsoft.com/office/powerpoint/2010/main" val="1890560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285FB413-445C-416B-A29F-CD8D316A50E2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SPATIAL SPLIT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6F5B81-C44D-442A-ADAF-A502D7062533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Foreground-rich blocks are assigned first</a:t>
            </a:r>
          </a:p>
        </p:txBody>
      </p:sp>
      <p:cxnSp>
        <p:nvCxnSpPr>
          <p:cNvPr id="54" name="直接箭头连接符 53"/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2136952A-3EAB-435B-BF00-03A2564E2F79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14426B-DBF2-41AC-A7C5-8AA0F6130481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STEP 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2525B7-2B04-4F02-89FE-33B9BDEBE792}"/>
              </a:ext>
            </a:extLst>
          </p:cNvPr>
          <p:cNvSpPr>
            <a:spLocks noGrp="1"/>
          </p:cNvSpPr>
          <p:nvPr/>
        </p:nvSpPr>
        <p:spPr>
          <a:xfrm>
            <a:off x="1666875" y="1600200"/>
            <a:ext cx="9239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Shuffle blocks with seed 42, then sort them by foreground-pixel count from high to low.</a:t>
            </a:r>
          </a:p>
        </p:txBody>
      </p:sp>
      <p:cxnSp>
        <p:nvCxnSpPr>
          <p:cNvPr id="58" name="直接箭头连接符 57"/>
          <p:cNvCxnSpPr/>
          <p:nvPr/>
        </p:nvCxnSpPr>
        <p:spPr>
          <a:xfrm>
            <a:off x="609600" y="2609850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24532B0D-8802-4207-9BC3-A3311F2C2A94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STEP 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5624AF3-A114-4E7D-AADC-1086C2266834}"/>
              </a:ext>
            </a:extLst>
          </p:cNvPr>
          <p:cNvSpPr>
            <a:spLocks noGrp="1"/>
          </p:cNvSpPr>
          <p:nvPr/>
        </p:nvSpPr>
        <p:spPr>
          <a:xfrm>
            <a:off x="1666875" y="2943225"/>
            <a:ext cx="9239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For each block, score train, validation and test; assign the block to the highest-scoring split.</a:t>
            </a:r>
          </a:p>
        </p:txBody>
      </p:sp>
      <p:cxnSp>
        <p:nvCxnSpPr>
          <p:cNvPr id="61" name="直接箭头连接符 60"/>
          <p:cNvCxnSpPr/>
          <p:nvPr/>
        </p:nvCxnSpPr>
        <p:spPr>
          <a:xfrm>
            <a:off x="609600" y="3990975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99B60846-1018-47A0-907A-9D33A6F28F1D}"/>
              </a:ext>
            </a:extLst>
          </p:cNvPr>
          <p:cNvSpPr>
            <a:spLocks noGrp="1"/>
          </p:cNvSpPr>
          <p:nvPr/>
        </p:nvSpPr>
        <p:spPr>
          <a:xfrm>
            <a:off x="609600" y="442912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Method properties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4C9B244-8BF0-4CDE-A3CF-B359B27C1232}"/>
              </a:ext>
            </a:extLst>
          </p:cNvPr>
          <p:cNvSpPr>
            <a:spLocks noGrp="1"/>
          </p:cNvSpPr>
          <p:nvPr/>
        </p:nvSpPr>
        <p:spPr>
          <a:xfrm>
            <a:off x="2095500" y="4467225"/>
            <a:ext cx="114300" cy="114300"/>
          </a:xfrm>
          <a:prstGeom prst="ellipse">
            <a:avLst/>
          </a:prstGeom>
          <a:solidFill>
            <a:srgbClr val="1F7A55"/>
          </a:solidFill>
          <a:ln w="0">
            <a:solidFill>
              <a:srgbClr val="1F7A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11698FE-7DFA-4FCE-85CB-CA30BA5E74DC}"/>
              </a:ext>
            </a:extLst>
          </p:cNvPr>
          <p:cNvSpPr>
            <a:spLocks noGrp="1"/>
          </p:cNvSpPr>
          <p:nvPr/>
        </p:nvSpPr>
        <p:spPr>
          <a:xfrm>
            <a:off x="2286000" y="44005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Positive-rich first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59D1E6-76C7-472D-8E47-186EFDB12046}"/>
              </a:ext>
            </a:extLst>
          </p:cNvPr>
          <p:cNvSpPr>
            <a:spLocks noGrp="1"/>
          </p:cNvSpPr>
          <p:nvPr/>
        </p:nvSpPr>
        <p:spPr>
          <a:xfrm>
            <a:off x="4438650" y="4467225"/>
            <a:ext cx="114300" cy="114300"/>
          </a:xfrm>
          <a:prstGeom prst="ellipse">
            <a:avLst/>
          </a:prstGeom>
          <a:solidFill>
            <a:srgbClr val="188F91"/>
          </a:solidFill>
          <a:ln w="0">
            <a:solidFill>
              <a:srgbClr val="188F9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C08A68-9B2B-4D6B-A627-013221B50FF6}"/>
              </a:ext>
            </a:extLst>
          </p:cNvPr>
          <p:cNvSpPr>
            <a:spLocks noGrp="1"/>
          </p:cNvSpPr>
          <p:nvPr/>
        </p:nvSpPr>
        <p:spPr>
          <a:xfrm>
            <a:off x="4629150" y="44005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Whole-block placement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878E950-C89C-466C-9674-BF7F8DE5517A}"/>
              </a:ext>
            </a:extLst>
          </p:cNvPr>
          <p:cNvSpPr>
            <a:spLocks noGrp="1"/>
          </p:cNvSpPr>
          <p:nvPr/>
        </p:nvSpPr>
        <p:spPr>
          <a:xfrm>
            <a:off x="6781800" y="4467225"/>
            <a:ext cx="114300" cy="114300"/>
          </a:xfrm>
          <a:prstGeom prst="ellipse">
            <a:avLst/>
          </a:prstGeom>
          <a:solidFill>
            <a:srgbClr val="4B739B"/>
          </a:solidFill>
          <a:ln w="0">
            <a:solidFill>
              <a:srgbClr val="4B739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FEE845-58A8-4272-B532-FA90B6C9BB68}"/>
              </a:ext>
            </a:extLst>
          </p:cNvPr>
          <p:cNvSpPr>
            <a:spLocks noGrp="1"/>
          </p:cNvSpPr>
          <p:nvPr/>
        </p:nvSpPr>
        <p:spPr>
          <a:xfrm>
            <a:off x="6972300" y="44005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Deterministic seed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FF338B89-D40E-46D5-9F46-7B370946A270}"/>
              </a:ext>
            </a:extLst>
          </p:cNvPr>
          <p:cNvSpPr>
            <a:spLocks noGrp="1"/>
          </p:cNvSpPr>
          <p:nvPr/>
        </p:nvSpPr>
        <p:spPr>
          <a:xfrm>
            <a:off x="9124950" y="4467225"/>
            <a:ext cx="114300" cy="114300"/>
          </a:xfrm>
          <a:prstGeom prst="ellipse">
            <a:avLst/>
          </a:prstGeom>
          <a:solidFill>
            <a:srgbClr val="C8605A"/>
          </a:solidFill>
          <a:ln w="0">
            <a:solidFill>
              <a:srgbClr val="C860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3F6109E-62E0-49DC-AA7C-36FB11BEDB2A}"/>
              </a:ext>
            </a:extLst>
          </p:cNvPr>
          <p:cNvSpPr>
            <a:spLocks noGrp="1"/>
          </p:cNvSpPr>
          <p:nvPr/>
        </p:nvSpPr>
        <p:spPr>
          <a:xfrm>
            <a:off x="9315450" y="44005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Greedy—not global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8381846-3FF4-4A2A-8EA7-1505246E627E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287000" cy="552450"/>
          </a:xfrm>
          <a:prstGeom prst="roundRect">
            <a:avLst>
              <a:gd name="adj" fmla="val 10345"/>
            </a:avLst>
          </a:prstGeom>
          <a:solidFill>
            <a:srgbClr val="0E2C22"/>
          </a:solidFill>
          <a:ln w="9525">
            <a:solidFill>
              <a:srgbClr val="0E2C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A762681-A9A9-4219-92EE-E7569EBE7C9E}"/>
              </a:ext>
            </a:extLst>
          </p:cNvPr>
          <p:cNvSpPr>
            <a:spLocks noGrp="1"/>
          </p:cNvSpPr>
          <p:nvPr/>
        </p:nvSpPr>
        <p:spPr>
          <a:xfrm>
            <a:off x="838200" y="5381625"/>
            <a:ext cx="9829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Ordering reduces the risk that large green-roof blocks accumulate in one split.</a:t>
            </a:r>
          </a:p>
        </p:txBody>
      </p:sp>
    </p:spTree>
    <p:extLst>
      <p:ext uri="{BB962C8B-B14F-4D97-AF65-F5344CB8AC3E}">
        <p14:creationId xmlns:p14="http://schemas.microsoft.com/office/powerpoint/2010/main" val="56129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88C03C12-FA3A-40D3-AE68-DAA3793C6562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SPATIAL SPLIT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E1AF0D-C08A-4AE5-A9F8-3FAE8FFB4F38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The frozen split is balanced—but not exactly constrained</a:t>
            </a:r>
          </a:p>
        </p:txBody>
      </p:sp>
      <p:cxnSp>
        <p:nvCxnSpPr>
          <p:cNvPr id="86" name="直接箭头连接符 85"/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C0CB13CD-8D9A-4BB0-8DC7-183291CEC6CD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A4</a:t>
            </a:r>
          </a:p>
        </p:txBody>
      </p:sp>
      <p:cxnSp>
        <p:nvCxnSpPr>
          <p:cNvPr id="88" name="直接箭头连接符 87"/>
          <p:cNvCxnSpPr/>
          <p:nvPr/>
        </p:nvCxnSpPr>
        <p:spPr>
          <a:xfrm>
            <a:off x="666750" y="2047875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DBF015B1-8D2A-4C88-81B8-3157A3BE176F}"/>
              </a:ext>
            </a:extLst>
          </p:cNvPr>
          <p:cNvSpPr>
            <a:spLocks noGrp="1"/>
          </p:cNvSpPr>
          <p:nvPr/>
        </p:nvSpPr>
        <p:spPr>
          <a:xfrm>
            <a:off x="742950" y="16764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Hard constraint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9E1102-BEAA-4371-A09F-8C39B9641B51}"/>
              </a:ext>
            </a:extLst>
          </p:cNvPr>
          <p:cNvSpPr>
            <a:spLocks noGrp="1"/>
          </p:cNvSpPr>
          <p:nvPr/>
        </p:nvSpPr>
        <p:spPr>
          <a:xfrm>
            <a:off x="3143250" y="1619250"/>
            <a:ext cx="752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38 blocks assigned once · 28 / 5 / 5 · no overlap</a:t>
            </a:r>
          </a:p>
        </p:txBody>
      </p:sp>
      <p:cxnSp>
        <p:nvCxnSpPr>
          <p:cNvPr id="91" name="直接箭头连接符 90"/>
          <p:cNvCxnSpPr/>
          <p:nvPr/>
        </p:nvCxnSpPr>
        <p:spPr>
          <a:xfrm>
            <a:off x="666750" y="2714625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FEC2A919-7EA2-4DF2-B196-88663E8AF4C7}"/>
              </a:ext>
            </a:extLst>
          </p:cNvPr>
          <p:cNvSpPr>
            <a:spLocks noGrp="1"/>
          </p:cNvSpPr>
          <p:nvPr/>
        </p:nvSpPr>
        <p:spPr>
          <a:xfrm>
            <a:off x="742950" y="23431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Tile share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079FAE-AA37-40C4-AC12-12F62EC841B8}"/>
              </a:ext>
            </a:extLst>
          </p:cNvPr>
          <p:cNvSpPr>
            <a:spLocks noGrp="1"/>
          </p:cNvSpPr>
          <p:nvPr/>
        </p:nvSpPr>
        <p:spPr>
          <a:xfrm>
            <a:off x="3143250" y="2286000"/>
            <a:ext cx="752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72.17% / 12.42% / 15.41%</a:t>
            </a:r>
          </a:p>
        </p:txBody>
      </p:sp>
      <p:cxnSp>
        <p:nvCxnSpPr>
          <p:cNvPr id="94" name="直接箭头连接符 93"/>
          <p:cNvCxnSpPr/>
          <p:nvPr/>
        </p:nvCxnSpPr>
        <p:spPr>
          <a:xfrm>
            <a:off x="666750" y="3381375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233C38C6-AF5B-45ED-AE8E-7A6F030B527F}"/>
              </a:ext>
            </a:extLst>
          </p:cNvPr>
          <p:cNvSpPr>
            <a:spLocks noGrp="1"/>
          </p:cNvSpPr>
          <p:nvPr/>
        </p:nvSpPr>
        <p:spPr>
          <a:xfrm>
            <a:off x="742950" y="30099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Positive tiles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03479E-9B3D-42B0-9F7B-F7BFAD32518C}"/>
              </a:ext>
            </a:extLst>
          </p:cNvPr>
          <p:cNvSpPr>
            <a:spLocks noGrp="1"/>
          </p:cNvSpPr>
          <p:nvPr/>
        </p:nvSpPr>
        <p:spPr>
          <a:xfrm>
            <a:off x="3143250" y="2952750"/>
            <a:ext cx="752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71.43% / 12.09% / 16.48%</a:t>
            </a:r>
          </a:p>
        </p:txBody>
      </p:sp>
      <p:cxnSp>
        <p:nvCxnSpPr>
          <p:cNvPr id="97" name="直接箭头连接符 96"/>
          <p:cNvCxnSpPr/>
          <p:nvPr/>
        </p:nvCxnSpPr>
        <p:spPr>
          <a:xfrm>
            <a:off x="666750" y="4048125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15C42CEB-FA0D-4B95-B6E4-F7461DC716D3}"/>
              </a:ext>
            </a:extLst>
          </p:cNvPr>
          <p:cNvSpPr>
            <a:spLocks noGrp="1"/>
          </p:cNvSpPr>
          <p:nvPr/>
        </p:nvSpPr>
        <p:spPr>
          <a:xfrm>
            <a:off x="742950" y="36766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Foreground pixels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89B995F-EE83-4255-B075-A7FB36D68C35}"/>
              </a:ext>
            </a:extLst>
          </p:cNvPr>
          <p:cNvSpPr>
            <a:spLocks noGrp="1"/>
          </p:cNvSpPr>
          <p:nvPr/>
        </p:nvSpPr>
        <p:spPr>
          <a:xfrm>
            <a:off x="3143250" y="3619500"/>
            <a:ext cx="752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68.41% / 16.35% / 15.25%</a:t>
            </a:r>
          </a:p>
        </p:txBody>
      </p:sp>
      <p:cxnSp>
        <p:nvCxnSpPr>
          <p:cNvPr id="100" name="直接箭头连接符 99"/>
          <p:cNvCxnSpPr/>
          <p:nvPr/>
        </p:nvCxnSpPr>
        <p:spPr>
          <a:xfrm>
            <a:off x="666750" y="4714875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B2567192-5DD1-49E7-9F3C-1B2BCEB2FA63}"/>
              </a:ext>
            </a:extLst>
          </p:cNvPr>
          <p:cNvSpPr>
            <a:spLocks noGrp="1"/>
          </p:cNvSpPr>
          <p:nvPr/>
        </p:nvSpPr>
        <p:spPr>
          <a:xfrm>
            <a:off x="742950" y="43434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Tile counts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77E3FD4-25EB-4B0A-A341-2714E269D1DB}"/>
              </a:ext>
            </a:extLst>
          </p:cNvPr>
          <p:cNvSpPr>
            <a:spLocks noGrp="1"/>
          </p:cNvSpPr>
          <p:nvPr/>
        </p:nvSpPr>
        <p:spPr>
          <a:xfrm>
            <a:off x="3143250" y="4286250"/>
            <a:ext cx="752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1,180 / 203 / 252</a:t>
            </a:r>
          </a:p>
        </p:txBody>
      </p:sp>
      <p:cxnSp>
        <p:nvCxnSpPr>
          <p:cNvPr id="103" name="直接箭头连接符 102"/>
          <p:cNvCxnSpPr/>
          <p:nvPr/>
        </p:nvCxnSpPr>
        <p:spPr>
          <a:xfrm>
            <a:off x="666750" y="5381625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192621C4-1075-48E1-A154-7CBF1BEBC6C7}"/>
              </a:ext>
            </a:extLst>
          </p:cNvPr>
          <p:cNvSpPr>
            <a:spLocks noGrp="1"/>
          </p:cNvSpPr>
          <p:nvPr/>
        </p:nvSpPr>
        <p:spPr>
          <a:xfrm>
            <a:off x="742950" y="50101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07A70EC-0E5F-45E2-9A23-7157AD686CDD}"/>
              </a:ext>
            </a:extLst>
          </p:cNvPr>
          <p:cNvSpPr>
            <a:spLocks noGrp="1"/>
          </p:cNvSpPr>
          <p:nvPr/>
        </p:nvSpPr>
        <p:spPr>
          <a:xfrm>
            <a:off x="3143250" y="4953000"/>
            <a:ext cx="752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Positive-tile balance is indirect, not optimized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AEE21D6-A227-475C-A4D6-48DDC23A22D0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9906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Order: train / validation / test · target ratio: 70 / 15 / 15%</a:t>
            </a:r>
          </a:p>
        </p:txBody>
      </p:sp>
    </p:spTree>
    <p:extLst>
      <p:ext uri="{BB962C8B-B14F-4D97-AF65-F5344CB8AC3E}">
        <p14:creationId xmlns:p14="http://schemas.microsoft.com/office/powerpoint/2010/main" val="6079797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878</Words>
  <Application>Microsoft Office PowerPoint</Application>
  <DocSecurity>0</DocSecurity>
  <PresentationFormat>宽屏</PresentationFormat>
  <Paragraphs>79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TU-Pseudonym 17808513363544437816860540166</cp:lastModifiedBy>
  <cp:revision>1</cp:revision>
  <dcterms:created xsi:type="dcterms:W3CDTF">2026-08-27T13:27:09Z</dcterms:created>
  <dcterms:modified xsi:type="dcterms:W3CDTF">2026-08-27T13:55:11Z</dcterms:modified>
</cp:coreProperties>
</file>