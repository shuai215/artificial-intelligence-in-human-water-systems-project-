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75" r:id="rId3"/>
    <p:sldId id="263" r:id="rId4"/>
    <p:sldId id="257" r:id="rId5"/>
    <p:sldId id="258" r:id="rId6"/>
    <p:sldId id="259" r:id="rId7"/>
    <p:sldId id="260" r:id="rId8"/>
    <p:sldId id="261" r:id="rId9"/>
    <p:sldId id="262" r:id="rId10"/>
    <p:sldId id="278" r:id="rId11"/>
    <p:sldId id="277" r:id="rId12"/>
    <p:sldId id="279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6" r:id="rId24"/>
    <p:sldId id="27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42" autoAdjust="0"/>
    <p:restoredTop sz="89844" autoAdjust="0"/>
  </p:normalViewPr>
  <p:slideViewPr>
    <p:cSldViewPr snapToGrid="0">
      <p:cViewPr varScale="1">
        <p:scale>
          <a:sx n="93" d="100"/>
          <a:sy n="93" d="100"/>
        </p:scale>
        <p:origin x="1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Tiles</c:v>
          </c:tx>
          <c:spPr>
            <a:solidFill>
              <a:srgbClr val="1F7A5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7221B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Positive tiles</c:v>
              </c:pt>
              <c:pt idx="1">
                <c:v>Negative-only tiles</c:v>
              </c:pt>
            </c:strLit>
          </c:cat>
          <c:val>
            <c:numLit>
              <c:formatCode>General</c:formatCode>
              <c:ptCount val="2"/>
              <c:pt idx="0">
                <c:v>182</c:v>
              </c:pt>
              <c:pt idx="1">
                <c:v>1453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ACF-41D7-95A2-5A6BC3AAB5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C6D0C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D6B63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6D0C9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7221B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All-tile</c:v>
                </c:pt>
              </c:strCache>
            </c:strRef>
          </c:tx>
          <c:spPr>
            <a:solidFill>
              <a:srgbClr val="1F7A5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221B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Dice</c:v>
                </c:pt>
                <c:pt idx="1">
                  <c:v>Precision</c:v>
                </c:pt>
                <c:pt idx="2">
                  <c:v>Recall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47.54</c:v>
                </c:pt>
                <c:pt idx="1">
                  <c:v>49.81</c:v>
                </c:pt>
                <c:pt idx="2">
                  <c:v>45.47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DD7-40A5-8E70-CAF4C16561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Positive-only</c:v>
                </c:pt>
              </c:strCache>
            </c:strRef>
          </c:tx>
          <c:spPr>
            <a:solidFill>
              <a:srgbClr val="D9899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221B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Dice</c:v>
                </c:pt>
                <c:pt idx="1">
                  <c:v>Precision</c:v>
                </c:pt>
                <c:pt idx="2">
                  <c:v>Recall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42.21</c:v>
                </c:pt>
                <c:pt idx="1">
                  <c:v>46.88</c:v>
                </c:pt>
                <c:pt idx="2">
                  <c:v>38.39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DD7-40A5-8E70-CAF4C16561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6D0C9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7221B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C6D0C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900">
                    <a:solidFill>
                      <a:srgbClr val="5D6B63"/>
                    </a:solidFill>
                  </a:rPr>
                  <a:t>Validation metric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D6B63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17221B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86BEE-6FF9-5180-DD0A-A01FE3C7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6FBC7-E349-3175-D91F-BC43EE8F7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4805C-7B4C-70FB-032C-5BC47464D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3DA53-67FF-9346-6D8F-3FE5B477326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0384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Walk left to right. XYZ already defines the image grid. Mercantile gives each tile's Web Mercator bounds. Green-roof polygons are loaded, validated and transformed to EPSG:3857. Shapely selects intersections; </a:t>
            </a:r>
            <a:r>
              <a:rPr dirty="0" err="1"/>
              <a:t>Rasterio</a:t>
            </a:r>
            <a:r>
              <a:rPr dirty="0"/>
              <a:t> maps the intersecting geometry into the exact 256 by 256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is a controlled ablation. Both runs see 1,180 samples per epoch, identical validation images and the same synchronized flips and 90-degree rotations.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very different selected thresholds—0.05 versus 0.95—also signal a calibration problem.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10069" r="10069"/>
          <a:stretch>
            <a:fillRect/>
          </a:stretch>
        </p:blipFill>
        <p:spPr>
          <a:xfrm>
            <a:off x="6715125" y="0"/>
            <a:ext cx="5476875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79FA5B6-4F78-4EFD-BF68-575C4E70CA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00875" cy="6858000"/>
          </a:xfrm>
          <a:prstGeom prst="rect">
            <a:avLst/>
          </a:prstGeom>
          <a:solidFill>
            <a:srgbClr val="0E2C22"/>
          </a:solidFill>
          <a:ln w="0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707B82-A25E-4F95-A7EF-6B24DE72A93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7B5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7B58A"/>
                </a:solidFill>
                <a:latin typeface="Arial"/>
                <a:ea typeface="Arial"/>
                <a:cs typeface="Arial"/>
              </a:rPr>
              <a:t>SPATIALLY RELIABLE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61A2D3-636F-4206-ABC5-E81EFF574F3E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5715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Green-roof</a:t>
            </a:r>
          </a:p>
          <a:p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808D84-7E6E-46F2-970C-DCE41CDE6A63}"/>
              </a:ext>
            </a:extLst>
          </p:cNvPr>
          <p:cNvSpPr>
            <a:spLocks noGrp="1"/>
          </p:cNvSpPr>
          <p:nvPr/>
        </p:nvSpPr>
        <p:spPr>
          <a:xfrm>
            <a:off x="552450" y="2990850"/>
            <a:ext cx="542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0">
                <a:solidFill>
                  <a:srgbClr val="CDE5D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DE5D6"/>
                </a:solidFill>
                <a:latin typeface="Arial"/>
                <a:ea typeface="Arial"/>
                <a:cs typeface="Arial"/>
              </a:rPr>
              <a:t>A GIS-aware U-Net study in Berlin PLZ 12357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52450" y="4000500"/>
            <a:ext cx="4953000" cy="0"/>
          </a:xfrm>
          <a:prstGeom prst="straightConnector1">
            <a:avLst/>
          </a:prstGeom>
          <a:ln w="28575">
            <a:solidFill>
              <a:srgbClr val="67B58A"/>
            </a:solidFill>
            <a:prstDash val="soli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20A664A-582B-4C1E-9D37-F65E65EAA780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C9D6CD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C9D6CD"/>
                </a:solidFill>
                <a:latin typeface="Arial"/>
                <a:ea typeface="Arial"/>
                <a:cs typeface="Arial"/>
              </a:rPr>
              <a:t>Pitch &amp; first findings · semantic segmentation · 2016 RGB aerial imagery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3347F8-C9FD-44D2-A061-EFDD70D9567D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95AA9C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95AA9C"/>
                </a:solidFill>
                <a:latin typeface="Arial"/>
                <a:ea typeface="Arial"/>
                <a:cs typeface="Arial"/>
              </a:rPr>
              <a:t>TU Berlin · </a:t>
            </a:r>
            <a:r>
              <a:rPr lang="en-US" sz="975" b="0" dirty="0">
                <a:solidFill>
                  <a:srgbClr val="95AA9C"/>
                </a:solidFill>
                <a:latin typeface="Arial"/>
                <a:ea typeface="Arial"/>
                <a:cs typeface="Arial"/>
              </a:rPr>
              <a:t>Shuai S</a:t>
            </a:r>
            <a:r>
              <a:rPr lang="en-US" altLang="zh-CN" sz="975" b="0" dirty="0">
                <a:solidFill>
                  <a:srgbClr val="95AA9C"/>
                </a:solidFill>
                <a:latin typeface="Arial"/>
                <a:ea typeface="Arial"/>
                <a:cs typeface="Arial"/>
              </a:rPr>
              <a:t>hao</a:t>
            </a:r>
            <a:endParaRPr sz="975" b="0" dirty="0">
              <a:solidFill>
                <a:srgbClr val="95AA9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699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51EE-A055-9735-3102-EBAEF831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32CED88-930A-AB14-1BDE-6A4CD7E1D450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GREEN-ROOF MAPPING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D84F2F-D993-35FC-9D1F-95CF72C83E47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lang="en-US" sz="23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Primitive polygon label</a:t>
            </a:r>
            <a:endParaRPr sz="2325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7971A8D-16D9-A420-E960-807EC93BD700}"/>
              </a:ext>
            </a:extLst>
          </p:cNvPr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46729F4-1917-529E-E606-BDB1FFEC5240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D7C2C42-8AA7-8923-5AFA-5959699F0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189" y="1407551"/>
            <a:ext cx="4321276" cy="4761302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BE209A4-C674-A1CA-5857-65A6A83B1E82}"/>
              </a:ext>
            </a:extLst>
          </p:cNvPr>
          <p:cNvSpPr>
            <a:spLocks noGrp="1"/>
          </p:cNvSpPr>
          <p:nvPr/>
        </p:nvSpPr>
        <p:spPr>
          <a:xfrm>
            <a:off x="619125" y="2000249"/>
            <a:ext cx="5000625" cy="17673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lang="en-US" sz="20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What can we see by the overview?</a:t>
            </a:r>
          </a:p>
          <a:p>
            <a:pPr algn="l">
              <a:defRPr sz="20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endParaRPr lang="en-US" sz="2025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  <a:p>
            <a:pPr algn="l">
              <a:defRPr sz="20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lang="en-US" sz="20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Pink-partial roof label</a:t>
            </a:r>
          </a:p>
          <a:p>
            <a:pPr algn="l">
              <a:defRPr sz="20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lang="en-US" sz="20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Yellow – entire roof label</a:t>
            </a:r>
          </a:p>
          <a:p>
            <a:pPr algn="l">
              <a:defRPr sz="20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lang="en-US" sz="20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Blue border-zone 12357</a:t>
            </a:r>
            <a:endParaRPr sz="2025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872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075B713-0F5D-4E9C-9AC0-F6C8C472AC0D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FIRST FINDINGS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FD1992-7F75-43D4-A814-DC19EC35A673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Only 0.60% of pixels represent green roofs</a:t>
            </a: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0B1E684-BC40-4D9F-BF2C-D0D745431EA0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666750" y="1666875"/>
          <a:ext cx="60007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5B6FD9C-439C-4BFA-9F17-894C197AC02D}"/>
              </a:ext>
            </a:extLst>
          </p:cNvPr>
          <p:cNvSpPr>
            <a:spLocks noGrp="1"/>
          </p:cNvSpPr>
          <p:nvPr/>
        </p:nvSpPr>
        <p:spPr>
          <a:xfrm>
            <a:off x="7334250" y="1714500"/>
            <a:ext cx="352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643,038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309F40-8F89-44CC-A7AA-C4BCE29B626B}"/>
              </a:ext>
            </a:extLst>
          </p:cNvPr>
          <p:cNvSpPr>
            <a:spLocks noGrp="1"/>
          </p:cNvSpPr>
          <p:nvPr/>
        </p:nvSpPr>
        <p:spPr>
          <a:xfrm>
            <a:off x="7334250" y="234315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foreground pixels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7E945B-6A36-40A3-B8AB-B37A0AD97640}"/>
              </a:ext>
            </a:extLst>
          </p:cNvPr>
          <p:cNvSpPr>
            <a:spLocks noGrp="1"/>
          </p:cNvSpPr>
          <p:nvPr/>
        </p:nvSpPr>
        <p:spPr>
          <a:xfrm>
            <a:off x="7334250" y="3000375"/>
            <a:ext cx="352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4B739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B739B"/>
                </a:solidFill>
                <a:latin typeface="Arial"/>
                <a:ea typeface="Arial"/>
                <a:cs typeface="Arial"/>
              </a:rPr>
              <a:t>106.5 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7B4D0C-56C9-4AB0-9C8F-F6FFD7D441D7}"/>
              </a:ext>
            </a:extLst>
          </p:cNvPr>
          <p:cNvSpPr>
            <a:spLocks noGrp="1"/>
          </p:cNvSpPr>
          <p:nvPr/>
        </p:nvSpPr>
        <p:spPr>
          <a:xfrm>
            <a:off x="7334250" y="3629025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total pixels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759963-799D-4527-98B7-952755E6E533}"/>
              </a:ext>
            </a:extLst>
          </p:cNvPr>
          <p:cNvSpPr>
            <a:spLocks noGrp="1"/>
          </p:cNvSpPr>
          <p:nvPr/>
        </p:nvSpPr>
        <p:spPr>
          <a:xfrm>
            <a:off x="7334250" y="4286250"/>
            <a:ext cx="3524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0.6001%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A44B50-68A7-4A82-9E88-199446EAFEBB}"/>
              </a:ext>
            </a:extLst>
          </p:cNvPr>
          <p:cNvSpPr>
            <a:spLocks noGrp="1"/>
          </p:cNvSpPr>
          <p:nvPr/>
        </p:nvSpPr>
        <p:spPr>
          <a:xfrm>
            <a:off x="7334250" y="4914900"/>
            <a:ext cx="352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foreground share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30BF5E9-5287-4087-953F-610835E9871D}"/>
              </a:ext>
            </a:extLst>
          </p:cNvPr>
          <p:cNvSpPr>
            <a:spLocks noGrp="1"/>
          </p:cNvSpPr>
          <p:nvPr/>
        </p:nvSpPr>
        <p:spPr>
          <a:xfrm>
            <a:off x="666750" y="5667375"/>
            <a:ext cx="10191750" cy="457200"/>
          </a:xfrm>
          <a:prstGeom prst="roundRect">
            <a:avLst>
              <a:gd name="adj" fmla="val 10417"/>
            </a:avLst>
          </a:prstGeom>
          <a:solidFill>
            <a:srgbClr val="0E2C22"/>
          </a:solidFill>
          <a:ln w="9525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8143C6-61F3-4D1C-B0B3-FA4D7EBE4A9E}"/>
              </a:ext>
            </a:extLst>
          </p:cNvPr>
          <p:cNvSpPr>
            <a:spLocks noGrp="1"/>
          </p:cNvSpPr>
          <p:nvPr/>
        </p:nvSpPr>
        <p:spPr>
          <a:xfrm>
            <a:off x="876300" y="5781675"/>
            <a:ext cx="9772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4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Implication: overlap metrics must be paired with negative-scene false-positive analysis.</a:t>
            </a:r>
            <a:endParaRPr sz="14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185257-C96C-4B96-B55E-1C11B115BC88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Source: class-balance analysis for PLZ 12357</a:t>
            </a:r>
          </a:p>
        </p:txBody>
      </p:sp>
    </p:spTree>
    <p:extLst>
      <p:ext uri="{BB962C8B-B14F-4D97-AF65-F5344CB8AC3E}">
        <p14:creationId xmlns:p14="http://schemas.microsoft.com/office/powerpoint/2010/main" val="54251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3214BFB-431B-452D-8288-34AFA658BEC1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GREEN-ROOF MAPPING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782C9F-F5A2-4D85-81BA-EB980DFEE0DC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Green-roof mapping is a rare-object segmentation task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65C7874-D4DD-4E88-9DF2-87A538E177FE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B727F75-5C4A-43CD-9A1C-41B8F6B96E1C}"/>
              </a:ext>
            </a:extLst>
          </p:cNvPr>
          <p:cNvSpPr>
            <a:spLocks noGrp="1"/>
          </p:cNvSpPr>
          <p:nvPr/>
        </p:nvSpPr>
        <p:spPr>
          <a:xfrm>
            <a:off x="514350" y="1600200"/>
            <a:ext cx="7239000" cy="4286250"/>
          </a:xfrm>
          <a:prstGeom prst="roundRect">
            <a:avLst>
              <a:gd name="adj" fmla="val 2222"/>
            </a:avLst>
          </a:prstGeom>
          <a:solidFill>
            <a:srgbClr val="F4F7F4"/>
          </a:solidFill>
          <a:ln w="9525">
            <a:solidFill>
              <a:srgbClr val="F4F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4850" y="1790700"/>
            <a:ext cx="3905250" cy="3905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00600" y="1790700"/>
            <a:ext cx="2762250" cy="27622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0085A20-60FD-46AA-ADCD-6B2EDDFF7A41}"/>
              </a:ext>
            </a:extLst>
          </p:cNvPr>
          <p:cNvSpPr>
            <a:spLocks noGrp="1"/>
          </p:cNvSpPr>
          <p:nvPr/>
        </p:nvSpPr>
        <p:spPr>
          <a:xfrm>
            <a:off x="704850" y="574357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RGB tile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20E273-3223-472E-8B5B-0D7679A97434}"/>
              </a:ext>
            </a:extLst>
          </p:cNvPr>
          <p:cNvSpPr>
            <a:spLocks noGrp="1"/>
          </p:cNvSpPr>
          <p:nvPr/>
        </p:nvSpPr>
        <p:spPr>
          <a:xfrm>
            <a:off x="4800600" y="4695825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pixel mask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C5A3A5-45DF-4E84-9F87-F2B277F93EA0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0.60%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EF42F2-7568-4720-896F-7713F7C5E310}"/>
              </a:ext>
            </a:extLst>
          </p:cNvPr>
          <p:cNvSpPr>
            <a:spLocks noGrp="1"/>
          </p:cNvSpPr>
          <p:nvPr/>
        </p:nvSpPr>
        <p:spPr>
          <a:xfrm>
            <a:off x="8191500" y="24384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of all pixels are green-roof labels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1CD787-629C-4DF6-B2CF-CB876ABBFFF6}"/>
              </a:ext>
            </a:extLst>
          </p:cNvPr>
          <p:cNvSpPr>
            <a:spLocks noGrp="1"/>
          </p:cNvSpPr>
          <p:nvPr/>
        </p:nvSpPr>
        <p:spPr>
          <a:xfrm>
            <a:off x="8191500" y="3190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11.1%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79E1C1-5E8B-474C-892A-547BD0CF988A}"/>
              </a:ext>
            </a:extLst>
          </p:cNvPr>
          <p:cNvSpPr>
            <a:spLocks noGrp="1"/>
          </p:cNvSpPr>
          <p:nvPr/>
        </p:nvSpPr>
        <p:spPr>
          <a:xfrm>
            <a:off x="8191500" y="3819525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of tiles contain any positive pixel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19DB92-64FF-4AA2-BA26-05214FC1C10A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Source: processed PLZ 12357 dataset summary</a:t>
            </a:r>
          </a:p>
        </p:txBody>
      </p:sp>
    </p:spTree>
    <p:extLst>
      <p:ext uri="{BB962C8B-B14F-4D97-AF65-F5344CB8AC3E}">
        <p14:creationId xmlns:p14="http://schemas.microsoft.com/office/powerpoint/2010/main" val="1208496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0941010-D24A-4498-B240-A704E3C8B09B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GREEN-ROOF MAPPING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A6103E-542A-45B8-9C26-D41E7B793A7B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The main gap is credible evaluation, not a lack of models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7D27282-AC98-4E9F-9DC9-CEFDDD4AAC11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660B49-AB66-4F6A-9C0C-EC2C52F23733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666750" y="2171700"/>
            <a:ext cx="2857500" cy="0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39BD6243-6EA0-46B5-B44A-AA0DE02C8D8D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Label geometry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05D497-3304-42CB-BFD5-A5DEA73C0FC5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Vector polygons must align exactly with 256 × 256 image pixels.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819946-1F6F-4B81-A7CF-71D8995708C3}"/>
              </a:ext>
            </a:extLst>
          </p:cNvPr>
          <p:cNvSpPr>
            <a:spLocks noGrp="1"/>
          </p:cNvSpPr>
          <p:nvPr/>
        </p:nvSpPr>
        <p:spPr>
          <a:xfrm>
            <a:off x="4248150" y="16383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88F9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8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4248150" y="2171700"/>
            <a:ext cx="2857500" cy="0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A6623A7-DF50-4341-9B36-5A58D3925396}"/>
              </a:ext>
            </a:extLst>
          </p:cNvPr>
          <p:cNvSpPr>
            <a:spLocks noGrp="1"/>
          </p:cNvSpPr>
          <p:nvPr/>
        </p:nvSpPr>
        <p:spPr>
          <a:xfrm>
            <a:off x="4248150" y="24574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Spatial dependence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F441C4-BED6-41D7-BE66-338495841A07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Neighbouring tiles are visually similar; random splitting can overstate generalization.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E8B139-E560-4B15-B95F-1B33FD2DBFEA}"/>
              </a:ext>
            </a:extLst>
          </p:cNvPr>
          <p:cNvSpPr>
            <a:spLocks noGrp="1"/>
          </p:cNvSpPr>
          <p:nvPr/>
        </p:nvSpPr>
        <p:spPr>
          <a:xfrm>
            <a:off x="7829550" y="16383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7829550" y="2171700"/>
            <a:ext cx="2857500" cy="0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E2A3E6C-25BA-4DDB-AEC1-13068CB0A9DC}"/>
              </a:ext>
            </a:extLst>
          </p:cNvPr>
          <p:cNvSpPr>
            <a:spLocks noGrp="1"/>
          </p:cNvSpPr>
          <p:nvPr/>
        </p:nvSpPr>
        <p:spPr>
          <a:xfrm>
            <a:off x="7829550" y="24574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altLang="zh-CN" sz="187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xtreme class imbalance</a:t>
            </a:r>
            <a:endParaRPr sz="1875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3D8AD7-0A86-4533-9C13-D4A1EACE5A3C}"/>
              </a:ext>
            </a:extLst>
          </p:cNvPr>
          <p:cNvSpPr>
            <a:spLocks noGrp="1"/>
          </p:cNvSpPr>
          <p:nvPr/>
        </p:nvSpPr>
        <p:spPr>
          <a:xfrm>
            <a:off x="7829550" y="30670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lang="en-US" sz="135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Most pixels and tiles are negative, so naive training and accuracy-based evaluation can be misleading</a:t>
            </a:r>
            <a:endParaRPr sz="1350" b="0" dirty="0">
              <a:solidFill>
                <a:srgbClr val="5D6B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6C9DC11-E787-42D5-808C-366E1088E0C0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020300" cy="714375"/>
          </a:xfrm>
          <a:prstGeom prst="roundRect">
            <a:avLst>
              <a:gd name="adj" fmla="val 10667"/>
            </a:avLst>
          </a:prstGeom>
          <a:solidFill>
            <a:srgbClr val="EDF5F0"/>
          </a:solidFill>
          <a:ln w="9525">
            <a:solidFill>
              <a:srgbClr val="EDF5F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ECC340-1B42-4904-AF64-75FC4B935C4B}"/>
              </a:ext>
            </a:extLst>
          </p:cNvPr>
          <p:cNvSpPr>
            <a:spLocks noGrp="1"/>
          </p:cNvSpPr>
          <p:nvPr/>
        </p:nvSpPr>
        <p:spPr>
          <a:xfrm>
            <a:off x="933450" y="5236247"/>
            <a:ext cx="14287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1F7A55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3ECFD7-7BC9-48F1-8E74-9344147357A7}"/>
              </a:ext>
            </a:extLst>
          </p:cNvPr>
          <p:cNvSpPr>
            <a:spLocks noGrp="1"/>
          </p:cNvSpPr>
          <p:nvPr/>
        </p:nvSpPr>
        <p:spPr>
          <a:xfrm>
            <a:off x="2305050" y="5105400"/>
            <a:ext cx="7953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210" lnSpcReduction="10000"/>
          </a:bodyPr>
          <a:lstStyle/>
          <a:p>
            <a:pPr algn="l"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lang="en-US" sz="18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The pipeline therefore focuses on GIS-aligned preprocessing, spatially independent splitting, and class-aware sampling for robust training and evaluation.</a:t>
            </a:r>
            <a:endParaRPr sz="1800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03F859-BAD8-4BBE-B98B-3284DC494CD8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Literature context: spatial blocking and semantic-segmentation baselines</a:t>
            </a:r>
          </a:p>
        </p:txBody>
      </p:sp>
    </p:spTree>
    <p:extLst>
      <p:ext uri="{BB962C8B-B14F-4D97-AF65-F5344CB8AC3E}">
        <p14:creationId xmlns:p14="http://schemas.microsoft.com/office/powerpoint/2010/main" val="115384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85FB413-445C-416B-A29F-CD8D316A50E2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GREEN-ROOF MAPPING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6F5B81-C44D-442A-ADAF-A502D7062533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lang="en-US" sz="23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Research questions for reliable green-roof mapping</a:t>
            </a:r>
            <a:endParaRPr sz="2325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136952A-3EAB-435B-BF00-03A2564E2F79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14426B-DBF2-41AC-A7C5-8AA0F6130481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2525B7-2B04-4F02-89FE-33B9BDEBE792}"/>
              </a:ext>
            </a:extLst>
          </p:cNvPr>
          <p:cNvSpPr>
            <a:spLocks noGrp="1"/>
          </p:cNvSpPr>
          <p:nvPr/>
        </p:nvSpPr>
        <p:spPr>
          <a:xfrm>
            <a:off x="1666875" y="1600200"/>
            <a:ext cx="923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lang="en-US" sz="21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How do different semantic segmentation models compare for green-roof mapping under spatially grouped evaluation?</a:t>
            </a:r>
            <a:endParaRPr sz="2100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609600" y="2609850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24532B0D-8802-4207-9BC3-A3311F2C2A94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624AF3-A114-4E7D-AADC-1086C2266834}"/>
              </a:ext>
            </a:extLst>
          </p:cNvPr>
          <p:cNvSpPr>
            <a:spLocks noGrp="1"/>
          </p:cNvSpPr>
          <p:nvPr/>
        </p:nvSpPr>
        <p:spPr>
          <a:xfrm>
            <a:off x="1666875" y="2943225"/>
            <a:ext cx="9239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Does removing negative-only training tiles improve overlap—or increase false-positive predictions?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609600" y="39909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99B60846-1018-47A0-907A-9D33A6F28F1D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4C9B244-8BF0-4CDE-A3CF-B359B27C1232}"/>
              </a:ext>
            </a:extLst>
          </p:cNvPr>
          <p:cNvSpPr>
            <a:spLocks noGrp="1"/>
          </p:cNvSpPr>
          <p:nvPr/>
        </p:nvSpPr>
        <p:spPr>
          <a:xfrm>
            <a:off x="2095500" y="4467225"/>
            <a:ext cx="114300" cy="114300"/>
          </a:xfrm>
          <a:prstGeom prst="ellipse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1698FE-7DFA-4FCE-85CB-CA30BA5E74DC}"/>
              </a:ext>
            </a:extLst>
          </p:cNvPr>
          <p:cNvSpPr>
            <a:spLocks noGrp="1"/>
          </p:cNvSpPr>
          <p:nvPr/>
        </p:nvSpPr>
        <p:spPr>
          <a:xfrm>
            <a:off x="228600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GIS-aware labels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59D1E6-76C7-472D-8E47-186EFDB12046}"/>
              </a:ext>
            </a:extLst>
          </p:cNvPr>
          <p:cNvSpPr>
            <a:spLocks noGrp="1"/>
          </p:cNvSpPr>
          <p:nvPr/>
        </p:nvSpPr>
        <p:spPr>
          <a:xfrm>
            <a:off x="4438650" y="4467225"/>
            <a:ext cx="114300" cy="114300"/>
          </a:xfrm>
          <a:prstGeom prst="ellipse">
            <a:avLst/>
          </a:prstGeom>
          <a:solidFill>
            <a:srgbClr val="188F91"/>
          </a:solidFill>
          <a:ln w="0">
            <a:solidFill>
              <a:srgbClr val="188F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C08A68-9B2B-4D6B-A627-013221B50FF6}"/>
              </a:ext>
            </a:extLst>
          </p:cNvPr>
          <p:cNvSpPr>
            <a:spLocks noGrp="1"/>
          </p:cNvSpPr>
          <p:nvPr/>
        </p:nvSpPr>
        <p:spPr>
          <a:xfrm>
            <a:off x="462915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Spatial blocks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878E950-C89C-466C-9674-BF7F8DE5517A}"/>
              </a:ext>
            </a:extLst>
          </p:cNvPr>
          <p:cNvSpPr>
            <a:spLocks noGrp="1"/>
          </p:cNvSpPr>
          <p:nvPr/>
        </p:nvSpPr>
        <p:spPr>
          <a:xfrm>
            <a:off x="6781800" y="4467225"/>
            <a:ext cx="114300" cy="114300"/>
          </a:xfrm>
          <a:prstGeom prst="ellipse">
            <a:avLst/>
          </a:prstGeom>
          <a:solidFill>
            <a:srgbClr val="4B739B"/>
          </a:solidFill>
          <a:ln w="0">
            <a:solidFill>
              <a:srgbClr val="4B73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FEE845-58A8-4272-B532-FA90B6C9BB68}"/>
              </a:ext>
            </a:extLst>
          </p:cNvPr>
          <p:cNvSpPr>
            <a:spLocks noGrp="1"/>
          </p:cNvSpPr>
          <p:nvPr/>
        </p:nvSpPr>
        <p:spPr>
          <a:xfrm>
            <a:off x="697230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Controlled ablation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F338B89-D40E-46D5-9F46-7B370946A270}"/>
              </a:ext>
            </a:extLst>
          </p:cNvPr>
          <p:cNvSpPr>
            <a:spLocks noGrp="1"/>
          </p:cNvSpPr>
          <p:nvPr/>
        </p:nvSpPr>
        <p:spPr>
          <a:xfrm>
            <a:off x="9124950" y="4467225"/>
            <a:ext cx="114300" cy="114300"/>
          </a:xfrm>
          <a:prstGeom prst="ellipse">
            <a:avLst/>
          </a:prstGeom>
          <a:solidFill>
            <a:srgbClr val="C8605A"/>
          </a:solidFill>
          <a:ln w="0">
            <a:solidFill>
              <a:srgbClr val="C860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F6109E-62E0-49DC-AA7C-36FB11BEDB2A}"/>
              </a:ext>
            </a:extLst>
          </p:cNvPr>
          <p:cNvSpPr>
            <a:spLocks noGrp="1"/>
          </p:cNvSpPr>
          <p:nvPr/>
        </p:nvSpPr>
        <p:spPr>
          <a:xfrm>
            <a:off x="931545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Subgroup error analysis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8381846-3FF4-4A2A-8EA7-1505246E627E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287000" cy="552450"/>
          </a:xfrm>
          <a:prstGeom prst="roundRect">
            <a:avLst>
              <a:gd name="adj" fmla="val 10345"/>
            </a:avLst>
          </a:prstGeom>
          <a:solidFill>
            <a:srgbClr val="0E2C22"/>
          </a:solidFill>
          <a:ln w="9525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762681-A9A9-4219-92EE-E7569EBE7C9E}"/>
              </a:ext>
            </a:extLst>
          </p:cNvPr>
          <p:cNvSpPr>
            <a:spLocks noGrp="1"/>
          </p:cNvSpPr>
          <p:nvPr/>
        </p:nvSpPr>
        <p:spPr>
          <a:xfrm>
            <a:off x="838200" y="5381625"/>
            <a:ext cx="9829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criterion: reliable area-wide mapping, not performance on positive examples alone.</a:t>
            </a:r>
          </a:p>
        </p:txBody>
      </p:sp>
    </p:spTree>
    <p:extLst>
      <p:ext uri="{BB962C8B-B14F-4D97-AF65-F5344CB8AC3E}">
        <p14:creationId xmlns:p14="http://schemas.microsoft.com/office/powerpoint/2010/main" val="561294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B41AEDB8-AE11-4FF1-AFCD-9F201DD2ACAF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GREEN-ROOF MAPPING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C35F83-913D-4BE8-9318-734DECF057E8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A ResNet50 U-Net provides a transparent baseline</a:t>
            </a: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1367A52-D22C-4ADB-9781-7A0203C53145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6088A8-901B-499A-A4B7-97A649B759E4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Model family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6B614E-4A93-4E69-993E-53CA3B8D9781}"/>
              </a:ext>
            </a:extLst>
          </p:cNvPr>
          <p:cNvSpPr>
            <a:spLocks noGrp="1"/>
          </p:cNvSpPr>
          <p:nvPr/>
        </p:nvSpPr>
        <p:spPr>
          <a:xfrm>
            <a:off x="2857500" y="15811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Core idea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6068A3-DB3A-45A0-A89F-963BCA2151F3}"/>
              </a:ext>
            </a:extLst>
          </p:cNvPr>
          <p:cNvSpPr>
            <a:spLocks noGrp="1"/>
          </p:cNvSpPr>
          <p:nvPr/>
        </p:nvSpPr>
        <p:spPr>
          <a:xfrm>
            <a:off x="6191250" y="1581150"/>
            <a:ext cx="3714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Why relevant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FD6156-18A0-4C35-B1CB-7ECA060673C0}"/>
              </a:ext>
            </a:extLst>
          </p:cNvPr>
          <p:cNvSpPr>
            <a:spLocks noGrp="1"/>
          </p:cNvSpPr>
          <p:nvPr/>
        </p:nvSpPr>
        <p:spPr>
          <a:xfrm>
            <a:off x="630120" y="2352675"/>
            <a:ext cx="10287000" cy="904875"/>
          </a:xfrm>
          <a:prstGeom prst="rect">
            <a:avLst/>
          </a:prstGeom>
          <a:solidFill>
            <a:srgbClr val="E6F2EA"/>
          </a:solidFill>
          <a:ln w="0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64CA93-F295-43F7-A1FA-4D648884EC9C}"/>
              </a:ext>
            </a:extLst>
          </p:cNvPr>
          <p:cNvSpPr>
            <a:spLocks noGrp="1"/>
          </p:cNvSpPr>
          <p:nvPr/>
        </p:nvSpPr>
        <p:spPr>
          <a:xfrm>
            <a:off x="801570" y="2562225"/>
            <a:ext cx="1857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F7A55"/>
                </a:solidFill>
                <a:latin typeface="Arial"/>
                <a:ea typeface="Arial"/>
                <a:cs typeface="Arial"/>
              </a:rPr>
              <a:t>U-Net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054927-82A2-42BC-8FE6-1A7364A21458}"/>
              </a:ext>
            </a:extLst>
          </p:cNvPr>
          <p:cNvSpPr>
            <a:spLocks noGrp="1"/>
          </p:cNvSpPr>
          <p:nvPr/>
        </p:nvSpPr>
        <p:spPr>
          <a:xfrm>
            <a:off x="2878020" y="25336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21B"/>
                </a:solidFill>
                <a:latin typeface="Arial"/>
                <a:ea typeface="Arial"/>
                <a:cs typeface="Arial"/>
              </a:rPr>
              <a:t>Encoder–decoder + skip connections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EAEEC1-EF2E-42FD-A786-5955770ED319}"/>
              </a:ext>
            </a:extLst>
          </p:cNvPr>
          <p:cNvSpPr>
            <a:spLocks noGrp="1"/>
          </p:cNvSpPr>
          <p:nvPr/>
        </p:nvSpPr>
        <p:spPr>
          <a:xfrm>
            <a:off x="6211770" y="25336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21B"/>
                </a:solidFill>
                <a:latin typeface="Arial"/>
                <a:ea typeface="Arial"/>
                <a:cs typeface="Arial"/>
              </a:rPr>
              <a:t>Precise localization; strong baseline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EB1AF85-3465-4867-8B70-F1C8779457EF}"/>
              </a:ext>
            </a:extLst>
          </p:cNvPr>
          <p:cNvSpPr>
            <a:spLocks noGrp="1"/>
          </p:cNvSpPr>
          <p:nvPr/>
        </p:nvSpPr>
        <p:spPr>
          <a:xfrm>
            <a:off x="9878895" y="262890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CDE8D6"/>
          </a:solidFill>
          <a:ln w="9525">
            <a:solidFill>
              <a:srgbClr val="CDE8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368B34-9B4C-4FE0-A210-03B46B80F583}"/>
              </a:ext>
            </a:extLst>
          </p:cNvPr>
          <p:cNvSpPr>
            <a:spLocks noGrp="1"/>
          </p:cNvSpPr>
          <p:nvPr/>
        </p:nvSpPr>
        <p:spPr>
          <a:xfrm>
            <a:off x="9993195" y="2695575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SELECTED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D71B84-BC5B-41C3-AC5B-91D97CC78F85}"/>
              </a:ext>
            </a:extLst>
          </p:cNvPr>
          <p:cNvSpPr>
            <a:spLocks noGrp="1"/>
          </p:cNvSpPr>
          <p:nvPr/>
        </p:nvSpPr>
        <p:spPr>
          <a:xfrm>
            <a:off x="630120" y="4135128"/>
            <a:ext cx="10287000" cy="904875"/>
          </a:xfrm>
          <a:prstGeom prst="rect">
            <a:avLst/>
          </a:prstGeom>
          <a:solidFill>
            <a:srgbClr val="F4F7F4"/>
          </a:solidFill>
          <a:ln w="0">
            <a:solidFill>
              <a:srgbClr val="F4F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2E878B-AE8C-436C-A892-E445EE371AE2}"/>
              </a:ext>
            </a:extLst>
          </p:cNvPr>
          <p:cNvSpPr>
            <a:spLocks noGrp="1"/>
          </p:cNvSpPr>
          <p:nvPr/>
        </p:nvSpPr>
        <p:spPr>
          <a:xfrm>
            <a:off x="801570" y="4344678"/>
            <a:ext cx="1857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SegFormer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F74698-4DB4-4AA3-8589-F7B4D0A560BF}"/>
              </a:ext>
            </a:extLst>
          </p:cNvPr>
          <p:cNvSpPr>
            <a:spLocks noGrp="1"/>
          </p:cNvSpPr>
          <p:nvPr/>
        </p:nvSpPr>
        <p:spPr>
          <a:xfrm>
            <a:off x="2878020" y="4316103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Hierarchical Transformer + MLP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D50FA8-0744-46E8-84A0-ACBBAB401F01}"/>
              </a:ext>
            </a:extLst>
          </p:cNvPr>
          <p:cNvSpPr>
            <a:spLocks noGrp="1"/>
          </p:cNvSpPr>
          <p:nvPr/>
        </p:nvSpPr>
        <p:spPr>
          <a:xfrm>
            <a:off x="6211770" y="4316103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21B"/>
                </a:solidFill>
                <a:latin typeface="Arial"/>
                <a:ea typeface="Arial"/>
                <a:cs typeface="Arial"/>
              </a:rPr>
              <a:t>Global context; efficient scaling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BC980C7-D025-4EC6-A8B8-3A485529226F}"/>
              </a:ext>
            </a:extLst>
          </p:cNvPr>
          <p:cNvSpPr>
            <a:spLocks noGrp="1"/>
          </p:cNvSpPr>
          <p:nvPr/>
        </p:nvSpPr>
        <p:spPr>
          <a:xfrm>
            <a:off x="9878895" y="4411353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E5E9E6"/>
          </a:solidFill>
          <a:ln w="9525">
            <a:solidFill>
              <a:srgbClr val="E5E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D7B0C6-F6A3-42EF-AFA7-53442D0FD0D4}"/>
              </a:ext>
            </a:extLst>
          </p:cNvPr>
          <p:cNvSpPr>
            <a:spLocks noGrp="1"/>
          </p:cNvSpPr>
          <p:nvPr/>
        </p:nvSpPr>
        <p:spPr>
          <a:xfrm>
            <a:off x="9993195" y="4478028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BF7350E-61DE-4DCD-9053-B59A00C067FB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571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Why this baseline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AAC40EA-7FE9-4790-B493-758FCCB60357}"/>
              </a:ext>
            </a:extLst>
          </p:cNvPr>
          <p:cNvSpPr>
            <a:spLocks noGrp="1"/>
          </p:cNvSpPr>
          <p:nvPr/>
        </p:nvSpPr>
        <p:spPr>
          <a:xfrm>
            <a:off x="2333625" y="5514975"/>
            <a:ext cx="8524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492"/>
          </a:bodyPr>
          <a:lstStyle/>
          <a:p>
            <a:pPr algn="l">
              <a:defRPr sz="15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Pretrained ResNet50 features + an interpretable decoder; suitable for a small, imbalanced first experiment.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BD59368-72B0-4C1E-BD80-156422FFABE5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GREEN-ROOF MAPPING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B6BA813-D954-452F-84C0-FFE9E4AEA27C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39450" cy="9525"/>
          </a:xfrm>
          <a:prstGeom prst="rect">
            <a:avLst/>
          </a:prstGeom>
          <a:solidFill>
            <a:srgbClr val="C6D0C9"/>
          </a:solidFill>
          <a:ln w="0">
            <a:solidFill>
              <a:srgbClr val="C6D0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D2BFC9-6A30-428F-A289-51B4C4C3BC6C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Sources: </a:t>
            </a:r>
            <a:r>
              <a:rPr sz="750" b="0" dirty="0" err="1">
                <a:solidFill>
                  <a:srgbClr val="5D6B63"/>
                </a:solidFill>
                <a:latin typeface="Arial"/>
                <a:ea typeface="Arial"/>
                <a:cs typeface="Arial"/>
              </a:rPr>
              <a:t>Ronneberger</a:t>
            </a:r>
            <a:r>
              <a:rPr sz="75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 et al. 2015; Xie et al. 2021</a:t>
            </a:r>
          </a:p>
        </p:txBody>
      </p:sp>
    </p:spTree>
    <p:extLst>
      <p:ext uri="{BB962C8B-B14F-4D97-AF65-F5344CB8AC3E}">
        <p14:creationId xmlns:p14="http://schemas.microsoft.com/office/powerpoint/2010/main" val="857519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265B938C-A7F8-4FAE-8419-7F9D5F80C024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PROPOSED 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F3571A-7994-411C-BAAC-D31D232F4684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GIS preprocessing turns roof polygons into aligned masks</a:t>
            </a: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28ADF5E-46A5-4DE0-ADC1-398BB68CC2FB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524000"/>
            <a:ext cx="2952750" cy="295275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53450" y="1524000"/>
            <a:ext cx="2952750" cy="2952750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7CE765D6-B028-430F-803D-5E14EA1E6813}"/>
              </a:ext>
            </a:extLst>
          </p:cNvPr>
          <p:cNvSpPr>
            <a:spLocks noGrp="1"/>
          </p:cNvSpPr>
          <p:nvPr/>
        </p:nvSpPr>
        <p:spPr>
          <a:xfrm>
            <a:off x="3790950" y="1552575"/>
            <a:ext cx="304800" cy="304800"/>
          </a:xfrm>
          <a:prstGeom prst="ellipse">
            <a:avLst/>
          </a:prstGeom>
          <a:solidFill>
            <a:srgbClr val="188F91"/>
          </a:solidFill>
          <a:ln w="0">
            <a:solidFill>
              <a:srgbClr val="188F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FDF30E-C3FB-4EED-9673-862765D62A8E}"/>
              </a:ext>
            </a:extLst>
          </p:cNvPr>
          <p:cNvSpPr>
            <a:spLocks noGrp="1"/>
          </p:cNvSpPr>
          <p:nvPr/>
        </p:nvSpPr>
        <p:spPr>
          <a:xfrm>
            <a:off x="3790950" y="1619250"/>
            <a:ext cx="3048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1F5631-028D-4B52-A47F-16D39A9C4E81}"/>
              </a:ext>
            </a:extLst>
          </p:cNvPr>
          <p:cNvSpPr>
            <a:spLocks noGrp="1"/>
          </p:cNvSpPr>
          <p:nvPr/>
        </p:nvSpPr>
        <p:spPr>
          <a:xfrm>
            <a:off x="4248150" y="15716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XYZ tile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13BA4C-B324-42C9-BDC1-C12CA4E4BD2C}"/>
              </a:ext>
            </a:extLst>
          </p:cNvPr>
          <p:cNvSpPr>
            <a:spLocks noGrp="1"/>
          </p:cNvSpPr>
          <p:nvPr/>
        </p:nvSpPr>
        <p:spPr>
          <a:xfrm>
            <a:off x="5772150" y="15811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z / x / y key</a:t>
            </a: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3943350" y="1876425"/>
            <a:ext cx="0" cy="219075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9D253DE6-FB7C-4B6A-82BF-CC66529DD285}"/>
              </a:ext>
            </a:extLst>
          </p:cNvPr>
          <p:cNvSpPr>
            <a:spLocks noGrp="1"/>
          </p:cNvSpPr>
          <p:nvPr/>
        </p:nvSpPr>
        <p:spPr>
          <a:xfrm>
            <a:off x="3790950" y="2114550"/>
            <a:ext cx="304800" cy="304800"/>
          </a:xfrm>
          <a:prstGeom prst="ellipse">
            <a:avLst/>
          </a:prstGeom>
          <a:solidFill>
            <a:srgbClr val="188F91"/>
          </a:solidFill>
          <a:ln w="0">
            <a:solidFill>
              <a:srgbClr val="188F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4648A3-D925-455A-B522-8F93A435C02F}"/>
              </a:ext>
            </a:extLst>
          </p:cNvPr>
          <p:cNvSpPr>
            <a:spLocks noGrp="1"/>
          </p:cNvSpPr>
          <p:nvPr/>
        </p:nvSpPr>
        <p:spPr>
          <a:xfrm>
            <a:off x="3790950" y="2181225"/>
            <a:ext cx="3048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AD528C-4618-4328-9100-4D584BEADDE6}"/>
              </a:ext>
            </a:extLst>
          </p:cNvPr>
          <p:cNvSpPr>
            <a:spLocks noGrp="1"/>
          </p:cNvSpPr>
          <p:nvPr/>
        </p:nvSpPr>
        <p:spPr>
          <a:xfrm>
            <a:off x="4248150" y="2133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Tile bounds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1EEC16-5988-44DF-A8C0-2945BBF5B475}"/>
              </a:ext>
            </a:extLst>
          </p:cNvPr>
          <p:cNvSpPr>
            <a:spLocks noGrp="1"/>
          </p:cNvSpPr>
          <p:nvPr/>
        </p:nvSpPr>
        <p:spPr>
          <a:xfrm>
            <a:off x="5772150" y="21431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mercantile.xy_bounds</a:t>
            </a: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3943350" y="2438400"/>
            <a:ext cx="0" cy="219075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77A5350E-5B42-4F51-B735-F41516AB7C93}"/>
              </a:ext>
            </a:extLst>
          </p:cNvPr>
          <p:cNvSpPr>
            <a:spLocks noGrp="1"/>
          </p:cNvSpPr>
          <p:nvPr/>
        </p:nvSpPr>
        <p:spPr>
          <a:xfrm>
            <a:off x="3790950" y="2676525"/>
            <a:ext cx="304800" cy="304800"/>
          </a:xfrm>
          <a:prstGeom prst="ellipse">
            <a:avLst/>
          </a:prstGeom>
          <a:solidFill>
            <a:srgbClr val="188F91"/>
          </a:solidFill>
          <a:ln w="0">
            <a:solidFill>
              <a:srgbClr val="188F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58229F-AE91-4862-A501-514A86AD544A}"/>
              </a:ext>
            </a:extLst>
          </p:cNvPr>
          <p:cNvSpPr>
            <a:spLocks noGrp="1"/>
          </p:cNvSpPr>
          <p:nvPr/>
        </p:nvSpPr>
        <p:spPr>
          <a:xfrm>
            <a:off x="3790950" y="2743200"/>
            <a:ext cx="3048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3D8FE9-C1A9-47C2-969B-B444DFDA09FA}"/>
              </a:ext>
            </a:extLst>
          </p:cNvPr>
          <p:cNvSpPr>
            <a:spLocks noGrp="1"/>
          </p:cNvSpPr>
          <p:nvPr/>
        </p:nvSpPr>
        <p:spPr>
          <a:xfrm>
            <a:off x="4248150" y="26955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Intersect labels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7BAC8F-4750-4446-91E8-78B90195E662}"/>
              </a:ext>
            </a:extLst>
          </p:cNvPr>
          <p:cNvSpPr>
            <a:spLocks noGrp="1"/>
          </p:cNvSpPr>
          <p:nvPr/>
        </p:nvSpPr>
        <p:spPr>
          <a:xfrm>
            <a:off x="5772150" y="27051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Shapely in EPSG:3857</a:t>
            </a: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3943350" y="3000375"/>
            <a:ext cx="0" cy="219075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12ACB5AE-8E2C-4BE5-A6F4-24B8E44D18EF}"/>
              </a:ext>
            </a:extLst>
          </p:cNvPr>
          <p:cNvSpPr>
            <a:spLocks noGrp="1"/>
          </p:cNvSpPr>
          <p:nvPr/>
        </p:nvSpPr>
        <p:spPr>
          <a:xfrm>
            <a:off x="3790950" y="3238500"/>
            <a:ext cx="304800" cy="304800"/>
          </a:xfrm>
          <a:prstGeom prst="ellipse">
            <a:avLst/>
          </a:prstGeom>
          <a:solidFill>
            <a:srgbClr val="188F91"/>
          </a:solidFill>
          <a:ln w="0">
            <a:solidFill>
              <a:srgbClr val="188F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AF6C4B-567A-4B7B-9561-A32D983AB7E9}"/>
              </a:ext>
            </a:extLst>
          </p:cNvPr>
          <p:cNvSpPr>
            <a:spLocks noGrp="1"/>
          </p:cNvSpPr>
          <p:nvPr/>
        </p:nvSpPr>
        <p:spPr>
          <a:xfrm>
            <a:off x="3790950" y="3305175"/>
            <a:ext cx="3048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54CC41-830D-4830-97D1-AD405EBD7FB0}"/>
              </a:ext>
            </a:extLst>
          </p:cNvPr>
          <p:cNvSpPr>
            <a:spLocks noGrp="1"/>
          </p:cNvSpPr>
          <p:nvPr/>
        </p:nvSpPr>
        <p:spPr>
          <a:xfrm>
            <a:off x="4248150" y="32575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Pixel transform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E914D7F-4623-4CF2-A719-9358744C1E1B}"/>
              </a:ext>
            </a:extLst>
          </p:cNvPr>
          <p:cNvSpPr>
            <a:spLocks noGrp="1"/>
          </p:cNvSpPr>
          <p:nvPr/>
        </p:nvSpPr>
        <p:spPr>
          <a:xfrm>
            <a:off x="5772150" y="32670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rasterio.from_bounds</a:t>
            </a:r>
          </a:p>
        </p:txBody>
      </p:sp>
      <p:cxnSp>
        <p:nvCxnSpPr>
          <p:cNvPr id="61" name="直接箭头连接符 60"/>
          <p:cNvCxnSpPr/>
          <p:nvPr/>
        </p:nvCxnSpPr>
        <p:spPr>
          <a:xfrm>
            <a:off x="3943350" y="3562350"/>
            <a:ext cx="0" cy="219075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BE88130F-2594-46CA-8DAA-08CE15000424}"/>
              </a:ext>
            </a:extLst>
          </p:cNvPr>
          <p:cNvSpPr>
            <a:spLocks noGrp="1"/>
          </p:cNvSpPr>
          <p:nvPr/>
        </p:nvSpPr>
        <p:spPr>
          <a:xfrm>
            <a:off x="3790950" y="3800475"/>
            <a:ext cx="304800" cy="304800"/>
          </a:xfrm>
          <a:prstGeom prst="ellipse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E5C59E0-52A8-4FBE-972E-E7650F64D73E}"/>
              </a:ext>
            </a:extLst>
          </p:cNvPr>
          <p:cNvSpPr>
            <a:spLocks noGrp="1"/>
          </p:cNvSpPr>
          <p:nvPr/>
        </p:nvSpPr>
        <p:spPr>
          <a:xfrm>
            <a:off x="3790950" y="3867150"/>
            <a:ext cx="3048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F6B941-2290-4FB0-8C3C-E90FF4C5D426}"/>
              </a:ext>
            </a:extLst>
          </p:cNvPr>
          <p:cNvSpPr>
            <a:spLocks noGrp="1"/>
          </p:cNvSpPr>
          <p:nvPr/>
        </p:nvSpPr>
        <p:spPr>
          <a:xfrm>
            <a:off x="4248150" y="38195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Rasterize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01A0ECB-7FBC-4E35-B357-90B1578FD2A3}"/>
              </a:ext>
            </a:extLst>
          </p:cNvPr>
          <p:cNvSpPr>
            <a:spLocks noGrp="1"/>
          </p:cNvSpPr>
          <p:nvPr/>
        </p:nvSpPr>
        <p:spPr>
          <a:xfrm>
            <a:off x="5772150" y="38290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256 × 256 mask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209A1E5-23C3-47C1-87C3-58E2CEA4AF96}"/>
              </a:ext>
            </a:extLst>
          </p:cNvPr>
          <p:cNvSpPr>
            <a:spLocks noGrp="1"/>
          </p:cNvSpPr>
          <p:nvPr/>
        </p:nvSpPr>
        <p:spPr>
          <a:xfrm>
            <a:off x="571500" y="4438650"/>
            <a:ext cx="10934700" cy="1104900"/>
          </a:xfrm>
          <a:prstGeom prst="roundRect">
            <a:avLst>
              <a:gd name="adj" fmla="val 6897"/>
            </a:avLst>
          </a:prstGeom>
          <a:solidFill>
            <a:srgbClr val="F4F7F4"/>
          </a:solidFill>
          <a:ln w="9525">
            <a:solidFill>
              <a:srgbClr val="F4F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0F2248C-8C76-41A8-8318-0FE729DEBFE8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Coordinate contract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D2AFD5-EF38-4BAA-91C1-41FF2550C134}"/>
              </a:ext>
            </a:extLst>
          </p:cNvPr>
          <p:cNvSpPr>
            <a:spLocks noGrp="1"/>
          </p:cNvSpPr>
          <p:nvPr/>
        </p:nvSpPr>
        <p:spPr>
          <a:xfrm>
            <a:off x="2571750" y="4600575"/>
            <a:ext cx="8591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Images and labels meet in EPSG:3857; rasterization then maps metre-based tile bounds directly to the 256 × 256 pixel grid.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4FC4DD-EE2C-4D2D-87AA-B4398788DA00}"/>
              </a:ext>
            </a:extLst>
          </p:cNvPr>
          <p:cNvSpPr>
            <a:spLocks noGrp="1"/>
          </p:cNvSpPr>
          <p:nvPr/>
        </p:nvSpPr>
        <p:spPr>
          <a:xfrm>
            <a:off x="781050" y="5286375"/>
            <a:ext cx="1009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Vector I/O: </a:t>
            </a:r>
            <a:r>
              <a:rPr sz="975" b="0" dirty="0" err="1">
                <a:solidFill>
                  <a:srgbClr val="5D6B63"/>
                </a:solidFill>
                <a:latin typeface="Arial"/>
                <a:ea typeface="Arial"/>
                <a:cs typeface="Arial"/>
              </a:rPr>
              <a:t>GeoPandas</a:t>
            </a:r>
            <a:r>
              <a:rPr sz="975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 / </a:t>
            </a:r>
            <a:r>
              <a:rPr sz="975" b="0" dirty="0" err="1">
                <a:solidFill>
                  <a:srgbClr val="5D6B63"/>
                </a:solidFill>
                <a:latin typeface="Arial"/>
                <a:ea typeface="Arial"/>
                <a:cs typeface="Arial"/>
              </a:rPr>
              <a:t>pyshp</a:t>
            </a:r>
            <a:r>
              <a:rPr sz="975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   ·   Geometry: Shapely   ·   CRS: </a:t>
            </a:r>
            <a:r>
              <a:rPr sz="975" b="0" dirty="0" err="1">
                <a:solidFill>
                  <a:srgbClr val="5D6B63"/>
                </a:solidFill>
                <a:latin typeface="Arial"/>
                <a:ea typeface="Arial"/>
                <a:cs typeface="Arial"/>
              </a:rPr>
              <a:t>pyproj</a:t>
            </a:r>
            <a:r>
              <a:rPr sz="975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   ·   Raster labels: </a:t>
            </a:r>
            <a:r>
              <a:rPr sz="975" b="0" dirty="0" err="1">
                <a:solidFill>
                  <a:srgbClr val="5D6B63"/>
                </a:solidFill>
                <a:latin typeface="Arial"/>
                <a:ea typeface="Arial"/>
                <a:cs typeface="Arial"/>
              </a:rPr>
              <a:t>Rasterio</a:t>
            </a:r>
            <a:endParaRPr sz="975" b="0" dirty="0">
              <a:solidFill>
                <a:srgbClr val="5D6B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A3180E3-F221-408F-8DD8-FFDC82D39F43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Source: project preprocessing modules and rasterized mask</a:t>
            </a:r>
          </a:p>
        </p:txBody>
      </p:sp>
    </p:spTree>
    <p:extLst>
      <p:ext uri="{BB962C8B-B14F-4D97-AF65-F5344CB8AC3E}">
        <p14:creationId xmlns:p14="http://schemas.microsoft.com/office/powerpoint/2010/main" val="1845879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2772AA7-6F61-4B37-BE6E-5930A1B9540D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PROPOSED 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AFADAE-9995-424F-AB7F-685D132CB9EC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Spatial blocks keep neighbouring tiles in the same split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145CF5D-10C6-41C0-92A1-E13010321AD9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544466"/>
            <a:ext cx="8477250" cy="39690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93D5D07-5227-4306-8486-C2438D0472AF}"/>
              </a:ext>
            </a:extLst>
          </p:cNvPr>
          <p:cNvSpPr>
            <a:spLocks noGrp="1"/>
          </p:cNvSpPr>
          <p:nvPr/>
        </p:nvSpPr>
        <p:spPr>
          <a:xfrm>
            <a:off x="9401175" y="17335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188F9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8F91"/>
                </a:solidFill>
                <a:latin typeface="Arial"/>
                <a:ea typeface="Arial"/>
                <a:cs typeface="Arial"/>
              </a:rPr>
              <a:t>8 × 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1ECB61-047C-4610-B930-574444AA3D0B}"/>
              </a:ext>
            </a:extLst>
          </p:cNvPr>
          <p:cNvSpPr>
            <a:spLocks noGrp="1"/>
          </p:cNvSpPr>
          <p:nvPr/>
        </p:nvSpPr>
        <p:spPr>
          <a:xfrm>
            <a:off x="9401175" y="2362200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XYZ tiles per split block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551CD1-30E1-4DFE-A124-C1EF6460F4E0}"/>
              </a:ext>
            </a:extLst>
          </p:cNvPr>
          <p:cNvSpPr>
            <a:spLocks noGrp="1"/>
          </p:cNvSpPr>
          <p:nvPr/>
        </p:nvSpPr>
        <p:spPr>
          <a:xfrm>
            <a:off x="9401175" y="30289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2.0×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50BAC8-B4BC-4C56-B491-6377C6B7E13A}"/>
              </a:ext>
            </a:extLst>
          </p:cNvPr>
          <p:cNvSpPr>
            <a:spLocks noGrp="1"/>
          </p:cNvSpPr>
          <p:nvPr/>
        </p:nvSpPr>
        <p:spPr>
          <a:xfrm>
            <a:off x="9401175" y="3657600"/>
            <a:ext cx="2190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median held-out distance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EA5885-E591-4405-AB20-0F2D5743D0ED}"/>
              </a:ext>
            </a:extLst>
          </p:cNvPr>
          <p:cNvSpPr>
            <a:spLocks noGrp="1"/>
          </p:cNvSpPr>
          <p:nvPr/>
        </p:nvSpPr>
        <p:spPr>
          <a:xfrm>
            <a:off x="9401175" y="4448175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Train 1,180</a:t>
            </a:r>
          </a:p>
          <a:p>
            <a:pPr algn="l">
              <a:defRPr sz="15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Validation 203</a:t>
            </a:r>
          </a:p>
          <a:p>
            <a:pPr algn="l">
              <a:defRPr sz="15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Test 252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16DC85E-FE56-4EF4-ABD1-E1F3B017BDA2}"/>
              </a:ext>
            </a:extLst>
          </p:cNvPr>
          <p:cNvSpPr>
            <a:spLocks noGrp="1"/>
          </p:cNvSpPr>
          <p:nvPr/>
        </p:nvSpPr>
        <p:spPr>
          <a:xfrm>
            <a:off x="590550" y="5772150"/>
            <a:ext cx="10906125" cy="419100"/>
          </a:xfrm>
          <a:prstGeom prst="roundRect">
            <a:avLst>
              <a:gd name="adj" fmla="val 11364"/>
            </a:avLst>
          </a:prstGeom>
          <a:solidFill>
            <a:srgbClr val="EDF5F0"/>
          </a:solidFill>
          <a:ln w="9525">
            <a:solidFill>
              <a:srgbClr val="EDF5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811C98-5959-49A9-958B-04CA099788DB}"/>
              </a:ext>
            </a:extLst>
          </p:cNvPr>
          <p:cNvSpPr>
            <a:spLocks noGrp="1"/>
          </p:cNvSpPr>
          <p:nvPr/>
        </p:nvSpPr>
        <p:spPr>
          <a:xfrm>
            <a:off x="742950" y="5867400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No block ID appears in more than one split; validation and test remain geographically separated from training.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22DC3B-61A3-426D-9B65-BBB1492DAC2F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Source: frozen manifests and spatial-distance analysis (EPSG:25833 distances)</a:t>
            </a:r>
          </a:p>
        </p:txBody>
      </p:sp>
    </p:spTree>
    <p:extLst>
      <p:ext uri="{BB962C8B-B14F-4D97-AF65-F5344CB8AC3E}">
        <p14:creationId xmlns:p14="http://schemas.microsoft.com/office/powerpoint/2010/main" val="2173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85FB413-445C-416B-A29F-CD8D316A50E2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SPATIAL SPLIT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6F5B81-C44D-442A-ADAF-A502D7062533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Foreground-rich blocks are assigned first</a:t>
            </a:r>
          </a:p>
        </p:txBody>
      </p:sp>
      <p:cxnSp>
        <p:nvCxnSpPr>
          <p:cNvPr id="54" name="直接箭头连接符 53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136952A-3EAB-435B-BF00-03A2564E2F79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14426B-DBF2-41AC-A7C5-8AA0F6130481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2525B7-2B04-4F02-89FE-33B9BDEBE792}"/>
              </a:ext>
            </a:extLst>
          </p:cNvPr>
          <p:cNvSpPr>
            <a:spLocks noGrp="1"/>
          </p:cNvSpPr>
          <p:nvPr/>
        </p:nvSpPr>
        <p:spPr>
          <a:xfrm>
            <a:off x="1666875" y="1600200"/>
            <a:ext cx="923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Shuffle blocks with seed 42, then sort them by foreground-pixel count from high to low.</a:t>
            </a: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609600" y="2609850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24532B0D-8802-4207-9BC3-A3311F2C2A94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624AF3-A114-4E7D-AADC-1086C2266834}"/>
              </a:ext>
            </a:extLst>
          </p:cNvPr>
          <p:cNvSpPr>
            <a:spLocks noGrp="1"/>
          </p:cNvSpPr>
          <p:nvPr/>
        </p:nvSpPr>
        <p:spPr>
          <a:xfrm>
            <a:off x="1666875" y="2943225"/>
            <a:ext cx="9239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For each block, score train, validation and test; assign the block to the highest-scoring split.</a:t>
            </a:r>
          </a:p>
        </p:txBody>
      </p:sp>
      <p:cxnSp>
        <p:nvCxnSpPr>
          <p:cNvPr id="61" name="直接箭头连接符 60"/>
          <p:cNvCxnSpPr/>
          <p:nvPr/>
        </p:nvCxnSpPr>
        <p:spPr>
          <a:xfrm>
            <a:off x="609600" y="39909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99B60846-1018-47A0-907A-9D33A6F28F1D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Method properties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4C9B244-8BF0-4CDE-A3CF-B359B27C1232}"/>
              </a:ext>
            </a:extLst>
          </p:cNvPr>
          <p:cNvSpPr>
            <a:spLocks noGrp="1"/>
          </p:cNvSpPr>
          <p:nvPr/>
        </p:nvSpPr>
        <p:spPr>
          <a:xfrm>
            <a:off x="2095500" y="4467225"/>
            <a:ext cx="114300" cy="114300"/>
          </a:xfrm>
          <a:prstGeom prst="ellipse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1698FE-7DFA-4FCE-85CB-CA30BA5E74DC}"/>
              </a:ext>
            </a:extLst>
          </p:cNvPr>
          <p:cNvSpPr>
            <a:spLocks noGrp="1"/>
          </p:cNvSpPr>
          <p:nvPr/>
        </p:nvSpPr>
        <p:spPr>
          <a:xfrm>
            <a:off x="228600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Positive-rich first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B59D1E6-76C7-472D-8E47-186EFDB12046}"/>
              </a:ext>
            </a:extLst>
          </p:cNvPr>
          <p:cNvSpPr>
            <a:spLocks noGrp="1"/>
          </p:cNvSpPr>
          <p:nvPr/>
        </p:nvSpPr>
        <p:spPr>
          <a:xfrm>
            <a:off x="4438650" y="4467225"/>
            <a:ext cx="114300" cy="114300"/>
          </a:xfrm>
          <a:prstGeom prst="ellipse">
            <a:avLst/>
          </a:prstGeom>
          <a:solidFill>
            <a:srgbClr val="188F91"/>
          </a:solidFill>
          <a:ln w="0">
            <a:solidFill>
              <a:srgbClr val="188F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C08A68-9B2B-4D6B-A627-013221B50FF6}"/>
              </a:ext>
            </a:extLst>
          </p:cNvPr>
          <p:cNvSpPr>
            <a:spLocks noGrp="1"/>
          </p:cNvSpPr>
          <p:nvPr/>
        </p:nvSpPr>
        <p:spPr>
          <a:xfrm>
            <a:off x="462915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Whole-block placement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878E950-C89C-466C-9674-BF7F8DE5517A}"/>
              </a:ext>
            </a:extLst>
          </p:cNvPr>
          <p:cNvSpPr>
            <a:spLocks noGrp="1"/>
          </p:cNvSpPr>
          <p:nvPr/>
        </p:nvSpPr>
        <p:spPr>
          <a:xfrm>
            <a:off x="6781800" y="4467225"/>
            <a:ext cx="114300" cy="114300"/>
          </a:xfrm>
          <a:prstGeom prst="ellipse">
            <a:avLst/>
          </a:prstGeom>
          <a:solidFill>
            <a:srgbClr val="4B739B"/>
          </a:solidFill>
          <a:ln w="0">
            <a:solidFill>
              <a:srgbClr val="4B73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FEE845-58A8-4272-B532-FA90B6C9BB68}"/>
              </a:ext>
            </a:extLst>
          </p:cNvPr>
          <p:cNvSpPr>
            <a:spLocks noGrp="1"/>
          </p:cNvSpPr>
          <p:nvPr/>
        </p:nvSpPr>
        <p:spPr>
          <a:xfrm>
            <a:off x="697230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Deterministic seed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F338B89-D40E-46D5-9F46-7B370946A270}"/>
              </a:ext>
            </a:extLst>
          </p:cNvPr>
          <p:cNvSpPr>
            <a:spLocks noGrp="1"/>
          </p:cNvSpPr>
          <p:nvPr/>
        </p:nvSpPr>
        <p:spPr>
          <a:xfrm>
            <a:off x="9124950" y="4467225"/>
            <a:ext cx="114300" cy="114300"/>
          </a:xfrm>
          <a:prstGeom prst="ellipse">
            <a:avLst/>
          </a:prstGeom>
          <a:solidFill>
            <a:srgbClr val="C8605A"/>
          </a:solidFill>
          <a:ln w="0">
            <a:solidFill>
              <a:srgbClr val="C860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F6109E-62E0-49DC-AA7C-36FB11BEDB2A}"/>
              </a:ext>
            </a:extLst>
          </p:cNvPr>
          <p:cNvSpPr>
            <a:spLocks noGrp="1"/>
          </p:cNvSpPr>
          <p:nvPr/>
        </p:nvSpPr>
        <p:spPr>
          <a:xfrm>
            <a:off x="9315450" y="44005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Greedy—not global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8381846-3FF4-4A2A-8EA7-1505246E627E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287000" cy="552450"/>
          </a:xfrm>
          <a:prstGeom prst="roundRect">
            <a:avLst>
              <a:gd name="adj" fmla="val 10345"/>
            </a:avLst>
          </a:prstGeom>
          <a:solidFill>
            <a:srgbClr val="0E2C22"/>
          </a:solidFill>
          <a:ln w="9525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762681-A9A9-4219-92EE-E7569EBE7C9E}"/>
              </a:ext>
            </a:extLst>
          </p:cNvPr>
          <p:cNvSpPr>
            <a:spLocks noGrp="1"/>
          </p:cNvSpPr>
          <p:nvPr/>
        </p:nvSpPr>
        <p:spPr>
          <a:xfrm>
            <a:off x="838200" y="5381625"/>
            <a:ext cx="9829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Ordering reduces the risk that large green-roof blocks accumulate in one split.</a:t>
            </a:r>
          </a:p>
        </p:txBody>
      </p:sp>
    </p:spTree>
    <p:extLst>
      <p:ext uri="{BB962C8B-B14F-4D97-AF65-F5344CB8AC3E}">
        <p14:creationId xmlns:p14="http://schemas.microsoft.com/office/powerpoint/2010/main" val="1260944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9EFFA45-EE4F-4A2D-BD60-C3B23DC66390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SPATIAL SPLIT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F7C60B-999C-4082-BD66-2583BDBF8594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The split score prioritizes foreground balance</a:t>
            </a: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762C9E3-BAD6-4A48-8645-807E3A91D16A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309417-43F0-4744-8BBF-089F95900BEC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Target ratios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EE1EF7-1EC4-4D6C-82EA-143518154FDA}"/>
              </a:ext>
            </a:extLst>
          </p:cNvPr>
          <p:cNvSpPr>
            <a:spLocks noGrp="1"/>
          </p:cNvSpPr>
          <p:nvPr/>
        </p:nvSpPr>
        <p:spPr>
          <a:xfrm>
            <a:off x="2305050" y="15049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Train 70% · Validation 15% · Test 15%</a:t>
            </a: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609600" y="2114550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45C914-10F8-4AE3-B849-6E059CF3090F}"/>
              </a:ext>
            </a:extLst>
          </p:cNvPr>
          <p:cNvSpPr>
            <a:spLocks noGrp="1"/>
          </p:cNvSpPr>
          <p:nvPr/>
        </p:nvSpPr>
        <p:spPr>
          <a:xfrm>
            <a:off x="904875" y="2571750"/>
            <a:ext cx="4429125" cy="2333625"/>
          </a:xfrm>
          <a:prstGeom prst="roundRect">
            <a:avLst>
              <a:gd name="adj" fmla="val 3265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42EBCDB-F109-4C36-8032-7099534AB140}"/>
              </a:ext>
            </a:extLst>
          </p:cNvPr>
          <p:cNvSpPr>
            <a:spLocks noGrp="1"/>
          </p:cNvSpPr>
          <p:nvPr/>
        </p:nvSpPr>
        <p:spPr>
          <a:xfrm>
            <a:off x="1143000" y="28003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CDE8D6"/>
          </a:solidFill>
          <a:ln w="9525">
            <a:solidFill>
              <a:srgbClr val="CDE8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496A10-2C07-40B1-A1CD-B64E8EF9D7AB}"/>
              </a:ext>
            </a:extLst>
          </p:cNvPr>
          <p:cNvSpPr>
            <a:spLocks noGrp="1"/>
          </p:cNvSpPr>
          <p:nvPr/>
        </p:nvSpPr>
        <p:spPr>
          <a:xfrm>
            <a:off x="1257300" y="2867025"/>
            <a:ext cx="819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TILE COUNT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BE6419-CDC9-482B-8ABC-01D04BFE0A2D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0.35 × tile </a:t>
            </a:r>
            <a:r>
              <a:rPr lang="zh-CN" altLang="zh-CN" b="1" dirty="0">
                <a:solidFill>
                  <a:srgbClr val="17221B"/>
                </a:solidFill>
                <a:latin typeface="Arial"/>
              </a:rPr>
              <a:t>shortfall</a:t>
            </a:r>
            <a:endParaRPr sz="1800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B14078-9BD8-4F80-B570-83FB88460A52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Normalized shortfall from the target number of tiles.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19F7B39-0CE7-4B3C-9AF3-1389FF2AD4DF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4429125" cy="2333625"/>
          </a:xfrm>
          <a:prstGeom prst="roundRect">
            <a:avLst>
              <a:gd name="adj" fmla="val 3265"/>
            </a:avLst>
          </a:prstGeom>
          <a:solidFill>
            <a:srgbClr val="F7EDED"/>
          </a:solidFill>
          <a:ln w="9525">
            <a:solidFill>
              <a:srgbClr val="F7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306202F-5EFF-49D5-80E4-7B473075A716}"/>
              </a:ext>
            </a:extLst>
          </p:cNvPr>
          <p:cNvSpPr>
            <a:spLocks noGrp="1"/>
          </p:cNvSpPr>
          <p:nvPr/>
        </p:nvSpPr>
        <p:spPr>
          <a:xfrm>
            <a:off x="7096125" y="2800350"/>
            <a:ext cx="1679660" cy="285750"/>
          </a:xfrm>
          <a:prstGeom prst="roundRect">
            <a:avLst>
              <a:gd name="adj" fmla="val 50000"/>
            </a:avLst>
          </a:prstGeom>
          <a:solidFill>
            <a:srgbClr val="F0D6D3"/>
          </a:solidFill>
          <a:ln w="9525">
            <a:solidFill>
              <a:srgbClr val="F0D6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B28B7B-C7E6-4516-AEE0-B4698A271254}"/>
              </a:ext>
            </a:extLst>
          </p:cNvPr>
          <p:cNvSpPr>
            <a:spLocks noGrp="1"/>
          </p:cNvSpPr>
          <p:nvPr/>
        </p:nvSpPr>
        <p:spPr>
          <a:xfrm>
            <a:off x="7153275" y="2862263"/>
            <a:ext cx="156536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112"/>
          </a:bodyPr>
          <a:lstStyle/>
          <a:p>
            <a:pPr algn="ctr">
              <a:buNone/>
              <a:defRPr sz="90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8605A"/>
                </a:solidFill>
                <a:latin typeface="Arial"/>
                <a:ea typeface="Arial"/>
                <a:cs typeface="Arial"/>
              </a:rPr>
              <a:t>FOREGROUND PIXELS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B834A4-C9AE-43E6-95C5-76DE1041956B}"/>
              </a:ext>
            </a:extLst>
          </p:cNvPr>
          <p:cNvSpPr>
            <a:spLocks noGrp="1"/>
          </p:cNvSpPr>
          <p:nvPr/>
        </p:nvSpPr>
        <p:spPr>
          <a:xfrm>
            <a:off x="7096125" y="33718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0.65 × pixel </a:t>
            </a:r>
            <a:r>
              <a:rPr lang="zh-CN" altLang="zh-CN" b="1" dirty="0">
                <a:solidFill>
                  <a:srgbClr val="17221B"/>
                </a:solidFill>
                <a:latin typeface="Arial"/>
              </a:rPr>
              <a:t>shortfall</a:t>
            </a:r>
            <a:endParaRPr sz="1800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730A49-54B5-4A30-965E-CA215A01D145}"/>
              </a:ext>
            </a:extLst>
          </p:cNvPr>
          <p:cNvSpPr>
            <a:spLocks noGrp="1"/>
          </p:cNvSpPr>
          <p:nvPr/>
        </p:nvSpPr>
        <p:spPr>
          <a:xfrm>
            <a:off x="7096125" y="38481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Normalized shortfall from the target green-roof pixel mass.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5101C0-15C9-49FD-B565-2853EF3028C2}"/>
              </a:ext>
            </a:extLst>
          </p:cNvPr>
          <p:cNvSpPr>
            <a:spLocks noGrp="1"/>
          </p:cNvSpPr>
          <p:nvPr/>
        </p:nvSpPr>
        <p:spPr>
          <a:xfrm>
            <a:off x="5791200" y="33337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CC37275-A665-4E57-85C5-C91D8ECBDF41}"/>
              </a:ext>
            </a:extLst>
          </p:cNvPr>
          <p:cNvSpPr>
            <a:spLocks noGrp="1"/>
          </p:cNvSpPr>
          <p:nvPr/>
        </p:nvSpPr>
        <p:spPr>
          <a:xfrm>
            <a:off x="904875" y="5257800"/>
            <a:ext cx="10382250" cy="514350"/>
          </a:xfrm>
          <a:prstGeom prst="roundRect">
            <a:avLst>
              <a:gd name="adj" fmla="val 9259"/>
            </a:avLst>
          </a:prstGeom>
          <a:solidFill>
            <a:srgbClr val="0E2C22"/>
          </a:solidFill>
          <a:ln w="9525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C14171-65D7-45F6-9FAC-54228BFD5E34}"/>
              </a:ext>
            </a:extLst>
          </p:cNvPr>
          <p:cNvSpPr>
            <a:spLocks noGrp="1"/>
          </p:cNvSpPr>
          <p:nvPr/>
        </p:nvSpPr>
        <p:spPr>
          <a:xfrm>
            <a:off x="1143000" y="5381625"/>
            <a:ext cx="990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scoreₛ = 0.35 </a:t>
            </a:r>
            <a:r>
              <a:rPr sz="15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Δtiles,s</a:t>
            </a: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+ 0.65 </a:t>
            </a:r>
            <a:r>
              <a:rPr sz="15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Δpixels,s</a:t>
            </a: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· highest score receives the whole block</a:t>
            </a:r>
          </a:p>
        </p:txBody>
      </p:sp>
    </p:spTree>
    <p:extLst>
      <p:ext uri="{BB962C8B-B14F-4D97-AF65-F5344CB8AC3E}">
        <p14:creationId xmlns:p14="http://schemas.microsoft.com/office/powerpoint/2010/main" val="1059358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8C03C12-FA3A-40D3-AE68-DAA3793C6562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SPATIAL SPLIT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E1AF0D-C08A-4AE5-A9F8-3FAE8FFB4F38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The frozen split is balanced—but not exactly constrained</a:t>
            </a:r>
          </a:p>
        </p:txBody>
      </p:sp>
      <p:cxnSp>
        <p:nvCxnSpPr>
          <p:cNvPr id="86" name="直接箭头连接符 85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0CB13CD-8D9A-4BB0-8DC7-183291CEC6CD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cxnSp>
        <p:nvCxnSpPr>
          <p:cNvPr id="88" name="直接箭头连接符 87"/>
          <p:cNvCxnSpPr/>
          <p:nvPr/>
        </p:nvCxnSpPr>
        <p:spPr>
          <a:xfrm>
            <a:off x="666750" y="20478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DBF015B1-8D2A-4C88-81B8-3157A3BE176F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Hard constraint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9E1102-BEAA-4371-A09F-8C39B9641B51}"/>
              </a:ext>
            </a:extLst>
          </p:cNvPr>
          <p:cNvSpPr>
            <a:spLocks noGrp="1"/>
          </p:cNvSpPr>
          <p:nvPr/>
        </p:nvSpPr>
        <p:spPr>
          <a:xfrm>
            <a:off x="3143250" y="16192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38 blocks assigned once · 28 / 5 / 5 · no overlap</a:t>
            </a:r>
          </a:p>
        </p:txBody>
      </p:sp>
      <p:cxnSp>
        <p:nvCxnSpPr>
          <p:cNvPr id="91" name="直接箭头连接符 90"/>
          <p:cNvCxnSpPr/>
          <p:nvPr/>
        </p:nvCxnSpPr>
        <p:spPr>
          <a:xfrm>
            <a:off x="666750" y="271462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FEC2A919-7EA2-4DF2-B196-88663E8AF4C7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Tile share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079FAE-AA37-40C4-AC12-12F62EC841B8}"/>
              </a:ext>
            </a:extLst>
          </p:cNvPr>
          <p:cNvSpPr>
            <a:spLocks noGrp="1"/>
          </p:cNvSpPr>
          <p:nvPr/>
        </p:nvSpPr>
        <p:spPr>
          <a:xfrm>
            <a:off x="3143250" y="228600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72.17% / 12.42% / 15.41%</a:t>
            </a:r>
          </a:p>
        </p:txBody>
      </p:sp>
      <p:cxnSp>
        <p:nvCxnSpPr>
          <p:cNvPr id="94" name="直接箭头连接符 93"/>
          <p:cNvCxnSpPr/>
          <p:nvPr/>
        </p:nvCxnSpPr>
        <p:spPr>
          <a:xfrm>
            <a:off x="666750" y="33813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33C38C6-AF5B-45ED-AE8E-7A6F030B527F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Positive tiles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03479E-9B3D-42B0-9F7B-F7BFAD32518C}"/>
              </a:ext>
            </a:extLst>
          </p:cNvPr>
          <p:cNvSpPr>
            <a:spLocks noGrp="1"/>
          </p:cNvSpPr>
          <p:nvPr/>
        </p:nvSpPr>
        <p:spPr>
          <a:xfrm>
            <a:off x="3143250" y="29527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71.43% / 12.09% / 16.48%</a:t>
            </a: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666750" y="404812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15C42CEB-FA0D-4B95-B6E4-F7461DC716D3}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Foreground pixels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9B995F-EE83-4255-B075-A7FB36D68C35}"/>
              </a:ext>
            </a:extLst>
          </p:cNvPr>
          <p:cNvSpPr>
            <a:spLocks noGrp="1"/>
          </p:cNvSpPr>
          <p:nvPr/>
        </p:nvSpPr>
        <p:spPr>
          <a:xfrm>
            <a:off x="3143250" y="361950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68.41% / 16.35% / 15.25%</a:t>
            </a:r>
          </a:p>
        </p:txBody>
      </p:sp>
      <p:cxnSp>
        <p:nvCxnSpPr>
          <p:cNvPr id="100" name="直接箭头连接符 99"/>
          <p:cNvCxnSpPr/>
          <p:nvPr/>
        </p:nvCxnSpPr>
        <p:spPr>
          <a:xfrm>
            <a:off x="666750" y="47148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B2567192-5DD1-49E7-9F3C-1B2BCEB2FA63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Tile counts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7E3FD4-25EB-4B0A-A341-2714E269D1DB}"/>
              </a:ext>
            </a:extLst>
          </p:cNvPr>
          <p:cNvSpPr>
            <a:spLocks noGrp="1"/>
          </p:cNvSpPr>
          <p:nvPr/>
        </p:nvSpPr>
        <p:spPr>
          <a:xfrm>
            <a:off x="3143250" y="42862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1,180 / 203 / 252</a:t>
            </a:r>
          </a:p>
        </p:txBody>
      </p:sp>
      <p:cxnSp>
        <p:nvCxnSpPr>
          <p:cNvPr id="103" name="直接箭头连接符 102"/>
          <p:cNvCxnSpPr/>
          <p:nvPr/>
        </p:nvCxnSpPr>
        <p:spPr>
          <a:xfrm>
            <a:off x="666750" y="538162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92621C4-1075-48E1-A154-7CBF1BEBC6C7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7A70EC-0E5F-45E2-9A23-7157AD686CDD}"/>
              </a:ext>
            </a:extLst>
          </p:cNvPr>
          <p:cNvSpPr>
            <a:spLocks noGrp="1"/>
          </p:cNvSpPr>
          <p:nvPr/>
        </p:nvSpPr>
        <p:spPr>
          <a:xfrm>
            <a:off x="3143250" y="495300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Positive-tile balance is indirect, not optimized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AEE21D6-A227-475C-A4D6-48DDC23A22D0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Order: train / validation / test · target ratio: 70 / 15 / 15%</a:t>
            </a:r>
          </a:p>
        </p:txBody>
      </p:sp>
    </p:spTree>
    <p:extLst>
      <p:ext uri="{BB962C8B-B14F-4D97-AF65-F5344CB8AC3E}">
        <p14:creationId xmlns:p14="http://schemas.microsoft.com/office/powerpoint/2010/main" val="3008588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9EFFA45-EE4F-4A2D-BD60-C3B23DC66390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EXPERIMENT DESIGN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F7C60B-999C-4082-BD66-2583BDBF8594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One frozen split isolates the effect of negative training scenes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762C9E3-BAD6-4A48-8645-807E3A91D16A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309417-43F0-4744-8BBF-089F95900BEC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Shared protocol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EE1EF7-1EC4-4D6C-82EA-143518154FDA}"/>
              </a:ext>
            </a:extLst>
          </p:cNvPr>
          <p:cNvSpPr>
            <a:spLocks noGrp="1"/>
          </p:cNvSpPr>
          <p:nvPr/>
        </p:nvSpPr>
        <p:spPr>
          <a:xfrm>
            <a:off x="2305050" y="1504950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Same U-Net · same optimizer budget · same augmentations · same full validation set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609600" y="2114550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45C914-10F8-4AE3-B849-6E059CF3090F}"/>
              </a:ext>
            </a:extLst>
          </p:cNvPr>
          <p:cNvSpPr>
            <a:spLocks noGrp="1"/>
          </p:cNvSpPr>
          <p:nvPr/>
        </p:nvSpPr>
        <p:spPr>
          <a:xfrm>
            <a:off x="904875" y="2571750"/>
            <a:ext cx="4429125" cy="2333625"/>
          </a:xfrm>
          <a:prstGeom prst="roundRect">
            <a:avLst>
              <a:gd name="adj" fmla="val 3265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42EBCDB-F109-4C36-8032-7099534AB140}"/>
              </a:ext>
            </a:extLst>
          </p:cNvPr>
          <p:cNvSpPr>
            <a:spLocks noGrp="1"/>
          </p:cNvSpPr>
          <p:nvPr/>
        </p:nvSpPr>
        <p:spPr>
          <a:xfrm>
            <a:off x="1143000" y="2800350"/>
            <a:ext cx="1047750" cy="285750"/>
          </a:xfrm>
          <a:prstGeom prst="roundRect">
            <a:avLst>
              <a:gd name="adj" fmla="val 50000"/>
            </a:avLst>
          </a:prstGeom>
          <a:solidFill>
            <a:srgbClr val="CDE8D6"/>
          </a:solidFill>
          <a:ln w="9525">
            <a:solidFill>
              <a:srgbClr val="CDE8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496A10-2C07-40B1-A1CD-B64E8EF9D7AB}"/>
              </a:ext>
            </a:extLst>
          </p:cNvPr>
          <p:cNvSpPr>
            <a:spLocks noGrp="1"/>
          </p:cNvSpPr>
          <p:nvPr/>
        </p:nvSpPr>
        <p:spPr>
          <a:xfrm>
            <a:off x="1257300" y="2867025"/>
            <a:ext cx="819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ALL-TILE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BE6419-CDC9-482B-8ABC-01D04BFE0A2D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590 positive + 590 negative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B14078-9BD8-4F80-B570-83FB88460A52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Balanced per epoch</a:t>
            </a:r>
          </a:p>
          <a:p>
            <a:pPr algn="l"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1180 samples / epoch</a:t>
            </a:r>
            <a:endParaRPr lang="en-US" sz="1350" b="0" dirty="0">
              <a:solidFill>
                <a:srgbClr val="5D6B63"/>
              </a:solidFill>
              <a:latin typeface="Arial"/>
              <a:ea typeface="Arial"/>
              <a:cs typeface="Arial"/>
            </a:endParaRPr>
          </a:p>
          <a:p>
            <a:pPr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Every batch=2 positive + 2 negative</a:t>
            </a:r>
            <a:endParaRPr sz="1350" b="0" dirty="0">
              <a:solidFill>
                <a:srgbClr val="5D6B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19F7B39-0CE7-4B3C-9AF3-1389FF2AD4DF}"/>
              </a:ext>
            </a:extLst>
          </p:cNvPr>
          <p:cNvSpPr>
            <a:spLocks noGrp="1"/>
          </p:cNvSpPr>
          <p:nvPr/>
        </p:nvSpPr>
        <p:spPr>
          <a:xfrm>
            <a:off x="6858000" y="2571750"/>
            <a:ext cx="4429125" cy="2333625"/>
          </a:xfrm>
          <a:prstGeom prst="roundRect">
            <a:avLst>
              <a:gd name="adj" fmla="val 3265"/>
            </a:avLst>
          </a:prstGeom>
          <a:solidFill>
            <a:srgbClr val="F7EDED"/>
          </a:solidFill>
          <a:ln w="9525">
            <a:solidFill>
              <a:srgbClr val="F7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306202F-5EFF-49D5-80E4-7B473075A716}"/>
              </a:ext>
            </a:extLst>
          </p:cNvPr>
          <p:cNvSpPr>
            <a:spLocks noGrp="1"/>
          </p:cNvSpPr>
          <p:nvPr/>
        </p:nvSpPr>
        <p:spPr>
          <a:xfrm>
            <a:off x="7096125" y="28003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0D6D3"/>
          </a:solidFill>
          <a:ln w="9525">
            <a:solidFill>
              <a:srgbClr val="F0D6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B28B7B-C7E6-4516-AEE0-B4698A271254}"/>
              </a:ext>
            </a:extLst>
          </p:cNvPr>
          <p:cNvSpPr>
            <a:spLocks noGrp="1"/>
          </p:cNvSpPr>
          <p:nvPr/>
        </p:nvSpPr>
        <p:spPr>
          <a:xfrm>
            <a:off x="7210425" y="2867025"/>
            <a:ext cx="1200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POSITIVE-ONLY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B834A4-C9AE-43E6-95C5-76DE1041956B}"/>
              </a:ext>
            </a:extLst>
          </p:cNvPr>
          <p:cNvSpPr>
            <a:spLocks noGrp="1"/>
          </p:cNvSpPr>
          <p:nvPr/>
        </p:nvSpPr>
        <p:spPr>
          <a:xfrm>
            <a:off x="7096125" y="33718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1180 positive samples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730A49-54B5-4A30-965E-CA215A01D145}"/>
              </a:ext>
            </a:extLst>
          </p:cNvPr>
          <p:cNvSpPr>
            <a:spLocks noGrp="1"/>
          </p:cNvSpPr>
          <p:nvPr/>
        </p:nvSpPr>
        <p:spPr>
          <a:xfrm>
            <a:off x="7096125" y="38481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Positive tiles sampled with replacement</a:t>
            </a:r>
          </a:p>
          <a:p>
            <a:pPr algn="l"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No negative-only training scenes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5101C0-15C9-49FD-B565-2853EF3028C2}"/>
              </a:ext>
            </a:extLst>
          </p:cNvPr>
          <p:cNvSpPr>
            <a:spLocks noGrp="1"/>
          </p:cNvSpPr>
          <p:nvPr/>
        </p:nvSpPr>
        <p:spPr>
          <a:xfrm>
            <a:off x="5791200" y="333375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0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CC37275-A665-4E57-85C5-C91D8ECBDF41}"/>
              </a:ext>
            </a:extLst>
          </p:cNvPr>
          <p:cNvSpPr>
            <a:spLocks noGrp="1"/>
          </p:cNvSpPr>
          <p:nvPr/>
        </p:nvSpPr>
        <p:spPr>
          <a:xfrm>
            <a:off x="904875" y="5257800"/>
            <a:ext cx="10382250" cy="514350"/>
          </a:xfrm>
          <a:prstGeom prst="roundRect">
            <a:avLst>
              <a:gd name="adj" fmla="val 9259"/>
            </a:avLst>
          </a:prstGeom>
          <a:solidFill>
            <a:srgbClr val="0E2C22"/>
          </a:solidFill>
          <a:ln w="9525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C14171-65D7-45F6-9FAC-54228BFD5E34}"/>
              </a:ext>
            </a:extLst>
          </p:cNvPr>
          <p:cNvSpPr>
            <a:spLocks noGrp="1"/>
          </p:cNvSpPr>
          <p:nvPr/>
        </p:nvSpPr>
        <p:spPr>
          <a:xfrm>
            <a:off x="1143000" y="5381625"/>
            <a:ext cx="990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the training sampler changes; validation </a:t>
            </a: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composition</a:t>
            </a: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and labels do not.</a:t>
            </a:r>
          </a:p>
        </p:txBody>
      </p:sp>
    </p:spTree>
    <p:extLst>
      <p:ext uri="{BB962C8B-B14F-4D97-AF65-F5344CB8AC3E}">
        <p14:creationId xmlns:p14="http://schemas.microsoft.com/office/powerpoint/2010/main" val="1890560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0B00A0E-0320-45E9-8862-3EDA60109EBA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FIRST MODEL 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C9EEDD-2B52-44FD-95DB-4228E703223D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All-tile training performs better after threshold calibration</a:t>
            </a: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F6DA710-644D-41E6-896E-29E80E9D1BBD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9" name="Chart"/>
          <p:cNvGraphicFramePr/>
          <p:nvPr>
            <p:extLst>
              <p:ext uri="{D42A27DB-BD31-4B8C-83A1-F6EECF244321}">
                <p14:modId xmlns:p14="http://schemas.microsoft.com/office/powerpoint/2010/main" val="3727107939"/>
              </p:ext>
            </p:extLst>
          </p:nvPr>
        </p:nvGraphicFramePr>
        <p:xfrm>
          <a:off x="523875" y="1571625"/>
          <a:ext cx="7381875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CBA7D832-0C9F-4EF9-AA9F-649C1868A57E}"/>
              </a:ext>
            </a:extLst>
          </p:cNvPr>
          <p:cNvSpPr>
            <a:spLocks noGrp="1"/>
          </p:cNvSpPr>
          <p:nvPr/>
        </p:nvSpPr>
        <p:spPr>
          <a:xfrm>
            <a:off x="8334375" y="1666875"/>
            <a:ext cx="2619375" cy="285750"/>
          </a:xfrm>
          <a:prstGeom prst="roundRect">
            <a:avLst>
              <a:gd name="adj" fmla="val 50000"/>
            </a:avLst>
          </a:prstGeom>
          <a:solidFill>
            <a:srgbClr val="E8EFEA"/>
          </a:solidFill>
          <a:ln w="9525">
            <a:solidFill>
              <a:srgbClr val="E8EF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35DD1D-465E-446F-9AEC-DB4322642654}"/>
              </a:ext>
            </a:extLst>
          </p:cNvPr>
          <p:cNvSpPr>
            <a:spLocks noGrp="1"/>
          </p:cNvSpPr>
          <p:nvPr/>
        </p:nvSpPr>
        <p:spPr>
          <a:xfrm>
            <a:off x="8448675" y="1733550"/>
            <a:ext cx="23907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CALIBRATED ON VALIDATION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EDAA9D-5E84-4244-B27C-EA6D47EEB453}"/>
              </a:ext>
            </a:extLst>
          </p:cNvPr>
          <p:cNvSpPr>
            <a:spLocks noGrp="1"/>
          </p:cNvSpPr>
          <p:nvPr/>
        </p:nvSpPr>
        <p:spPr>
          <a:xfrm>
            <a:off x="8334375" y="2286000"/>
            <a:ext cx="2619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0.05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689FA8-5A45-4328-BC5D-D6B7F25A9385}"/>
              </a:ext>
            </a:extLst>
          </p:cNvPr>
          <p:cNvSpPr>
            <a:spLocks noGrp="1"/>
          </p:cNvSpPr>
          <p:nvPr/>
        </p:nvSpPr>
        <p:spPr>
          <a:xfrm>
            <a:off x="8334375" y="2914650"/>
            <a:ext cx="2619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all-tile threshold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518EA1-FD35-4EFB-A413-990A3ED3081F}"/>
              </a:ext>
            </a:extLst>
          </p:cNvPr>
          <p:cNvSpPr>
            <a:spLocks noGrp="1"/>
          </p:cNvSpPr>
          <p:nvPr/>
        </p:nvSpPr>
        <p:spPr>
          <a:xfrm>
            <a:off x="8334375" y="3667125"/>
            <a:ext cx="2619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0.95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E26284-65D1-4F2A-9EAD-E7CF4A66837F}"/>
              </a:ext>
            </a:extLst>
          </p:cNvPr>
          <p:cNvSpPr>
            <a:spLocks noGrp="1"/>
          </p:cNvSpPr>
          <p:nvPr/>
        </p:nvSpPr>
        <p:spPr>
          <a:xfrm>
            <a:off x="8334375" y="4295775"/>
            <a:ext cx="2619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positive-only threshold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09D06CA-F2F7-46BA-BBBF-E94E5C4C5565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666750"/>
          </a:xfrm>
          <a:prstGeom prst="roundRect">
            <a:avLst>
              <a:gd name="adj" fmla="val 8571"/>
            </a:avLst>
          </a:prstGeom>
          <a:solidFill>
            <a:srgbClr val="F4F7F4"/>
          </a:solidFill>
          <a:ln w="9525">
            <a:solidFill>
              <a:srgbClr val="F4F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174772-9EC1-454C-9006-FFB6BFA5C853}"/>
              </a:ext>
            </a:extLst>
          </p:cNvPr>
          <p:cNvSpPr>
            <a:spLocks noGrp="1"/>
          </p:cNvSpPr>
          <p:nvPr/>
        </p:nvSpPr>
        <p:spPr>
          <a:xfrm>
            <a:off x="8315325" y="5238750"/>
            <a:ext cx="2714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05" lnSpcReduction="10000"/>
          </a:bodyPr>
          <a:lstStyle/>
          <a:p>
            <a:pPr algn="ctr">
              <a:defRPr sz="14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Dice advantage</a:t>
            </a:r>
          </a:p>
          <a:p>
            <a:pPr algn="ctr">
              <a:defRPr sz="14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+5.33 percentage points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62BBFD-8A1D-4BBF-9E7B-95FA27968EE9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Validation only · 203 tiles · test set untouched</a:t>
            </a:r>
          </a:p>
        </p:txBody>
      </p:sp>
    </p:spTree>
    <p:extLst>
      <p:ext uri="{BB962C8B-B14F-4D97-AF65-F5344CB8AC3E}">
        <p14:creationId xmlns:p14="http://schemas.microsoft.com/office/powerpoint/2010/main" val="2147400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AFAE1EC-C828-46AE-AF0E-A451A5CAF9BF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ERROR ANALYSIS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EC7DB1-3D27-4450-A8BB-7729ED73C928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Positive-only training spreads false positives across more scenes</a:t>
            </a: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E3B0D5C-E012-4A94-97D5-9FAD53DF317B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205F79E-DED3-4141-9AE5-808CC4ACF083}"/>
              </a:ext>
            </a:extLst>
          </p:cNvPr>
          <p:cNvSpPr>
            <a:spLocks noGrp="1"/>
          </p:cNvSpPr>
          <p:nvPr/>
        </p:nvSpPr>
        <p:spPr>
          <a:xfrm>
            <a:off x="590550" y="1476375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CDE8D6"/>
          </a:solidFill>
          <a:ln w="9525">
            <a:solidFill>
              <a:srgbClr val="CDE8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6BE4C4-D36A-48E8-A619-B1EE68C6D393}"/>
              </a:ext>
            </a:extLst>
          </p:cNvPr>
          <p:cNvSpPr>
            <a:spLocks noGrp="1"/>
          </p:cNvSpPr>
          <p:nvPr/>
        </p:nvSpPr>
        <p:spPr>
          <a:xfrm>
            <a:off x="704850" y="1543050"/>
            <a:ext cx="914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ALL-TILE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1A1D3B-D58D-4B92-ABAF-BCC07445C7B2}"/>
              </a:ext>
            </a:extLst>
          </p:cNvPr>
          <p:cNvSpPr>
            <a:spLocks noGrp="1"/>
          </p:cNvSpPr>
          <p:nvPr/>
        </p:nvSpPr>
        <p:spPr>
          <a:xfrm>
            <a:off x="1857375" y="14954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10 / 181 negative scenes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2293739"/>
            <a:ext cx="5334000" cy="1308497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BD2BFD14-7F39-4D25-8697-39ECB687E891}"/>
              </a:ext>
            </a:extLst>
          </p:cNvPr>
          <p:cNvSpPr>
            <a:spLocks noGrp="1"/>
          </p:cNvSpPr>
          <p:nvPr/>
        </p:nvSpPr>
        <p:spPr>
          <a:xfrm>
            <a:off x="6267450" y="1476375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0D6D3"/>
          </a:solidFill>
          <a:ln w="9525">
            <a:solidFill>
              <a:srgbClr val="F0D6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99FB71-9126-46F9-A4F4-FD1B8E65861E}"/>
              </a:ext>
            </a:extLst>
          </p:cNvPr>
          <p:cNvSpPr>
            <a:spLocks noGrp="1"/>
          </p:cNvSpPr>
          <p:nvPr/>
        </p:nvSpPr>
        <p:spPr>
          <a:xfrm>
            <a:off x="6381750" y="1543050"/>
            <a:ext cx="1200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POSITIVE-ONLY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29FD4D-F9E5-4550-87F6-7B1361D2917F}"/>
              </a:ext>
            </a:extLst>
          </p:cNvPr>
          <p:cNvSpPr>
            <a:spLocks noGrp="1"/>
          </p:cNvSpPr>
          <p:nvPr/>
        </p:nvSpPr>
        <p:spPr>
          <a:xfrm>
            <a:off x="7810500" y="1495425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65 / 181 negative scenes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67450" y="2293739"/>
            <a:ext cx="5334000" cy="1308497"/>
          </a:xfrm>
          <a:prstGeom prst="rect">
            <a:avLst/>
          </a:prstGeom>
        </p:spPr>
      </p:pic>
      <p:cxnSp>
        <p:nvCxnSpPr>
          <p:cNvPr id="34" name="直接箭头连接符 33"/>
          <p:cNvCxnSpPr/>
          <p:nvPr/>
        </p:nvCxnSpPr>
        <p:spPr>
          <a:xfrm>
            <a:off x="590550" y="4333875"/>
            <a:ext cx="110109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957FCDB-3154-4788-A19C-B39A04CEA1A5}"/>
              </a:ext>
            </a:extLst>
          </p:cNvPr>
          <p:cNvSpPr>
            <a:spLocks noGrp="1"/>
          </p:cNvSpPr>
          <p:nvPr/>
        </p:nvSpPr>
        <p:spPr>
          <a:xfrm>
            <a:off x="590550" y="45720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False-positive pixels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DECD74-88AE-432E-844D-B067DCAED176}"/>
              </a:ext>
            </a:extLst>
          </p:cNvPr>
          <p:cNvSpPr>
            <a:spLocks noGrp="1"/>
          </p:cNvSpPr>
          <p:nvPr/>
        </p:nvSpPr>
        <p:spPr>
          <a:xfrm>
            <a:off x="2952750" y="448627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31,962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CC8BC2D-624B-41FD-A9D2-E2E0BD0976A0}"/>
              </a:ext>
            </a:extLst>
          </p:cNvPr>
          <p:cNvSpPr>
            <a:spLocks noGrp="1"/>
          </p:cNvSpPr>
          <p:nvPr/>
        </p:nvSpPr>
        <p:spPr>
          <a:xfrm>
            <a:off x="2952750" y="486727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all-tile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8F96D4-C9FE-4C99-B3E0-478B0601D482}"/>
              </a:ext>
            </a:extLst>
          </p:cNvPr>
          <p:cNvSpPr>
            <a:spLocks noGrp="1"/>
          </p:cNvSpPr>
          <p:nvPr/>
        </p:nvSpPr>
        <p:spPr>
          <a:xfrm>
            <a:off x="6429375" y="448627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29,839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B06289-63DD-4E68-B59A-0CCB70D1B848}"/>
              </a:ext>
            </a:extLst>
          </p:cNvPr>
          <p:cNvSpPr>
            <a:spLocks noGrp="1"/>
          </p:cNvSpPr>
          <p:nvPr/>
        </p:nvSpPr>
        <p:spPr>
          <a:xfrm>
            <a:off x="6429375" y="48672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positive-only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F50B413-3215-4FB1-80A4-ED4789C88DB2}"/>
              </a:ext>
            </a:extLst>
          </p:cNvPr>
          <p:cNvSpPr>
            <a:spLocks noGrp="1"/>
          </p:cNvSpPr>
          <p:nvPr/>
        </p:nvSpPr>
        <p:spPr>
          <a:xfrm>
            <a:off x="590550" y="5429250"/>
            <a:ext cx="11010900" cy="533400"/>
          </a:xfrm>
          <a:prstGeom prst="roundRect">
            <a:avLst>
              <a:gd name="adj" fmla="val 8929"/>
            </a:avLst>
          </a:prstGeom>
          <a:solidFill>
            <a:srgbClr val="0E2C22"/>
          </a:solidFill>
          <a:ln w="9525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7D3792-DD5C-4434-AD1C-C2DD298CF3D4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1051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Positive-only produces slightly fewer FP pixels—but contaminates 6.5× more negative scenes.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8711B5-9E01-4F92-8150-9D5A62388B42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Diagnostic panels show image · truth · probability · prediction · TP/FP/FN</a:t>
            </a:r>
          </a:p>
        </p:txBody>
      </p:sp>
    </p:spTree>
    <p:extLst>
      <p:ext uri="{BB962C8B-B14F-4D97-AF65-F5344CB8AC3E}">
        <p14:creationId xmlns:p14="http://schemas.microsoft.com/office/powerpoint/2010/main" val="745631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899D376-D1BD-47C7-A8A8-4DFC4462F30A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160DEE-EC6A-479B-8C71-DE11F181DB50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Current evidence favors negative-aware training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7F03DF1-658B-48F5-B885-48C9F3AFA902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9A92BF-F929-4CE7-8625-102340733D96}"/>
              </a:ext>
            </a:extLst>
          </p:cNvPr>
          <p:cNvSpPr>
            <a:spLocks noGrp="1"/>
          </p:cNvSpPr>
          <p:nvPr/>
        </p:nvSpPr>
        <p:spPr>
          <a:xfrm>
            <a:off x="619125" y="16478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SUPPORTED NOW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1EC841-55D6-4D0F-ADA3-1D5DE67694F3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5000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Including negative scenes improves validation Dice and reduces the number of contaminated negative tiles.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555074-1140-47B2-AEC0-42EF704284BA}"/>
              </a:ext>
            </a:extLst>
          </p:cNvPr>
          <p:cNvSpPr>
            <a:spLocks noGrp="1"/>
          </p:cNvSpPr>
          <p:nvPr/>
        </p:nvSpPr>
        <p:spPr>
          <a:xfrm>
            <a:off x="6572250" y="16478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NOT YET CLAIMED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CE8BCD-E238-470A-8F9B-66D25A1C4F75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466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Final test performance, </a:t>
            </a:r>
            <a:r>
              <a:rPr lang="en-US" altLang="zh-CN" sz="20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more</a:t>
            </a:r>
            <a:r>
              <a:rPr sz="202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-Berlin transfer and cross-year generalization remain unknown.</a:t>
            </a: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619125" y="3400425"/>
            <a:ext cx="10620375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CE66B471-8E33-49BB-8C77-8F4DD6FEDACF}"/>
              </a:ext>
            </a:extLst>
          </p:cNvPr>
          <p:cNvSpPr>
            <a:spLocks noGrp="1"/>
          </p:cNvSpPr>
          <p:nvPr/>
        </p:nvSpPr>
        <p:spPr>
          <a:xfrm>
            <a:off x="619125" y="38100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9527676-3F50-4B34-B888-2AFF0F365BD2}"/>
              </a:ext>
            </a:extLst>
          </p:cNvPr>
          <p:cNvSpPr>
            <a:spLocks noGrp="1"/>
          </p:cNvSpPr>
          <p:nvPr/>
        </p:nvSpPr>
        <p:spPr>
          <a:xfrm>
            <a:off x="1666875" y="3838575"/>
            <a:ext cx="114300" cy="114300"/>
          </a:xfrm>
          <a:prstGeom prst="ellipse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88FBE9-A8C2-484F-9EB3-0B094D852897}"/>
              </a:ext>
            </a:extLst>
          </p:cNvPr>
          <p:cNvSpPr>
            <a:spLocks noGrp="1"/>
          </p:cNvSpPr>
          <p:nvPr/>
        </p:nvSpPr>
        <p:spPr>
          <a:xfrm>
            <a:off x="1905000" y="3733800"/>
            <a:ext cx="3095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Lock the decision threshold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2EFDFC0-5AEE-475E-B460-E15C8890CBE8}"/>
              </a:ext>
            </a:extLst>
          </p:cNvPr>
          <p:cNvSpPr>
            <a:spLocks noGrp="1"/>
          </p:cNvSpPr>
          <p:nvPr/>
        </p:nvSpPr>
        <p:spPr>
          <a:xfrm>
            <a:off x="5095875" y="3838575"/>
            <a:ext cx="114300" cy="114300"/>
          </a:xfrm>
          <a:prstGeom prst="ellipse">
            <a:avLst/>
          </a:prstGeom>
          <a:solidFill>
            <a:srgbClr val="188F91"/>
          </a:solidFill>
          <a:ln w="0">
            <a:solidFill>
              <a:srgbClr val="188F9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C074F2-F1B7-4D6D-A7F1-B30C59020409}"/>
              </a:ext>
            </a:extLst>
          </p:cNvPr>
          <p:cNvSpPr>
            <a:spLocks noGrp="1"/>
          </p:cNvSpPr>
          <p:nvPr/>
        </p:nvSpPr>
        <p:spPr>
          <a:xfrm>
            <a:off x="5334000" y="373380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783"/>
          </a:bodyPr>
          <a:lstStyle/>
          <a:p>
            <a:pPr algn="l">
              <a:defRPr sz="15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Evaluate the untouched test set once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9C617F2-3430-4FA8-AC33-BC199BFFFD6D}"/>
              </a:ext>
            </a:extLst>
          </p:cNvPr>
          <p:cNvSpPr>
            <a:spLocks noGrp="1"/>
          </p:cNvSpPr>
          <p:nvPr/>
        </p:nvSpPr>
        <p:spPr>
          <a:xfrm>
            <a:off x="9096375" y="3838575"/>
            <a:ext cx="114300" cy="114300"/>
          </a:xfrm>
          <a:prstGeom prst="ellipse">
            <a:avLst/>
          </a:prstGeom>
          <a:solidFill>
            <a:srgbClr val="4B739B"/>
          </a:solidFill>
          <a:ln w="0">
            <a:solidFill>
              <a:srgbClr val="4B739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F66CB0-B8D6-420F-B70E-A5A0EE4A18B1}"/>
              </a:ext>
            </a:extLst>
          </p:cNvPr>
          <p:cNvSpPr>
            <a:spLocks noGrp="1"/>
          </p:cNvSpPr>
          <p:nvPr/>
        </p:nvSpPr>
        <p:spPr>
          <a:xfrm>
            <a:off x="9334500" y="3733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Compare </a:t>
            </a:r>
            <a:r>
              <a:rPr lang="en-US" sz="1575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other model</a:t>
            </a:r>
            <a:endParaRPr sz="1575" b="1" dirty="0">
              <a:solidFill>
                <a:srgbClr val="1722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0D8860-5A27-4E08-9B83-F846FB260D9F}"/>
              </a:ext>
            </a:extLst>
          </p:cNvPr>
          <p:cNvSpPr>
            <a:spLocks noGrp="1"/>
          </p:cNvSpPr>
          <p:nvPr/>
        </p:nvSpPr>
        <p:spPr>
          <a:xfrm>
            <a:off x="619125" y="4857750"/>
            <a:ext cx="10620375" cy="904875"/>
          </a:xfrm>
          <a:prstGeom prst="roundRect">
            <a:avLst>
              <a:gd name="adj" fmla="val 8421"/>
            </a:avLst>
          </a:prstGeom>
          <a:solidFill>
            <a:srgbClr val="E6F2EA"/>
          </a:solidFill>
          <a:ln w="9525">
            <a:solidFill>
              <a:srgbClr val="E6F2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393D65-E2E6-4C25-B8D3-E9DF994EADC0}"/>
              </a:ext>
            </a:extLst>
          </p:cNvPr>
          <p:cNvSpPr>
            <a:spLocks noGrp="1"/>
          </p:cNvSpPr>
          <p:nvPr/>
        </p:nvSpPr>
        <p:spPr>
          <a:xfrm>
            <a:off x="904875" y="5105400"/>
            <a:ext cx="10048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798" lnSpcReduction="10000"/>
          </a:bodyPr>
          <a:lstStyle/>
          <a:p>
            <a:pPr algn="ctr">
              <a:defRPr sz="21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lang="en-US" sz="2100" b="1" dirty="0">
                <a:solidFill>
                  <a:srgbClr val="1F7A55"/>
                </a:solidFill>
                <a:latin typeface="Arial"/>
                <a:ea typeface="Arial"/>
                <a:cs typeface="Arial"/>
              </a:rPr>
              <a:t>For area-wide green-roof mapping, learning absence is as important as learning appearance.</a:t>
            </a:r>
            <a:endParaRPr sz="2100" b="1" dirty="0">
              <a:solidFill>
                <a:srgbClr val="1F7A5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0983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FD6D7BD-C125-4EE9-9188-8983B8E4E1CE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7B5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7B58A"/>
                </a:solidFill>
                <a:latin typeface="Arial"/>
                <a:ea typeface="Arial"/>
                <a:cs typeface="Arial"/>
              </a:rPr>
              <a:t>Q&amp;A APPENDIX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B6E39C-5F71-4011-92A5-9876369C6261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7143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behind</a:t>
            </a:r>
          </a:p>
          <a:p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first findings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32E464-3186-4CE6-BCDE-3C0037BEFF50}"/>
              </a:ext>
            </a:extLst>
          </p:cNvPr>
          <p:cNvSpPr>
            <a:spLocks noGrp="1"/>
          </p:cNvSpPr>
          <p:nvPr/>
        </p:nvSpPr>
        <p:spPr>
          <a:xfrm>
            <a:off x="552450" y="3905250"/>
            <a:ext cx="904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CDE5D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DE5D6"/>
                </a:solidFill>
                <a:latin typeface="Arial"/>
                <a:ea typeface="Arial"/>
                <a:cs typeface="Arial"/>
              </a:rPr>
              <a:t>Data provenance · calibration · augmentation · subgroups · spatial diagnostics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5A823E-CD7B-492B-B2F7-3C5CCD12D41A}"/>
              </a:ext>
            </a:extLst>
          </p:cNvPr>
          <p:cNvSpPr>
            <a:spLocks noGrp="1"/>
          </p:cNvSpPr>
          <p:nvPr/>
        </p:nvSpPr>
        <p:spPr>
          <a:xfrm>
            <a:off x="11287125" y="61912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00" b="1">
                <a:solidFill>
                  <a:srgbClr val="95A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5AA9C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20512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8C03C12-FA3A-40D3-AE68-DAA3793C6562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E1AF0D-C08A-4AE5-A9F8-3FAE8FFB4F38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Dataset provenance and frozen split</a:t>
            </a: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0CB13CD-8D9A-4BB0-8DC7-183291CEC6CD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666750" y="20478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DBF015B1-8D2A-4C88-81B8-3157A3BE176F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Study area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9E1102-BEAA-4371-A09F-8C39B9641B51}"/>
              </a:ext>
            </a:extLst>
          </p:cNvPr>
          <p:cNvSpPr>
            <a:spLocks noGrp="1"/>
          </p:cNvSpPr>
          <p:nvPr/>
        </p:nvSpPr>
        <p:spPr>
          <a:xfrm>
            <a:off x="3143250" y="16192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Berlin PLZ 12357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666750" y="271462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FEC2A919-7EA2-4DF2-B196-88663E8AF4C7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Imagery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079FAE-AA37-40C4-AC12-12F62EC841B8}"/>
              </a:ext>
            </a:extLst>
          </p:cNvPr>
          <p:cNvSpPr>
            <a:spLocks noGrp="1"/>
          </p:cNvSpPr>
          <p:nvPr/>
        </p:nvSpPr>
        <p:spPr>
          <a:xfrm>
            <a:off x="3143250" y="228600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RGB orthophotos, 2016</a:t>
            </a: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666750" y="33813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33C38C6-AF5B-45ED-AE8E-7A6F030B527F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Tiles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03479E-9B3D-42B0-9F7B-F7BFAD32518C}"/>
              </a:ext>
            </a:extLst>
          </p:cNvPr>
          <p:cNvSpPr>
            <a:spLocks noGrp="1"/>
          </p:cNvSpPr>
          <p:nvPr/>
        </p:nvSpPr>
        <p:spPr>
          <a:xfrm>
            <a:off x="3143250" y="29527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1,635 at z=19, 256 × 256</a:t>
            </a: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666750" y="404812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15C42CEB-FA0D-4B95-B6E4-F7461DC716D3}"/>
              </a:ext>
            </a:extLst>
          </p:cNvPr>
          <p:cNvSpPr>
            <a:spLocks noGrp="1"/>
          </p:cNvSpPr>
          <p:nvPr/>
        </p:nvSpPr>
        <p:spPr>
          <a:xfrm>
            <a:off x="742950" y="36766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Labels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9B995F-EE83-4255-B075-A7FB36D68C35}"/>
              </a:ext>
            </a:extLst>
          </p:cNvPr>
          <p:cNvSpPr>
            <a:spLocks noGrp="1"/>
          </p:cNvSpPr>
          <p:nvPr/>
        </p:nvSpPr>
        <p:spPr>
          <a:xfrm>
            <a:off x="3143250" y="361950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983 source polygons; 969 intersect area</a:t>
            </a: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666750" y="471487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B2567192-5DD1-49E7-9F3C-1B2BCEB2FA63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7E3FD4-25EB-4B0A-A341-2714E269D1DB}"/>
              </a:ext>
            </a:extLst>
          </p:cNvPr>
          <p:cNvSpPr>
            <a:spLocks noGrp="1"/>
          </p:cNvSpPr>
          <p:nvPr/>
        </p:nvSpPr>
        <p:spPr>
          <a:xfrm>
            <a:off x="3143250" y="428625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1,180 / 203 / 252</a:t>
            </a: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666750" y="5381625"/>
            <a:ext cx="1028700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92621C4-1075-48E1-A154-7CBF1BEBC6C7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Blocks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7A70EC-0E5F-45E2-9A23-7157AD686CDD}"/>
              </a:ext>
            </a:extLst>
          </p:cNvPr>
          <p:cNvSpPr>
            <a:spLocks noGrp="1"/>
          </p:cNvSpPr>
          <p:nvPr/>
        </p:nvSpPr>
        <p:spPr>
          <a:xfrm>
            <a:off x="3143250" y="4953000"/>
            <a:ext cx="752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28 / 5 / 5; no overlap</a:t>
            </a:r>
          </a:p>
        </p:txBody>
      </p:sp>
    </p:spTree>
    <p:extLst>
      <p:ext uri="{BB962C8B-B14F-4D97-AF65-F5344CB8AC3E}">
        <p14:creationId xmlns:p14="http://schemas.microsoft.com/office/powerpoint/2010/main" val="607979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417F7FF-7EFC-4328-9301-B79DC398DCBD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1EC2F5-DCEA-4B7A-98D7-73EC99D7AFE8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Threshold calibration changes the comparison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D772317-592D-424A-870F-E35CC2124237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67F5A7-EE3A-4A4B-AC34-F606D24784DA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513F4F-C393-4DE8-8FCC-E91AEF562F34}"/>
              </a:ext>
            </a:extLst>
          </p:cNvPr>
          <p:cNvSpPr>
            <a:spLocks noGrp="1"/>
          </p:cNvSpPr>
          <p:nvPr/>
        </p:nvSpPr>
        <p:spPr>
          <a:xfrm>
            <a:off x="2743200" y="16383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Fixed threshold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326FCA-04FD-4401-A7C9-D280DE407D4E}"/>
              </a:ext>
            </a:extLst>
          </p:cNvPr>
          <p:cNvSpPr>
            <a:spLocks noGrp="1"/>
          </p:cNvSpPr>
          <p:nvPr/>
        </p:nvSpPr>
        <p:spPr>
          <a:xfrm>
            <a:off x="4819650" y="16383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Fixed Dice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0E1E7D-98B3-45F1-8CB1-1F1D97A24831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Selected threshold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2B9463-82AE-4734-BA76-D00FCB9ECE58}"/>
              </a:ext>
            </a:extLst>
          </p:cNvPr>
          <p:cNvSpPr>
            <a:spLocks noGrp="1"/>
          </p:cNvSpPr>
          <p:nvPr/>
        </p:nvSpPr>
        <p:spPr>
          <a:xfrm>
            <a:off x="8972550" y="163830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Selected Dice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3D5848-BA97-42AB-A357-C71F7A2315F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10477500" cy="838200"/>
          </a:xfrm>
          <a:prstGeom prst="rect">
            <a:avLst/>
          </a:prstGeom>
          <a:solidFill>
            <a:srgbClr val="E8F3EC"/>
          </a:solidFill>
          <a:ln w="0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E7ACFF-8F5F-4DE0-8D5F-FF50EEFAD7BD}"/>
              </a:ext>
            </a:extLst>
          </p:cNvPr>
          <p:cNvSpPr>
            <a:spLocks noGrp="1"/>
          </p:cNvSpPr>
          <p:nvPr/>
        </p:nvSpPr>
        <p:spPr>
          <a:xfrm>
            <a:off x="666750" y="24479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All-tile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333E70-4725-4D63-BB6E-7FCAE1CC5C6A}"/>
              </a:ext>
            </a:extLst>
          </p:cNvPr>
          <p:cNvSpPr>
            <a:spLocks noGrp="1"/>
          </p:cNvSpPr>
          <p:nvPr/>
        </p:nvSpPr>
        <p:spPr>
          <a:xfrm>
            <a:off x="2743200" y="24479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645C3E-8BEF-418D-9B40-2B762D595D56}"/>
              </a:ext>
            </a:extLst>
          </p:cNvPr>
          <p:cNvSpPr>
            <a:spLocks noGrp="1"/>
          </p:cNvSpPr>
          <p:nvPr/>
        </p:nvSpPr>
        <p:spPr>
          <a:xfrm>
            <a:off x="4819650" y="24479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44.06%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64184A-92B6-48DF-9A1D-CD90A7B30BA2}"/>
              </a:ext>
            </a:extLst>
          </p:cNvPr>
          <p:cNvSpPr>
            <a:spLocks noGrp="1"/>
          </p:cNvSpPr>
          <p:nvPr/>
        </p:nvSpPr>
        <p:spPr>
          <a:xfrm>
            <a:off x="6896100" y="24479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0.05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DB45F2-A888-4293-A94F-DE2BCFC88B5F}"/>
              </a:ext>
            </a:extLst>
          </p:cNvPr>
          <p:cNvSpPr>
            <a:spLocks noGrp="1"/>
          </p:cNvSpPr>
          <p:nvPr/>
        </p:nvSpPr>
        <p:spPr>
          <a:xfrm>
            <a:off x="8972550" y="24479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47.54%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56A4D7-F921-4956-981A-36AAE0CBB478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10477500" cy="838200"/>
          </a:xfrm>
          <a:prstGeom prst="rect">
            <a:avLst/>
          </a:prstGeom>
          <a:solidFill>
            <a:srgbClr val="F7EDED"/>
          </a:solidFill>
          <a:ln w="0">
            <a:solidFill>
              <a:srgbClr val="F7ED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521D01-F4F3-4562-81B0-C284B3504967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Positive-only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A85CFD-C455-4581-AE73-F2A86C876045}"/>
              </a:ext>
            </a:extLst>
          </p:cNvPr>
          <p:cNvSpPr>
            <a:spLocks noGrp="1"/>
          </p:cNvSpPr>
          <p:nvPr/>
        </p:nvSpPr>
        <p:spPr>
          <a:xfrm>
            <a:off x="2743200" y="35433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0.50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B2E53C-AF5E-44D5-9394-4F3A35589A50}"/>
              </a:ext>
            </a:extLst>
          </p:cNvPr>
          <p:cNvSpPr>
            <a:spLocks noGrp="1"/>
          </p:cNvSpPr>
          <p:nvPr/>
        </p:nvSpPr>
        <p:spPr>
          <a:xfrm>
            <a:off x="4819650" y="35433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41.59%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455522-7BD5-4451-8CA6-E41626D10BFD}"/>
              </a:ext>
            </a:extLst>
          </p:cNvPr>
          <p:cNvSpPr>
            <a:spLocks noGrp="1"/>
          </p:cNvSpPr>
          <p:nvPr/>
        </p:nvSpPr>
        <p:spPr>
          <a:xfrm>
            <a:off x="6896100" y="35433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0.95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57DE9E-6E6C-4166-97B1-63E992C88D55}"/>
              </a:ext>
            </a:extLst>
          </p:cNvPr>
          <p:cNvSpPr>
            <a:spLocks noGrp="1"/>
          </p:cNvSpPr>
          <p:nvPr/>
        </p:nvSpPr>
        <p:spPr>
          <a:xfrm>
            <a:off x="8972550" y="35433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0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42.21%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A3BD1D8-D135-40D1-8E4F-657DF25D3AB4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477500" cy="762000"/>
          </a:xfrm>
          <a:prstGeom prst="roundRect">
            <a:avLst>
              <a:gd name="adj" fmla="val 7500"/>
            </a:avLst>
          </a:prstGeom>
          <a:solidFill>
            <a:srgbClr val="F4F7F4"/>
          </a:solidFill>
          <a:ln w="9525">
            <a:solidFill>
              <a:srgbClr val="F4F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282813-0A6B-474F-8633-6C7200B55062}"/>
              </a:ext>
            </a:extLst>
          </p:cNvPr>
          <p:cNvSpPr>
            <a:spLocks noGrp="1"/>
          </p:cNvSpPr>
          <p:nvPr/>
        </p:nvSpPr>
        <p:spPr>
          <a:xfrm>
            <a:off x="838200" y="4962525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0DA434-DC3D-492A-A30C-4C3534ED66D9}"/>
              </a:ext>
            </a:extLst>
          </p:cNvPr>
          <p:cNvSpPr>
            <a:spLocks noGrp="1"/>
          </p:cNvSpPr>
          <p:nvPr/>
        </p:nvSpPr>
        <p:spPr>
          <a:xfrm>
            <a:off x="2286000" y="4876800"/>
            <a:ext cx="847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000" lnSpcReduction="10000"/>
          </a:bodyPr>
          <a:lstStyle/>
          <a:p>
            <a:pPr algn="l">
              <a:defRPr sz="15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The threshold gap suggests different </a:t>
            </a:r>
            <a:r>
              <a:rPr lang="en-US" sz="15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output-score</a:t>
            </a:r>
            <a:r>
              <a:rPr sz="1500" b="1" dirty="0">
                <a:solidFill>
                  <a:srgbClr val="17221B"/>
                </a:solidFill>
                <a:latin typeface="Arial"/>
                <a:ea typeface="Arial"/>
                <a:cs typeface="Arial"/>
              </a:rPr>
              <a:t>; compare models only under a declared threshold protocol.</a:t>
            </a:r>
          </a:p>
        </p:txBody>
      </p:sp>
    </p:spTree>
    <p:extLst>
      <p:ext uri="{BB962C8B-B14F-4D97-AF65-F5344CB8AC3E}">
        <p14:creationId xmlns:p14="http://schemas.microsoft.com/office/powerpoint/2010/main" val="1640969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68EA409-A76C-47BB-8672-CA91DE12C34F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F359D5-04C6-4BB5-B917-DDE2A4BB48C4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Augmentation preserves image–mask alignment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02FE111C-E692-4FD1-9F13-B9F583CE04EB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8F57EFE-7C43-416B-AA8F-7C8FADCA9947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52E146-E247-42D5-AEED-84962554E9EE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2686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1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80223F-CD47-468F-8E7A-C43F2986D457}"/>
              </a:ext>
            </a:extLst>
          </p:cNvPr>
          <p:cNvSpPr>
            <a:spLocks noGrp="1"/>
          </p:cNvSpPr>
          <p:nvPr/>
        </p:nvSpPr>
        <p:spPr>
          <a:xfrm>
            <a:off x="952500" y="3000375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horizontal flip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30D7FF8-A405-4D5A-91C3-89267F890BCE}"/>
              </a:ext>
            </a:extLst>
          </p:cNvPr>
          <p:cNvSpPr>
            <a:spLocks noGrp="1"/>
          </p:cNvSpPr>
          <p:nvPr/>
        </p:nvSpPr>
        <p:spPr>
          <a:xfrm>
            <a:off x="4343400" y="180975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3FBF63-509F-4243-8B16-F4BAC1577C98}"/>
              </a:ext>
            </a:extLst>
          </p:cNvPr>
          <p:cNvSpPr>
            <a:spLocks noGrp="1"/>
          </p:cNvSpPr>
          <p:nvPr/>
        </p:nvSpPr>
        <p:spPr>
          <a:xfrm>
            <a:off x="4572000" y="2190750"/>
            <a:ext cx="2686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1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67D232-0502-4BEA-B127-BCA14C505438}"/>
              </a:ext>
            </a:extLst>
          </p:cNvPr>
          <p:cNvSpPr>
            <a:spLocks noGrp="1"/>
          </p:cNvSpPr>
          <p:nvPr/>
        </p:nvSpPr>
        <p:spPr>
          <a:xfrm>
            <a:off x="4572000" y="3000375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vertical flip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3846082-EB4F-492F-AEAF-6FA88392A426}"/>
              </a:ext>
            </a:extLst>
          </p:cNvPr>
          <p:cNvSpPr>
            <a:spLocks noGrp="1"/>
          </p:cNvSpPr>
          <p:nvPr/>
        </p:nvSpPr>
        <p:spPr>
          <a:xfrm>
            <a:off x="7962900" y="1809750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E8EFF3"/>
          </a:solidFill>
          <a:ln w="9525">
            <a:solidFill>
              <a:srgbClr val="E8EF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6773A4-E820-4283-B8E0-DAC0B4D43AFF}"/>
              </a:ext>
            </a:extLst>
          </p:cNvPr>
          <p:cNvSpPr>
            <a:spLocks noGrp="1"/>
          </p:cNvSpPr>
          <p:nvPr/>
        </p:nvSpPr>
        <p:spPr>
          <a:xfrm>
            <a:off x="8191500" y="2190750"/>
            <a:ext cx="2686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>
                <a:solidFill>
                  <a:srgbClr val="4B739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B739B"/>
                </a:solidFill>
                <a:latin typeface="Arial"/>
                <a:ea typeface="Arial"/>
                <a:cs typeface="Arial"/>
              </a:rPr>
              <a:t>0 / 90 / 180 / 270°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F3D174-466C-49BB-99C7-A194B23FF193}"/>
              </a:ext>
            </a:extLst>
          </p:cNvPr>
          <p:cNvSpPr>
            <a:spLocks noGrp="1"/>
          </p:cNvSpPr>
          <p:nvPr/>
        </p:nvSpPr>
        <p:spPr>
          <a:xfrm>
            <a:off x="8191500" y="3000375"/>
            <a:ext cx="2686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rotation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723900" y="4457700"/>
            <a:ext cx="103822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A371AE8E-2E3A-45BD-93D1-F817F13ACD2F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B63"/>
                </a:solidFill>
                <a:latin typeface="Arial"/>
                <a:ea typeface="Arial"/>
                <a:cs typeface="Arial"/>
              </a:rPr>
              <a:t>Synchronization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283F44-989E-483E-8750-0A92E457E32F}"/>
              </a:ext>
            </a:extLst>
          </p:cNvPr>
          <p:cNvSpPr>
            <a:spLocks noGrp="1"/>
          </p:cNvSpPr>
          <p:nvPr/>
        </p:nvSpPr>
        <p:spPr>
          <a:xfrm>
            <a:off x="2524125" y="4676775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46"/>
          </a:bodyPr>
          <a:lstStyle/>
          <a:p>
            <a:pPr algn="l">
              <a:defRPr sz="17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Every geometric transform is applied identically to the RGB tile and its mask.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CA12695-33B7-4643-B441-B1295F934249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Validation: no augmentation</a:t>
            </a:r>
          </a:p>
        </p:txBody>
      </p:sp>
    </p:spTree>
    <p:extLst>
      <p:ext uri="{BB962C8B-B14F-4D97-AF65-F5344CB8AC3E}">
        <p14:creationId xmlns:p14="http://schemas.microsoft.com/office/powerpoint/2010/main" val="1539475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18CEB3F9-FE78-4EDE-BDFC-6952074E013E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45EA33-F542-4F18-9C04-A60E4B2358AB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All-tile training also wins on positive tiles</a:t>
            </a: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5B1DAC2-A299-4336-8EC7-EF16A89FE0B1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B1E18A-856F-4188-AADA-CF6866733805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487025" cy="552450"/>
          </a:xfrm>
          <a:prstGeom prst="rect">
            <a:avLst/>
          </a:prstGeom>
          <a:solidFill>
            <a:srgbClr val="0E2C22"/>
          </a:solidFill>
          <a:ln w="0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877827-1022-4DBC-ABF9-FEE9BE26B9BB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EC0E1B-7A83-4C8B-9FD9-A736BBEF78AB}"/>
              </a:ext>
            </a:extLst>
          </p:cNvPr>
          <p:cNvSpPr>
            <a:spLocks noGrp="1"/>
          </p:cNvSpPr>
          <p:nvPr/>
        </p:nvSpPr>
        <p:spPr>
          <a:xfrm>
            <a:off x="4162425" y="169545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All-tile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484895-7758-445C-BF16-B2D5C36C20DB}"/>
              </a:ext>
            </a:extLst>
          </p:cNvPr>
          <p:cNvSpPr>
            <a:spLocks noGrp="1"/>
          </p:cNvSpPr>
          <p:nvPr/>
        </p:nvSpPr>
        <p:spPr>
          <a:xfrm>
            <a:off x="6543675" y="169545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Positive-only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06E6B5-4908-4E2F-93C7-9ED9A577F553}"/>
              </a:ext>
            </a:extLst>
          </p:cNvPr>
          <p:cNvSpPr>
            <a:spLocks noGrp="1"/>
          </p:cNvSpPr>
          <p:nvPr/>
        </p:nvSpPr>
        <p:spPr>
          <a:xfrm>
            <a:off x="8924925" y="169545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Difference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90B061-32C6-4F4D-B28F-82575A0DEE47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487025" cy="552450"/>
          </a:xfrm>
          <a:prstGeom prst="rect">
            <a:avLst/>
          </a:prstGeom>
          <a:solidFill>
            <a:srgbClr val="F4F7F4"/>
          </a:solidFill>
          <a:ln w="0">
            <a:solidFill>
              <a:srgbClr val="F4F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629434-D6E9-4D24-8130-8A281BDD6A12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21B"/>
                </a:solidFill>
                <a:latin typeface="Arial"/>
                <a:ea typeface="Arial"/>
                <a:cs typeface="Arial"/>
              </a:rPr>
              <a:t>Positive-tile Dice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3A1422-8CC8-4C69-AC9D-2B959FCA6D7A}"/>
              </a:ext>
            </a:extLst>
          </p:cNvPr>
          <p:cNvSpPr>
            <a:spLocks noGrp="1"/>
          </p:cNvSpPr>
          <p:nvPr/>
        </p:nvSpPr>
        <p:spPr>
          <a:xfrm>
            <a:off x="4162425" y="23622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56.53%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0009BB-A9F0-468F-AB78-9AA495DE1B58}"/>
              </a:ext>
            </a:extLst>
          </p:cNvPr>
          <p:cNvSpPr>
            <a:spLocks noGrp="1"/>
          </p:cNvSpPr>
          <p:nvPr/>
        </p:nvSpPr>
        <p:spPr>
          <a:xfrm>
            <a:off x="6543675" y="23622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50.01%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9B8AAB-2C90-43C7-B526-0B3196872045}"/>
              </a:ext>
            </a:extLst>
          </p:cNvPr>
          <p:cNvSpPr>
            <a:spLocks noGrp="1"/>
          </p:cNvSpPr>
          <p:nvPr/>
        </p:nvSpPr>
        <p:spPr>
          <a:xfrm>
            <a:off x="8924925" y="23622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+6.52 pp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DA9E8A-F1B0-4DFB-9AC7-85407E8B76D6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10487025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0E34F4-7E1B-4AF1-A007-26D4294ADCAD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487025" cy="552450"/>
          </a:xfrm>
          <a:prstGeom prst="rect">
            <a:avLst/>
          </a:prstGeom>
          <a:solidFill>
            <a:srgbClr val="F4F7F4"/>
          </a:solidFill>
          <a:ln w="0">
            <a:solidFill>
              <a:srgbClr val="F4F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013EE54-BCA0-422E-A856-0558C7FAAF80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21B"/>
                </a:solidFill>
                <a:latin typeface="Arial"/>
                <a:ea typeface="Arial"/>
                <a:cs typeface="Arial"/>
              </a:rPr>
              <a:t>Positive-tile precision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7DFD8F-4992-4EEB-80CF-E854DFDBE99F}"/>
              </a:ext>
            </a:extLst>
          </p:cNvPr>
          <p:cNvSpPr>
            <a:spLocks noGrp="1"/>
          </p:cNvSpPr>
          <p:nvPr/>
        </p:nvSpPr>
        <p:spPr>
          <a:xfrm>
            <a:off x="4162425" y="30099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74.68%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4E4F8B-8838-4897-82DF-7CCF3307BD44}"/>
              </a:ext>
            </a:extLst>
          </p:cNvPr>
          <p:cNvSpPr>
            <a:spLocks noGrp="1"/>
          </p:cNvSpPr>
          <p:nvPr/>
        </p:nvSpPr>
        <p:spPr>
          <a:xfrm>
            <a:off x="6543675" y="30099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71.74%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40464E4-9E00-4D34-B1C8-9A10123D0CD5}"/>
              </a:ext>
            </a:extLst>
          </p:cNvPr>
          <p:cNvSpPr>
            <a:spLocks noGrp="1"/>
          </p:cNvSpPr>
          <p:nvPr/>
        </p:nvSpPr>
        <p:spPr>
          <a:xfrm>
            <a:off x="8924925" y="30099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+2.94 pp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203D41-0368-4264-86F3-92414D6AC132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10487025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A5E56B-9F92-4451-B37D-D6FFEC633350}"/>
              </a:ext>
            </a:extLst>
          </p:cNvPr>
          <p:cNvSpPr>
            <a:spLocks noGrp="1"/>
          </p:cNvSpPr>
          <p:nvPr/>
        </p:nvSpPr>
        <p:spPr>
          <a:xfrm>
            <a:off x="723900" y="367665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21B"/>
                </a:solidFill>
                <a:latin typeface="Arial"/>
                <a:ea typeface="Arial"/>
                <a:cs typeface="Arial"/>
              </a:rPr>
              <a:t>Positive-tile recall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E0C041-799C-4B17-ABAD-0415BF6EF011}"/>
              </a:ext>
            </a:extLst>
          </p:cNvPr>
          <p:cNvSpPr>
            <a:spLocks noGrp="1"/>
          </p:cNvSpPr>
          <p:nvPr/>
        </p:nvSpPr>
        <p:spPr>
          <a:xfrm>
            <a:off x="4162425" y="367665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45.47%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5FF76B-07FC-4322-AAD5-D80603B76E1D}"/>
              </a:ext>
            </a:extLst>
          </p:cNvPr>
          <p:cNvSpPr>
            <a:spLocks noGrp="1"/>
          </p:cNvSpPr>
          <p:nvPr/>
        </p:nvSpPr>
        <p:spPr>
          <a:xfrm>
            <a:off x="6543675" y="367665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38.39%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58C0D35-60AE-427C-A7F0-7502359BF853}"/>
              </a:ext>
            </a:extLst>
          </p:cNvPr>
          <p:cNvSpPr>
            <a:spLocks noGrp="1"/>
          </p:cNvSpPr>
          <p:nvPr/>
        </p:nvSpPr>
        <p:spPr>
          <a:xfrm>
            <a:off x="8924925" y="367665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+7.08 pp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977CD38-F519-41C9-87E9-85913ED45C24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3105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21B"/>
                </a:solidFill>
                <a:latin typeface="Arial"/>
                <a:ea typeface="Arial"/>
                <a:cs typeface="Arial"/>
              </a:rPr>
              <a:t>Negative scenes with FP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7C46B29-8141-4AEA-B38E-AD79967D3C90}"/>
              </a:ext>
            </a:extLst>
          </p:cNvPr>
          <p:cNvSpPr>
            <a:spLocks noGrp="1"/>
          </p:cNvSpPr>
          <p:nvPr/>
        </p:nvSpPr>
        <p:spPr>
          <a:xfrm>
            <a:off x="4162425" y="43434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10 / 181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A4ED2B-8B5C-4903-B304-3441BC92E81D}"/>
              </a:ext>
            </a:extLst>
          </p:cNvPr>
          <p:cNvSpPr>
            <a:spLocks noGrp="1"/>
          </p:cNvSpPr>
          <p:nvPr/>
        </p:nvSpPr>
        <p:spPr>
          <a:xfrm>
            <a:off x="6543675" y="43434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65 / 181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59A2D26-297D-493D-913A-C39D626EBAB7}"/>
              </a:ext>
            </a:extLst>
          </p:cNvPr>
          <p:cNvSpPr>
            <a:spLocks noGrp="1"/>
          </p:cNvSpPr>
          <p:nvPr/>
        </p:nvSpPr>
        <p:spPr>
          <a:xfrm>
            <a:off x="8924925" y="43434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−55 scenes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E6D806C-FED0-4CAF-B662-6F01D31A8CF6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99E0AB-4FF9-438D-8F8A-E6CCED7F9845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39450" cy="9525"/>
          </a:xfrm>
          <a:prstGeom prst="rect">
            <a:avLst/>
          </a:prstGeom>
          <a:solidFill>
            <a:srgbClr val="C6D0C9"/>
          </a:solidFill>
          <a:ln w="0">
            <a:solidFill>
              <a:srgbClr val="C6D0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809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ABAD6AD-0A58-4651-9F7B-1973CB78F800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BAF5F1-F30B-4AF4-8113-36472A8E5896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Spatial separation is measurable but still local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C3DE732-1021-4008-B1C8-59E061C99BDA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526075"/>
            <a:ext cx="7620000" cy="35677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F4E1A3D-44E3-4C17-9DED-DABAC9689775}"/>
              </a:ext>
            </a:extLst>
          </p:cNvPr>
          <p:cNvSpPr>
            <a:spLocks noGrp="1"/>
          </p:cNvSpPr>
          <p:nvPr/>
        </p:nvSpPr>
        <p:spPr>
          <a:xfrm>
            <a:off x="8572500" y="1666875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D9899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98999"/>
                </a:solidFill>
                <a:latin typeface="Arial"/>
                <a:ea typeface="Arial"/>
                <a:cs typeface="Arial"/>
              </a:rPr>
              <a:t>47 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28D65B-B83F-4C91-AF20-586CB5B16EF8}"/>
              </a:ext>
            </a:extLst>
          </p:cNvPr>
          <p:cNvSpPr>
            <a:spLocks noGrp="1"/>
          </p:cNvSpPr>
          <p:nvPr/>
        </p:nvSpPr>
        <p:spPr>
          <a:xfrm>
            <a:off x="8572500" y="2295525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train-to-train median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48CBBD-D55E-4FBA-98D9-2B504E1ECF0E}"/>
              </a:ext>
            </a:extLst>
          </p:cNvPr>
          <p:cNvSpPr>
            <a:spLocks noGrp="1"/>
          </p:cNvSpPr>
          <p:nvPr/>
        </p:nvSpPr>
        <p:spPr>
          <a:xfrm>
            <a:off x="8572500" y="2905125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188F9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8F91"/>
                </a:solidFill>
                <a:latin typeface="Arial"/>
                <a:ea typeface="Arial"/>
                <a:cs typeface="Arial"/>
              </a:rPr>
              <a:t>93 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BBAF87-3F75-4D26-9D73-6E5070CF1DB2}"/>
              </a:ext>
            </a:extLst>
          </p:cNvPr>
          <p:cNvSpPr>
            <a:spLocks noGrp="1"/>
          </p:cNvSpPr>
          <p:nvPr/>
        </p:nvSpPr>
        <p:spPr>
          <a:xfrm>
            <a:off x="8572500" y="3533775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held-out-to-train median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9AD34B-DCCC-40D1-8F88-8DD485B70358}"/>
              </a:ext>
            </a:extLst>
          </p:cNvPr>
          <p:cNvSpPr>
            <a:spLocks noGrp="1"/>
          </p:cNvSpPr>
          <p:nvPr/>
        </p:nvSpPr>
        <p:spPr>
          <a:xfrm>
            <a:off x="8572500" y="4143375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4B739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B739B"/>
                </a:solidFill>
                <a:latin typeface="Arial"/>
                <a:ea typeface="Arial"/>
                <a:cs typeface="Arial"/>
              </a:rPr>
              <a:t>336 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17BF08-ACED-46CF-A144-3BD3C3A4988A}"/>
              </a:ext>
            </a:extLst>
          </p:cNvPr>
          <p:cNvSpPr>
            <a:spLocks noGrp="1"/>
          </p:cNvSpPr>
          <p:nvPr/>
        </p:nvSpPr>
        <p:spPr>
          <a:xfrm>
            <a:off x="8572500" y="4772025"/>
            <a:ext cx="2571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maximum held-out distance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918D8B2-F390-47EC-B7F4-34853E6E9AD9}"/>
              </a:ext>
            </a:extLst>
          </p:cNvPr>
          <p:cNvSpPr>
            <a:spLocks noGrp="1"/>
          </p:cNvSpPr>
          <p:nvPr/>
        </p:nvSpPr>
        <p:spPr>
          <a:xfrm>
            <a:off x="552450" y="5476875"/>
            <a:ext cx="10591800" cy="523875"/>
          </a:xfrm>
          <a:prstGeom prst="roundRect">
            <a:avLst>
              <a:gd name="adj" fmla="val 9091"/>
            </a:avLst>
          </a:prstGeom>
          <a:solidFill>
            <a:srgbClr val="F4F7F4"/>
          </a:solidFill>
          <a:ln w="9525">
            <a:solidFill>
              <a:srgbClr val="F4F7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290F6A-3FAC-4E63-994D-C1D064B11B53}"/>
              </a:ext>
            </a:extLst>
          </p:cNvPr>
          <p:cNvSpPr>
            <a:spLocks noGrp="1"/>
          </p:cNvSpPr>
          <p:nvPr/>
        </p:nvSpPr>
        <p:spPr>
          <a:xfrm>
            <a:off x="742950" y="5600700"/>
            <a:ext cx="10239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Boundary: this diagnoses the frozen PLZ split; it does not prove transfer across Berlin or across years.</a:t>
            </a:r>
          </a:p>
        </p:txBody>
      </p:sp>
    </p:spTree>
    <p:extLst>
      <p:ext uri="{BB962C8B-B14F-4D97-AF65-F5344CB8AC3E}">
        <p14:creationId xmlns:p14="http://schemas.microsoft.com/office/powerpoint/2010/main" val="8536170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0941010-D24A-4498-B240-A704E3C8B09B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SPATIAL SPLIT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A6103E-542A-45B8-9C26-D41E7B793A7B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An 8 × 8 block is the indivisible split unit</a:t>
            </a: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7D27282-AC98-4E9F-9DC9-CEFDDD4AAC11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660B49-AB66-4F6A-9C0C-EC2C52F23733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666750" y="2171700"/>
            <a:ext cx="2857500" cy="0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39BD6243-6EA0-46B5-B44A-AA0DE02C8D8D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Tile coordinates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05D497-3304-42CB-BFD5-A5DEA73C0FC5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block_x = (x − min_x) // 8
block_y = (y − min_y) // 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819946-1F6F-4B81-A7CF-71D8995708C3}"/>
              </a:ext>
            </a:extLst>
          </p:cNvPr>
          <p:cNvSpPr>
            <a:spLocks noGrp="1"/>
          </p:cNvSpPr>
          <p:nvPr/>
        </p:nvSpPr>
        <p:spPr>
          <a:xfrm>
            <a:off x="4248150" y="16383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188F9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88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72" name="直接箭头连接符 71"/>
          <p:cNvCxnSpPr/>
          <p:nvPr/>
        </p:nvCxnSpPr>
        <p:spPr>
          <a:xfrm>
            <a:off x="4248150" y="2171700"/>
            <a:ext cx="2857500" cy="0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A6623A7-DF50-4341-9B36-5A58D3925396}"/>
              </a:ext>
            </a:extLst>
          </p:cNvPr>
          <p:cNvSpPr>
            <a:spLocks noGrp="1"/>
          </p:cNvSpPr>
          <p:nvPr/>
        </p:nvSpPr>
        <p:spPr>
          <a:xfrm>
            <a:off x="4248150" y="24574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Spatial block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F441C4-BED6-41D7-BE66-338495841A07}"/>
              </a:ext>
            </a:extLst>
          </p:cNvPr>
          <p:cNvSpPr>
            <a:spLocks noGrp="1"/>
          </p:cNvSpPr>
          <p:nvPr/>
        </p:nvSpPr>
        <p:spPr>
          <a:xfrm>
            <a:off x="4248150" y="30670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Neighbouring XYZ tiles share one block ID; boundary blocks may contain fewer than 64 tiles.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E8B139-E560-4B15-B95F-1B33FD2DBFEA}"/>
              </a:ext>
            </a:extLst>
          </p:cNvPr>
          <p:cNvSpPr>
            <a:spLocks noGrp="1"/>
          </p:cNvSpPr>
          <p:nvPr/>
        </p:nvSpPr>
        <p:spPr>
          <a:xfrm>
            <a:off x="7829550" y="1638300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8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76" name="直接箭头连接符 75"/>
          <p:cNvCxnSpPr/>
          <p:nvPr/>
        </p:nvCxnSpPr>
        <p:spPr>
          <a:xfrm>
            <a:off x="7829550" y="2171700"/>
            <a:ext cx="2857500" cy="0"/>
          </a:xfrm>
          <a:prstGeom prst="straightConnector1">
            <a:avLst/>
          </a:prstGeom>
          <a:ln w="19050">
            <a:solidFill>
              <a:srgbClr val="C6D0C9"/>
            </a:solidFill>
            <a:prstDash val="soli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E2A3E6C-25BA-4DDB-AEC1-13068CB0A9DC}"/>
              </a:ext>
            </a:extLst>
          </p:cNvPr>
          <p:cNvSpPr>
            <a:spLocks noGrp="1"/>
          </p:cNvSpPr>
          <p:nvPr/>
        </p:nvSpPr>
        <p:spPr>
          <a:xfrm>
            <a:off x="7829550" y="24574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Atomic assignment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3D8AD7-0A86-4533-9C13-D4A1EACE5A3C}"/>
              </a:ext>
            </a:extLst>
          </p:cNvPr>
          <p:cNvSpPr>
            <a:spLocks noGrp="1"/>
          </p:cNvSpPr>
          <p:nvPr/>
        </p:nvSpPr>
        <p:spPr>
          <a:xfrm>
            <a:off x="7829550" y="3067050"/>
            <a:ext cx="28575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Every block enters train, validation or test as a whole.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6C9DC11-E787-42D5-808C-366E1088E0C0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020300" cy="714375"/>
          </a:xfrm>
          <a:prstGeom prst="roundRect">
            <a:avLst>
              <a:gd name="adj" fmla="val 10667"/>
            </a:avLst>
          </a:prstGeom>
          <a:solidFill>
            <a:srgbClr val="EDF5F0"/>
          </a:solidFill>
          <a:ln w="9525">
            <a:solidFill>
              <a:srgbClr val="EDF5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ECC340-1B42-4904-AF64-75FC4B935C4B}"/>
              </a:ext>
            </a:extLst>
          </p:cNvPr>
          <p:cNvSpPr>
            <a:spLocks noGrp="1"/>
          </p:cNvSpPr>
          <p:nvPr/>
        </p:nvSpPr>
        <p:spPr>
          <a:xfrm>
            <a:off x="876300" y="51530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Hard constraint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3ECFD7-7BC9-48F1-8E74-9344147357A7}"/>
              </a:ext>
            </a:extLst>
          </p:cNvPr>
          <p:cNvSpPr>
            <a:spLocks noGrp="1"/>
          </p:cNvSpPr>
          <p:nvPr/>
        </p:nvSpPr>
        <p:spPr>
          <a:xfrm>
            <a:off x="2381250" y="5105400"/>
            <a:ext cx="795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No block ID appears in more than one split.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03F859-BAD8-4BBE-B98B-3284DC494CD8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9906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75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Source: spatial_split.py · 8 × 8 XYZ-tile blocks</a:t>
            </a:r>
          </a:p>
        </p:txBody>
      </p:sp>
    </p:spTree>
    <p:extLst>
      <p:ext uri="{BB962C8B-B14F-4D97-AF65-F5344CB8AC3E}">
        <p14:creationId xmlns:p14="http://schemas.microsoft.com/office/powerpoint/2010/main" val="3254875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B4D83B4B-6617-412A-ACE4-C47D2CBE29D2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99CC59-D21A-47E7-AEC0-D0EEAC46D8F5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Main limitations define the next experiments</a:t>
            </a: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647700" y="1257300"/>
            <a:ext cx="10839450" cy="0"/>
          </a:xfrm>
          <a:prstGeom prst="straightConnector1">
            <a:avLst/>
          </a:prstGeom>
          <a:ln w="9525">
            <a:solidFill>
              <a:srgbClr val="C6D0C9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7335D99-000B-4F01-9887-040A205C4A9D}"/>
              </a:ext>
            </a:extLst>
          </p:cNvPr>
          <p:cNvSpPr>
            <a:spLocks noGrp="1"/>
          </p:cNvSpPr>
          <p:nvPr/>
        </p:nvSpPr>
        <p:spPr>
          <a:xfrm>
            <a:off x="11382375" y="64389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5BD9EE-0FC0-4B87-9617-4DD909FC8841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EB34DF-970F-4A72-B5B2-7850EED2FA55}"/>
              </a:ext>
            </a:extLst>
          </p:cNvPr>
          <p:cNvSpPr>
            <a:spLocks noGrp="1"/>
          </p:cNvSpPr>
          <p:nvPr/>
        </p:nvSpPr>
        <p:spPr>
          <a:xfrm>
            <a:off x="1171575" y="157162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Small geography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DD3C82-9FD5-49DC-801D-184259855AAC}"/>
              </a:ext>
            </a:extLst>
          </p:cNvPr>
          <p:cNvSpPr>
            <a:spLocks noGrp="1"/>
          </p:cNvSpPr>
          <p:nvPr/>
        </p:nvSpPr>
        <p:spPr>
          <a:xfrm>
            <a:off x="1171575" y="1933575"/>
            <a:ext cx="428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One Berlin postcode; limited roof and vegetation diversity.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B46E47-49FA-4D25-879A-540842A60C12}"/>
              </a:ext>
            </a:extLst>
          </p:cNvPr>
          <p:cNvSpPr>
            <a:spLocks noGrp="1"/>
          </p:cNvSpPr>
          <p:nvPr/>
        </p:nvSpPr>
        <p:spPr>
          <a:xfrm>
            <a:off x="6000750" y="1571625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D46439-1A1D-4FF5-8872-4A7DEF937889}"/>
              </a:ext>
            </a:extLst>
          </p:cNvPr>
          <p:cNvSpPr>
            <a:spLocks noGrp="1"/>
          </p:cNvSpPr>
          <p:nvPr/>
        </p:nvSpPr>
        <p:spPr>
          <a:xfrm>
            <a:off x="6553200" y="157162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Temporal mismatch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1C973A-4F64-4874-B824-E6004C7BCFB7}"/>
              </a:ext>
            </a:extLst>
          </p:cNvPr>
          <p:cNvSpPr>
            <a:spLocks noGrp="1"/>
          </p:cNvSpPr>
          <p:nvPr/>
        </p:nvSpPr>
        <p:spPr>
          <a:xfrm>
            <a:off x="6553200" y="1933575"/>
            <a:ext cx="428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Current PLZ boundary applied to 2016 imagery and labels.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14182B-0149-4AC0-8668-9C6AE304311D}"/>
              </a:ext>
            </a:extLst>
          </p:cNvPr>
          <p:cNvSpPr>
            <a:spLocks noGrp="1"/>
          </p:cNvSpPr>
          <p:nvPr/>
        </p:nvSpPr>
        <p:spPr>
          <a:xfrm>
            <a:off x="619125" y="285750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7529A9-6DDE-42A3-B2A2-F2D251386CD6}"/>
              </a:ext>
            </a:extLst>
          </p:cNvPr>
          <p:cNvSpPr>
            <a:spLocks noGrp="1"/>
          </p:cNvSpPr>
          <p:nvPr/>
        </p:nvSpPr>
        <p:spPr>
          <a:xfrm>
            <a:off x="1171575" y="28575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350067-D2D7-4659-9FBB-D2AA25E52A01}"/>
              </a:ext>
            </a:extLst>
          </p:cNvPr>
          <p:cNvSpPr>
            <a:spLocks noGrp="1"/>
          </p:cNvSpPr>
          <p:nvPr/>
        </p:nvSpPr>
        <p:spPr>
          <a:xfrm>
            <a:off x="1171575" y="3219450"/>
            <a:ext cx="428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Optimal validation thresholds differ strongly between runs.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5991EB-AD90-4984-BFC9-53895E7D3DCE}"/>
              </a:ext>
            </a:extLst>
          </p:cNvPr>
          <p:cNvSpPr>
            <a:spLocks noGrp="1"/>
          </p:cNvSpPr>
          <p:nvPr/>
        </p:nvSpPr>
        <p:spPr>
          <a:xfrm>
            <a:off x="6000750" y="285750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C71BAB-A03C-4E06-A4E2-E7AA11942AB4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Sampling design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9D9864-8858-4ADD-B691-38C8F37AAF60}"/>
              </a:ext>
            </a:extLst>
          </p:cNvPr>
          <p:cNvSpPr>
            <a:spLocks noGrp="1"/>
          </p:cNvSpPr>
          <p:nvPr/>
        </p:nvSpPr>
        <p:spPr>
          <a:xfrm>
            <a:off x="6553200" y="3219450"/>
            <a:ext cx="428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All-tile batches are balanced, not </a:t>
            </a:r>
            <a:r>
              <a:rPr lang="en-US" sz="120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reality</a:t>
            </a:r>
            <a:endParaRPr sz="1200" b="0" dirty="0">
              <a:solidFill>
                <a:srgbClr val="5D6B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67C549-A65D-4658-8260-38299296C7E2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82F7DF-BA60-425A-BCD0-4002F9A30400}"/>
              </a:ext>
            </a:extLst>
          </p:cNvPr>
          <p:cNvSpPr>
            <a:spLocks noGrp="1"/>
          </p:cNvSpPr>
          <p:nvPr/>
        </p:nvSpPr>
        <p:spPr>
          <a:xfrm>
            <a:off x="1171575" y="414337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Model scope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5669EC-B01E-4994-A9E5-AC3AE1D01E05}"/>
              </a:ext>
            </a:extLst>
          </p:cNvPr>
          <p:cNvSpPr>
            <a:spLocks noGrp="1"/>
          </p:cNvSpPr>
          <p:nvPr/>
        </p:nvSpPr>
        <p:spPr>
          <a:xfrm>
            <a:off x="1171575" y="4505325"/>
            <a:ext cx="428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B63"/>
                </a:solidFill>
                <a:latin typeface="Arial"/>
                <a:ea typeface="Arial"/>
                <a:cs typeface="Arial"/>
              </a:rPr>
              <a:t>Only one architecture family has been trained so far.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368BCAE-8477-4776-A555-A57443769EAE}"/>
              </a:ext>
            </a:extLst>
          </p:cNvPr>
          <p:cNvSpPr>
            <a:spLocks noGrp="1"/>
          </p:cNvSpPr>
          <p:nvPr/>
        </p:nvSpPr>
        <p:spPr>
          <a:xfrm>
            <a:off x="6000750" y="4143375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C860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605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E1939E-15B4-4420-AB02-933705CE393E}"/>
              </a:ext>
            </a:extLst>
          </p:cNvPr>
          <p:cNvSpPr>
            <a:spLocks noGrp="1"/>
          </p:cNvSpPr>
          <p:nvPr/>
        </p:nvSpPr>
        <p:spPr>
          <a:xfrm>
            <a:off x="6553200" y="414337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7221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21B"/>
                </a:solidFill>
                <a:latin typeface="Arial"/>
                <a:ea typeface="Arial"/>
                <a:cs typeface="Arial"/>
              </a:rPr>
              <a:t>External validity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851DC7-7E1E-4B93-B1F4-3B4D710E58DE}"/>
              </a:ext>
            </a:extLst>
          </p:cNvPr>
          <p:cNvSpPr>
            <a:spLocks noGrp="1"/>
          </p:cNvSpPr>
          <p:nvPr/>
        </p:nvSpPr>
        <p:spPr>
          <a:xfrm>
            <a:off x="6553200" y="4505325"/>
            <a:ext cx="428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D6B63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No cross-year or </a:t>
            </a:r>
            <a:r>
              <a:rPr lang="en-US" sz="120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more-</a:t>
            </a:r>
            <a:r>
              <a:rPr sz="1200" b="0" dirty="0">
                <a:solidFill>
                  <a:srgbClr val="5D6B63"/>
                </a:solidFill>
                <a:latin typeface="Arial"/>
                <a:ea typeface="Arial"/>
                <a:cs typeface="Arial"/>
              </a:rPr>
              <a:t>Berlin evaluation yet.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B20425C-BDA7-4633-B1E3-0C9A6FD40049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10429875" cy="419100"/>
          </a:xfrm>
          <a:prstGeom prst="roundRect">
            <a:avLst>
              <a:gd name="adj" fmla="val 11364"/>
            </a:avLst>
          </a:prstGeom>
          <a:solidFill>
            <a:srgbClr val="0E2C22"/>
          </a:solidFill>
          <a:ln w="9525">
            <a:solidFill>
              <a:srgbClr val="0E2C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321AD3-D4A3-4235-ACC7-39317C589818}"/>
              </a:ext>
            </a:extLst>
          </p:cNvPr>
          <p:cNvSpPr>
            <a:spLocks noGrp="1"/>
          </p:cNvSpPr>
          <p:nvPr/>
        </p:nvSpPr>
        <p:spPr>
          <a:xfrm>
            <a:off x="781050" y="5724525"/>
            <a:ext cx="1009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Step</a:t>
            </a:r>
            <a:r>
              <a:rPr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freeze threshold → test once → add DeepLabv3+ → expand geography / year.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9C44A7-46C3-4C72-9845-F55C6A4FF14D}"/>
              </a:ext>
            </a:extLst>
          </p:cNvPr>
          <p:cNvSpPr>
            <a:spLocks noGrp="1"/>
          </p:cNvSpPr>
          <p:nvPr/>
        </p:nvSpPr>
        <p:spPr>
          <a:xfrm>
            <a:off x="647700" y="2286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F7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7A55"/>
                </a:solidFill>
                <a:latin typeface="Arial"/>
                <a:ea typeface="Arial"/>
                <a:cs typeface="Arial"/>
              </a:rPr>
              <a:t>APPENDIX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488771-0CA9-44EC-AC61-23BBC6797F0F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10839450" cy="9525"/>
          </a:xfrm>
          <a:prstGeom prst="rect">
            <a:avLst/>
          </a:prstGeom>
          <a:solidFill>
            <a:srgbClr val="C6D0C9"/>
          </a:solidFill>
          <a:ln w="0">
            <a:solidFill>
              <a:srgbClr val="C6D0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0738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1578</Words>
  <Application>Microsoft Office PowerPoint</Application>
  <DocSecurity>0</DocSecurity>
  <PresentationFormat>宽屏</PresentationFormat>
  <Paragraphs>338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7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TU-Pseudonym 17808513363544437816860540166</cp:lastModifiedBy>
  <cp:revision>20</cp:revision>
  <dcterms:created xsi:type="dcterms:W3CDTF">2026-08-26T20:02:52Z</dcterms:created>
  <dcterms:modified xsi:type="dcterms:W3CDTF">2026-08-28T09:23:11Z</dcterms:modified>
</cp:coreProperties>
</file>